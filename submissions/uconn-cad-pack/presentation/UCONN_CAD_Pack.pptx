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[25s] This is UCONN CAD PACK. A customer writes one line, a solved B-rep goes in, and the edited part comes out. We scored all forty eight benchmark tasks: mean diff F1 of 0.390, against the published GPT-5.2 baseline at 0.184, at eighty three cents a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[50s] The headline. All forty eight tasks scored: mean diff F1 of 0.390, where the best published model reaches 0.184 on the same forty eight. Sixteen of them are solved outright, meaning diff F1 at or above zero point six. Eighty three cents a task, thirty nine ninety eight for the whole benchmark. We sit second to the second human expert at 0.595, and that is the agreement ceiling for this metric, not a competitor.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[70s] These are the five request ids the organisers named, all five on one slide. For each one: the input, the human expert's edit, ours, and then every published model with its diff F1 underneath. Our mean on these five is 0.473, the best benchmark model reaches 0.181, and the second human 0.622. On the lever task we score 0.797 while every published model scores zero, and Claude Sonnet returns no geometry at all. On the hard rotor task we score 0.783 where the best model manages 0.014 and even the second human only reaches 0.150. We are honest about where we are weak: on the link arm GPT-5.2 beats us 0.864 to 0.579, on the grooves task we only reach 0.073, and the second human is ahead of us on four of the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[95s] We started from what the benchmark already gives you, one model writing a CadQuery script, and added six components. A part inspector, so the system can point at things. A strategist, so one line becomes an ordered plan. Three agents with one job each, so failures stay separable. A syntax and API check that reads the CadQuery before anything runs. An independent QA inspector that says what is wrong, in words. And a skill set that is picked by sub-goal: every sub-goal the strategist writes carries tags, and those tags pull only the verified recipes that fit it, so a sub-goal tagged cut-hole-slot is handed the hole cutting recipes and never the fillet cookbook.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[90s] This is the whole framework on one screen, and it is generated from the code, so it cannot drift from what actually runs. The task library hands over the part and the line. The part inspector measures the solid, the camera rig renders it, the strategist plans. Then the loop: the skill provider supplies verified recipes, the executor writes one function, the syntax check screens it, the sandbox runner executes it in a child process, the change measurer computes the delta, and QA judges. The amber wires are feedback. On the right, the three things a judge should know. The models: the executor and QA run gpt-5.2, the same model the published baseline runs, and the strategist ran gpt-5.6-sol on most scored runs. Underneath, a layer that costs nothing: six deterministic tools and six gates that can reject an attempt without spending a model call. And hard bounds on the loop, read live from the config, which are why a task costs eighty three cents and not eight dollars.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[55s] Cost. Every task here is priced from its own real token counts, not an estimate. Eighty three cents a task and thirty nine ninety eight for the entire benchmark. What holds it there is structural. Six deterministic gates reject a bad attempt without spending a model call at all. Each sub-goal gets three attempts and then the router rolls back to the best one rather than grinding. Recipes are selected by tag inside a four thousand token budget rather than pasted in whole. The hard band costs more and earns it: that is where our margin is widest.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[70s] Start with one request. The customer line is: add a 0.2 millimetre chamfer to the hole edges to improve fitting. That line and a solved B-rep are the entire input. Along the top is what our strategist actually plans from: the part measured and colour coded, every feature family in its own colour, from seven views. Underneath is the plan it wrote back. It does not say chamfer the holes. It names thirty six specific edge indices, tags the sub-goal fillet chamfer, and tells the executor to keep the chamfer on the hole entry rims and off unrelated blend artefacts. The result is diff F1 0.646, for three model calls and eighteen cents. Note chamfer similarity and volume F1 sit near one here as well, which is exactly why we lead on diff F1 and not on those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[55s] Here is the whole benchmark. On the left, mean diff F1 per method: the second human at 0.595, us at 0.390, GPT-5.2 at 0.184, Gemini at 0.091 and Claude Sonnet at 0.047, and those last two count a failed run as zero across the same forty eight tasks, which is the benchmark's own convention. On the right, every task plotted against the best published model on that same task: twenty three above the diagonal, seven level, eighteen below, and the wins include the tasks where every published model scores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[50s] A mean can hide everything, so here is the dashboard's own plot, every task as a dot. Ours carries real mass at the top of the range, where every published model is pinned near zero, and the second human is still above us. Look at the shape rather than the average: the published models are a spike at zero with a thin tail, and ours is spread across the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Broken out by difficulty. Easy, 0.54 where the baseline gets 0.30. Medium, 0.30 against 0.15. Hard, 0.33 against 0.098. Notice that our hard band scores above our medium band. That is the loop doing the work rather than the model. Five of the forty eight are degenerate: a second human also scores zero on them, so no pipeline change can move them. On a separate task the ground truth diff is zero voxels, which means changing nothing scores one and any real edit scores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Rather than describe the dashboard, here it is. Method overview, with the whole pipeline drawn from the code and every block clickable. The task and its input, the seven views and the measured index. Ground truth against every model on the same task. Our implementation, where you can press one button and run the real loop. The results page, with every method and every task. The animation flow, which replays a finished run across the same schematic. And the competition examples tab. All of it is live, and all of it is in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Given more time, three things in this order. First, fine tune the strategist, because planning is where our loss lives, and we found Fusion derived CAD datasets that clean up into plan supervision. Second, a mixture of experts in the executor: a second vision capable model generating candidates alongside gpt-5.2 and then choosing between them. And third, finish the selector we already prototyped, which picks the candidate that agrees most with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Thank you. Everything you have seen is live and open at this address, and the QR code goes straight there: the dashboard, the handoff pack, the code and every score behind these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jp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gif"/><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D"/>
        </a:solidFill>
      </p:bgPr>
    </p:bg>
    <p:spTree>
      <p:nvGrpSpPr>
        <p:cNvPr id="1" name=""/>
        <p:cNvGrpSpPr/>
        <p:nvPr/>
      </p:nvGrpSpPr>
      <p:grpSpPr>
        <a:xfrm>
          <a:off x="0" y="0"/>
          <a:ext cx="0" cy="0"/>
          <a:chOff x="0" y="0"/>
          <a:chExt cx="0" cy="0"/>
        </a:xfrm>
      </p:grpSpPr>
      <p:pic>
        <p:nvPicPr>
          <p:cNvPr id="2" name="Image 0" descr="/home/claude/pitch/shots3/logo_hack.png">    </p:cNvPr>
          <p:cNvPicPr>
            <a:picLocks noChangeAspect="1"/>
          </p:cNvPicPr>
          <p:nvPr/>
        </p:nvPicPr>
        <p:blipFill>
          <a:blip r:embed="rId1"/>
          <a:stretch>
            <a:fillRect/>
          </a:stretch>
        </p:blipFill>
        <p:spPr>
          <a:xfrm>
            <a:off x="566928" y="146304"/>
            <a:ext cx="564135" cy="566928"/>
          </a:xfrm>
          <a:prstGeom prst="rect">
            <a:avLst/>
          </a:prstGeom>
        </p:spPr>
      </p:pic>
      <p:sp>
        <p:nvSpPr>
          <p:cNvPr id="3" name="Text 0"/>
          <p:cNvSpPr/>
          <p:nvPr/>
        </p:nvSpPr>
        <p:spPr>
          <a:xfrm>
            <a:off x="1332231" y="201168"/>
            <a:ext cx="5486400" cy="201168"/>
          </a:xfrm>
          <a:prstGeom prst="rect">
            <a:avLst/>
          </a:prstGeom>
          <a:noFill/>
          <a:ln/>
        </p:spPr>
        <p:txBody>
          <a:bodyPr wrap="square" lIns="0" tIns="0" rIns="0" bIns="0" rtlCol="0" anchor="b"/>
          <a:lstStyle/>
          <a:p>
            <a:pPr indent="0" marL="0">
              <a:buNone/>
            </a:pPr>
            <a:r>
              <a:rPr lang="en-US" sz="850" b="1" spc="220" kern="0" dirty="0">
                <a:solidFill>
                  <a:srgbClr val="0E63C4"/>
                </a:solidFill>
                <a:latin typeface="Calibri" pitchFamily="34" charset="0"/>
                <a:ea typeface="Calibri" pitchFamily="34" charset="-122"/>
                <a:cs typeface="Calibri" pitchFamily="34" charset="-120"/>
              </a:rPr>
              <a:t>ASME 2026 STUDENT HACKATHON  ·  NEURALCAD-EDIT</a:t>
            </a:r>
            <a:endParaRPr lang="en-US" sz="850" dirty="0"/>
          </a:p>
        </p:txBody>
      </p:sp>
      <p:sp>
        <p:nvSpPr>
          <p:cNvPr id="4" name="Text 1"/>
          <p:cNvSpPr/>
          <p:nvPr/>
        </p:nvSpPr>
        <p:spPr>
          <a:xfrm>
            <a:off x="1332231" y="411480"/>
            <a:ext cx="5486400" cy="274320"/>
          </a:xfrm>
          <a:prstGeom prst="rect">
            <a:avLst/>
          </a:prstGeom>
          <a:noFill/>
          <a:ln/>
        </p:spPr>
        <p:txBody>
          <a:bodyPr wrap="square" lIns="0" tIns="0" rIns="0" bIns="0" rtlCol="0" anchor="t"/>
          <a:lstStyle/>
          <a:p>
            <a:pPr indent="0" marL="0">
              <a:buNone/>
            </a:pPr>
            <a:r>
              <a:rPr lang="en-US" sz="1400" b="1" dirty="0">
                <a:solidFill>
                  <a:srgbClr val="101722"/>
                </a:solidFill>
                <a:latin typeface="Calibri" pitchFamily="34" charset="0"/>
                <a:ea typeface="Calibri" pitchFamily="34" charset="-122"/>
                <a:cs typeface="Calibri" pitchFamily="34" charset="-120"/>
              </a:rPr>
              <a:t>UCONN CAD PACK</a:t>
            </a:r>
            <a:endParaRPr lang="en-US" sz="1400" dirty="0"/>
          </a:p>
        </p:txBody>
      </p:sp>
      <p:pic>
        <p:nvPicPr>
          <p:cNvPr id="5" name="Image 1" descr="/home/claude/pitch/shots3/logo_uconn.png">    </p:cNvPr>
          <p:cNvPicPr>
            <a:picLocks noChangeAspect="1"/>
          </p:cNvPicPr>
          <p:nvPr/>
        </p:nvPicPr>
        <p:blipFill>
          <a:blip r:embed="rId2"/>
          <a:stretch>
            <a:fillRect/>
          </a:stretch>
        </p:blipFill>
        <p:spPr>
          <a:xfrm>
            <a:off x="9887407" y="237744"/>
            <a:ext cx="1737360" cy="367674"/>
          </a:xfrm>
          <a:prstGeom prst="rect">
            <a:avLst/>
          </a:prstGeom>
        </p:spPr>
      </p:pic>
      <p:sp>
        <p:nvSpPr>
          <p:cNvPr id="6" name="Text 2"/>
          <p:cNvSpPr/>
          <p:nvPr/>
        </p:nvSpPr>
        <p:spPr>
          <a:xfrm>
            <a:off x="566928" y="1508760"/>
            <a:ext cx="11057839" cy="237744"/>
          </a:xfrm>
          <a:prstGeom prst="rect">
            <a:avLst/>
          </a:prstGeom>
          <a:noFill/>
          <a:ln/>
        </p:spPr>
        <p:txBody>
          <a:bodyPr wrap="square" lIns="0" tIns="0" rIns="0" bIns="0" rtlCol="0" anchor="ctr"/>
          <a:lstStyle/>
          <a:p>
            <a:pPr indent="0" marL="0">
              <a:buNone/>
            </a:pPr>
            <a:r>
              <a:rPr lang="en-US" sz="950" b="1" spc="260" kern="0" dirty="0">
                <a:solidFill>
                  <a:srgbClr val="0E63C4"/>
                </a:solidFill>
                <a:latin typeface="Calibri" pitchFamily="34" charset="0"/>
                <a:ea typeface="Calibri" pitchFamily="34" charset="-122"/>
                <a:cs typeface="Calibri" pitchFamily="34" charset="-120"/>
              </a:rPr>
              <a:t>ASME 2026 STUDENT HACKATHON · AUTODESK NEURALCAD-EDIT</a:t>
            </a:r>
            <a:endParaRPr lang="en-US" sz="950" dirty="0"/>
          </a:p>
        </p:txBody>
      </p:sp>
      <p:sp>
        <p:nvSpPr>
          <p:cNvPr id="7" name="Text 3"/>
          <p:cNvSpPr/>
          <p:nvPr/>
        </p:nvSpPr>
        <p:spPr>
          <a:xfrm>
            <a:off x="566928" y="1874520"/>
            <a:ext cx="11057839" cy="830580"/>
          </a:xfrm>
          <a:prstGeom prst="rect">
            <a:avLst/>
          </a:prstGeom>
          <a:noFill/>
          <a:ln/>
        </p:spPr>
        <p:txBody>
          <a:bodyPr wrap="square" lIns="0" tIns="0" rIns="0" bIns="0" rtlCol="0" anchor="t"/>
          <a:lstStyle/>
          <a:p>
            <a:pPr indent="0" marL="0">
              <a:lnSpc>
                <a:spcPts val="5100"/>
              </a:lnSpc>
              <a:buNone/>
            </a:pPr>
            <a:r>
              <a:rPr lang="en-US" sz="4400" b="1" dirty="0">
                <a:solidFill>
                  <a:srgbClr val="101722"/>
                </a:solidFill>
                <a:latin typeface="Calibri" pitchFamily="34" charset="0"/>
                <a:ea typeface="Calibri" pitchFamily="34" charset="-122"/>
                <a:cs typeface="Calibri" pitchFamily="34" charset="-120"/>
              </a:rPr>
              <a:t>UCONN CAD PACK</a:t>
            </a:r>
            <a:endParaRPr lang="en-US" sz="4400" dirty="0"/>
          </a:p>
        </p:txBody>
      </p:sp>
      <p:sp>
        <p:nvSpPr>
          <p:cNvPr id="8" name="Text 4"/>
          <p:cNvSpPr/>
          <p:nvPr/>
        </p:nvSpPr>
        <p:spPr>
          <a:xfrm>
            <a:off x="566928" y="2906268"/>
            <a:ext cx="9960559" cy="792480"/>
          </a:xfrm>
          <a:prstGeom prst="rect">
            <a:avLst/>
          </a:prstGeom>
          <a:noFill/>
          <a:ln/>
        </p:spPr>
        <p:txBody>
          <a:bodyPr wrap="square" lIns="0" tIns="0" rIns="0" bIns="0" rtlCol="0" anchor="t"/>
          <a:lstStyle/>
          <a:p>
            <a:pPr indent="0" marL="0">
              <a:lnSpc>
                <a:spcPts val="2400"/>
              </a:lnSpc>
              <a:buNone/>
            </a:pPr>
            <a:r>
              <a:rPr lang="en-US" sz="1550" dirty="0">
                <a:solidFill>
                  <a:srgbClr val="4C5766"/>
                </a:solidFill>
                <a:latin typeface="Calibri" pitchFamily="34" charset="0"/>
                <a:ea typeface="Calibri" pitchFamily="34" charset="-122"/>
                <a:cs typeface="Calibri" pitchFamily="34" charset="-120"/>
              </a:rPr>
              <a:t>A three agent loop that edits a solved B-rep from one line of customer intent, and measures its own work while it does it.</a:t>
            </a:r>
            <a:endParaRPr lang="en-US" sz="1550" dirty="0"/>
          </a:p>
        </p:txBody>
      </p:sp>
      <p:sp>
        <p:nvSpPr>
          <p:cNvPr id="9" name="Shape 5"/>
          <p:cNvSpPr/>
          <p:nvPr/>
        </p:nvSpPr>
        <p:spPr>
          <a:xfrm>
            <a:off x="566928" y="4064508"/>
            <a:ext cx="2011680" cy="420624"/>
          </a:xfrm>
          <a:prstGeom prst="roundRect">
            <a:avLst>
              <a:gd name="adj" fmla="val 17391"/>
            </a:avLst>
          </a:prstGeom>
          <a:solidFill>
            <a:srgbClr val="FFFFFF"/>
          </a:solidFill>
          <a:ln w="12700">
            <a:solidFill>
              <a:srgbClr val="E2E7F0"/>
            </a:solidFill>
            <a:prstDash val="solid"/>
          </a:ln>
        </p:spPr>
      </p:sp>
      <p:sp>
        <p:nvSpPr>
          <p:cNvPr id="10" name="Text 6"/>
          <p:cNvSpPr/>
          <p:nvPr/>
        </p:nvSpPr>
        <p:spPr>
          <a:xfrm>
            <a:off x="658368" y="4064508"/>
            <a:ext cx="1828800" cy="420624"/>
          </a:xfrm>
          <a:prstGeom prst="rect">
            <a:avLst/>
          </a:prstGeom>
          <a:noFill/>
          <a:ln/>
        </p:spPr>
        <p:txBody>
          <a:bodyPr wrap="square" lIns="0" tIns="0" rIns="0" bIns="0" rtlCol="0" anchor="ctr"/>
          <a:lstStyle/>
          <a:p>
            <a:pPr algn="ctr" indent="0" marL="0">
              <a:buNone/>
            </a:pPr>
            <a:r>
              <a:rPr lang="en-US" sz="1150" dirty="0">
                <a:solidFill>
                  <a:srgbClr val="101722"/>
                </a:solidFill>
                <a:latin typeface="Calibri" pitchFamily="34" charset="0"/>
                <a:ea typeface="Calibri" pitchFamily="34" charset="-122"/>
                <a:cs typeface="Calibri" pitchFamily="34" charset="-120"/>
              </a:rPr>
              <a:t>48 / 48 tasks scored</a:t>
            </a:r>
            <a:endParaRPr lang="en-US" sz="1150" dirty="0"/>
          </a:p>
        </p:txBody>
      </p:sp>
      <p:sp>
        <p:nvSpPr>
          <p:cNvPr id="11" name="Shape 7"/>
          <p:cNvSpPr/>
          <p:nvPr/>
        </p:nvSpPr>
        <p:spPr>
          <a:xfrm>
            <a:off x="2724912" y="4064508"/>
            <a:ext cx="1448410" cy="420624"/>
          </a:xfrm>
          <a:prstGeom prst="roundRect">
            <a:avLst>
              <a:gd name="adj" fmla="val 17391"/>
            </a:avLst>
          </a:prstGeom>
          <a:solidFill>
            <a:srgbClr val="FFFFFF"/>
          </a:solidFill>
          <a:ln w="12700">
            <a:solidFill>
              <a:srgbClr val="E2E7F0"/>
            </a:solidFill>
            <a:prstDash val="solid"/>
          </a:ln>
        </p:spPr>
      </p:sp>
      <p:sp>
        <p:nvSpPr>
          <p:cNvPr id="12" name="Text 8"/>
          <p:cNvSpPr/>
          <p:nvPr/>
        </p:nvSpPr>
        <p:spPr>
          <a:xfrm>
            <a:off x="2816352" y="4064508"/>
            <a:ext cx="1265530" cy="420624"/>
          </a:xfrm>
          <a:prstGeom prst="rect">
            <a:avLst/>
          </a:prstGeom>
          <a:noFill/>
          <a:ln/>
        </p:spPr>
        <p:txBody>
          <a:bodyPr wrap="square" lIns="0" tIns="0" rIns="0" bIns="0" rtlCol="0" anchor="ctr"/>
          <a:lstStyle/>
          <a:p>
            <a:pPr algn="ctr" indent="0" marL="0">
              <a:buNone/>
            </a:pPr>
            <a:r>
              <a:rPr lang="en-US" sz="1150" dirty="0">
                <a:solidFill>
                  <a:srgbClr val="101722"/>
                </a:solidFill>
                <a:latin typeface="Calibri" pitchFamily="34" charset="0"/>
                <a:ea typeface="Calibri" pitchFamily="34" charset="-122"/>
                <a:cs typeface="Calibri" pitchFamily="34" charset="-120"/>
              </a:rPr>
              <a:t>diff F1 </a:t>
            </a:r>
            <a:pPr algn="ctr" indent="0" marL="0">
              <a:buNone/>
            </a:pPr>
            <a:r>
              <a:rPr lang="en-US" sz="1150" b="1" dirty="0">
                <a:solidFill>
                  <a:srgbClr val="0E63C4"/>
                </a:solidFill>
                <a:latin typeface="Calibri" pitchFamily="34" charset="0"/>
                <a:ea typeface="Calibri" pitchFamily="34" charset="-122"/>
                <a:cs typeface="Calibri" pitchFamily="34" charset="-120"/>
              </a:rPr>
              <a:t>0.390</a:t>
            </a:r>
            <a:endParaRPr lang="en-US" sz="1150" dirty="0"/>
          </a:p>
        </p:txBody>
      </p:sp>
      <p:sp>
        <p:nvSpPr>
          <p:cNvPr id="13" name="Shape 9"/>
          <p:cNvSpPr/>
          <p:nvPr/>
        </p:nvSpPr>
        <p:spPr>
          <a:xfrm>
            <a:off x="4319626" y="4064508"/>
            <a:ext cx="2494483" cy="420624"/>
          </a:xfrm>
          <a:prstGeom prst="roundRect">
            <a:avLst>
              <a:gd name="adj" fmla="val 17391"/>
            </a:avLst>
          </a:prstGeom>
          <a:solidFill>
            <a:srgbClr val="FFFFFF"/>
          </a:solidFill>
          <a:ln w="12700">
            <a:solidFill>
              <a:srgbClr val="E2E7F0"/>
            </a:solidFill>
            <a:prstDash val="solid"/>
          </a:ln>
        </p:spPr>
      </p:sp>
      <p:sp>
        <p:nvSpPr>
          <p:cNvPr id="14" name="Text 10"/>
          <p:cNvSpPr/>
          <p:nvPr/>
        </p:nvSpPr>
        <p:spPr>
          <a:xfrm>
            <a:off x="4411066" y="4064508"/>
            <a:ext cx="2311603" cy="420624"/>
          </a:xfrm>
          <a:prstGeom prst="rect">
            <a:avLst/>
          </a:prstGeom>
          <a:noFill/>
          <a:ln/>
        </p:spPr>
        <p:txBody>
          <a:bodyPr wrap="square" lIns="0" tIns="0" rIns="0" bIns="0" rtlCol="0" anchor="ctr"/>
          <a:lstStyle/>
          <a:p>
            <a:pPr algn="ctr" indent="0" marL="0">
              <a:buNone/>
            </a:pPr>
            <a:r>
              <a:rPr lang="en-US" sz="1150" dirty="0">
                <a:solidFill>
                  <a:srgbClr val="101722"/>
                </a:solidFill>
                <a:latin typeface="Calibri" pitchFamily="34" charset="0"/>
                <a:ea typeface="Calibri" pitchFamily="34" charset="-122"/>
                <a:cs typeface="Calibri" pitchFamily="34" charset="-120"/>
              </a:rPr>
              <a:t>best published model 0.184</a:t>
            </a:r>
            <a:endParaRPr lang="en-US" sz="1150" dirty="0"/>
          </a:p>
        </p:txBody>
      </p:sp>
      <p:sp>
        <p:nvSpPr>
          <p:cNvPr id="15" name="Shape 11"/>
          <p:cNvSpPr/>
          <p:nvPr/>
        </p:nvSpPr>
        <p:spPr>
          <a:xfrm>
            <a:off x="6960413" y="4064508"/>
            <a:ext cx="1367942" cy="420624"/>
          </a:xfrm>
          <a:prstGeom prst="roundRect">
            <a:avLst>
              <a:gd name="adj" fmla="val 17391"/>
            </a:avLst>
          </a:prstGeom>
          <a:solidFill>
            <a:srgbClr val="FFFFFF"/>
          </a:solidFill>
          <a:ln w="12700">
            <a:solidFill>
              <a:srgbClr val="E2E7F0"/>
            </a:solidFill>
            <a:prstDash val="solid"/>
          </a:ln>
        </p:spPr>
      </p:sp>
      <p:sp>
        <p:nvSpPr>
          <p:cNvPr id="16" name="Text 12"/>
          <p:cNvSpPr/>
          <p:nvPr/>
        </p:nvSpPr>
        <p:spPr>
          <a:xfrm>
            <a:off x="7051853" y="4064508"/>
            <a:ext cx="1185062" cy="420624"/>
          </a:xfrm>
          <a:prstGeom prst="rect">
            <a:avLst/>
          </a:prstGeom>
          <a:noFill/>
          <a:ln/>
        </p:spPr>
        <p:txBody>
          <a:bodyPr wrap="square" lIns="0" tIns="0" rIns="0" bIns="0" rtlCol="0" anchor="ctr"/>
          <a:lstStyle/>
          <a:p>
            <a:pPr algn="ctr" indent="0" marL="0">
              <a:buNone/>
            </a:pPr>
            <a:r>
              <a:rPr lang="en-US" sz="1150" dirty="0">
                <a:solidFill>
                  <a:srgbClr val="101722"/>
                </a:solidFill>
                <a:latin typeface="Calibri" pitchFamily="34" charset="0"/>
                <a:ea typeface="Calibri" pitchFamily="34" charset="-122"/>
                <a:cs typeface="Calibri" pitchFamily="34" charset="-120"/>
              </a:rPr>
              <a:t>$0.83 a task</a:t>
            </a:r>
            <a:endParaRPr lang="en-US" sz="1150" dirty="0"/>
          </a:p>
        </p:txBody>
      </p:sp>
      <p:sp>
        <p:nvSpPr>
          <p:cNvPr id="17" name="Text 13"/>
          <p:cNvSpPr/>
          <p:nvPr/>
        </p:nvSpPr>
        <p:spPr>
          <a:xfrm>
            <a:off x="566928" y="6272784"/>
            <a:ext cx="7315200" cy="274320"/>
          </a:xfrm>
          <a:prstGeom prst="rect">
            <a:avLst/>
          </a:prstGeom>
          <a:noFill/>
          <a:ln/>
        </p:spPr>
        <p:txBody>
          <a:bodyPr wrap="square" lIns="0" tIns="0" rIns="0" bIns="0" rtlCol="0" anchor="ctr"/>
          <a:lstStyle/>
          <a:p>
            <a:pPr indent="0" marL="0">
              <a:buNone/>
            </a:pPr>
            <a:r>
              <a:rPr lang="en-US" sz="900" dirty="0">
                <a:solidFill>
                  <a:srgbClr val="7D8899"/>
                </a:solidFill>
                <a:latin typeface="Calibri" pitchFamily="34" charset="0"/>
                <a:ea typeface="Calibri" pitchFamily="34" charset="-122"/>
                <a:cs typeface="Calibri" pitchFamily="34" charset="-120"/>
              </a:rPr>
              <a:t>UCONN CAD PACK · ASME 2026 Student Hackathon</a:t>
            </a:r>
            <a:endParaRPr lang="en-US" sz="900" dirty="0"/>
          </a:p>
        </p:txBody>
      </p:sp>
      <p:sp>
        <p:nvSpPr>
          <p:cNvPr id="18" name="Text 14"/>
          <p:cNvSpPr/>
          <p:nvPr/>
        </p:nvSpPr>
        <p:spPr>
          <a:xfrm>
            <a:off x="9795967" y="6272784"/>
            <a:ext cx="1828800" cy="274320"/>
          </a:xfrm>
          <a:prstGeom prst="rect">
            <a:avLst/>
          </a:prstGeom>
          <a:noFill/>
          <a:ln/>
        </p:spPr>
        <p:txBody>
          <a:bodyPr wrap="square" lIns="0" tIns="0" rIns="0" bIns="0" rtlCol="0" anchor="ctr"/>
          <a:lstStyle/>
          <a:p>
            <a:pPr algn="r" indent="0" marL="0">
              <a:buNone/>
            </a:pPr>
            <a:r>
              <a:rPr lang="en-US" sz="900" dirty="0">
                <a:solidFill>
                  <a:srgbClr val="7D8899"/>
                </a:solidFill>
                <a:latin typeface="Calibri" pitchFamily="34" charset="0"/>
                <a:ea typeface="Calibri" pitchFamily="34" charset="-122"/>
                <a:cs typeface="Calibri" pitchFamily="34" charset="-120"/>
              </a:rPr>
              <a:t>1 / 13</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pitch/shots3/logo_hack.png">    </p:cNvPr>
          <p:cNvPicPr>
            <a:picLocks noChangeAspect="1"/>
          </p:cNvPicPr>
          <p:nvPr/>
        </p:nvPicPr>
        <p:blipFill>
          <a:blip r:embed="rId1"/>
          <a:stretch>
            <a:fillRect/>
          </a:stretch>
        </p:blipFill>
        <p:spPr>
          <a:xfrm>
            <a:off x="566928" y="146304"/>
            <a:ext cx="564135" cy="566928"/>
          </a:xfrm>
          <a:prstGeom prst="rect">
            <a:avLst/>
          </a:prstGeom>
        </p:spPr>
      </p:pic>
      <p:sp>
        <p:nvSpPr>
          <p:cNvPr id="3" name="Text 0"/>
          <p:cNvSpPr/>
          <p:nvPr/>
        </p:nvSpPr>
        <p:spPr>
          <a:xfrm>
            <a:off x="1332231" y="201168"/>
            <a:ext cx="5486400" cy="201168"/>
          </a:xfrm>
          <a:prstGeom prst="rect">
            <a:avLst/>
          </a:prstGeom>
          <a:noFill/>
          <a:ln/>
        </p:spPr>
        <p:txBody>
          <a:bodyPr wrap="square" lIns="0" tIns="0" rIns="0" bIns="0" rtlCol="0" anchor="b"/>
          <a:lstStyle/>
          <a:p>
            <a:pPr indent="0" marL="0">
              <a:buNone/>
            </a:pPr>
            <a:r>
              <a:rPr lang="en-US" sz="850" b="1" spc="220" kern="0" dirty="0">
                <a:solidFill>
                  <a:srgbClr val="0E63C4"/>
                </a:solidFill>
                <a:latin typeface="Calibri" pitchFamily="34" charset="0"/>
                <a:ea typeface="Calibri" pitchFamily="34" charset="-122"/>
                <a:cs typeface="Calibri" pitchFamily="34" charset="-120"/>
              </a:rPr>
              <a:t>ASME 2026 STUDENT HACKATHON  ·  NEURALCAD-EDIT</a:t>
            </a:r>
            <a:endParaRPr lang="en-US" sz="850" dirty="0"/>
          </a:p>
        </p:txBody>
      </p:sp>
      <p:sp>
        <p:nvSpPr>
          <p:cNvPr id="4" name="Text 1"/>
          <p:cNvSpPr/>
          <p:nvPr/>
        </p:nvSpPr>
        <p:spPr>
          <a:xfrm>
            <a:off x="1332231" y="411480"/>
            <a:ext cx="5486400" cy="274320"/>
          </a:xfrm>
          <a:prstGeom prst="rect">
            <a:avLst/>
          </a:prstGeom>
          <a:noFill/>
          <a:ln/>
        </p:spPr>
        <p:txBody>
          <a:bodyPr wrap="square" lIns="0" tIns="0" rIns="0" bIns="0" rtlCol="0" anchor="t"/>
          <a:lstStyle/>
          <a:p>
            <a:pPr indent="0" marL="0">
              <a:buNone/>
            </a:pPr>
            <a:r>
              <a:rPr lang="en-US" sz="1400" b="1" dirty="0">
                <a:solidFill>
                  <a:srgbClr val="101722"/>
                </a:solidFill>
                <a:latin typeface="Calibri" pitchFamily="34" charset="0"/>
                <a:ea typeface="Calibri" pitchFamily="34" charset="-122"/>
                <a:cs typeface="Calibri" pitchFamily="34" charset="-120"/>
              </a:rPr>
              <a:t>UCONN CAD PACK</a:t>
            </a:r>
            <a:endParaRPr lang="en-US" sz="1400" dirty="0"/>
          </a:p>
        </p:txBody>
      </p:sp>
      <p:pic>
        <p:nvPicPr>
          <p:cNvPr id="5" name="Image 1" descr="/home/claude/pitch/shots3/logo_uconn.png">    </p:cNvPr>
          <p:cNvPicPr>
            <a:picLocks noChangeAspect="1"/>
          </p:cNvPicPr>
          <p:nvPr/>
        </p:nvPicPr>
        <p:blipFill>
          <a:blip r:embed="rId2"/>
          <a:stretch>
            <a:fillRect/>
          </a:stretch>
        </p:blipFill>
        <p:spPr>
          <a:xfrm>
            <a:off x="9887407" y="237744"/>
            <a:ext cx="1737360" cy="367674"/>
          </a:xfrm>
          <a:prstGeom prst="rect">
            <a:avLst/>
          </a:prstGeom>
        </p:spPr>
      </p:pic>
      <p:sp>
        <p:nvSpPr>
          <p:cNvPr id="6" name="Text 2"/>
          <p:cNvSpPr/>
          <p:nvPr/>
        </p:nvSpPr>
        <p:spPr>
          <a:xfrm>
            <a:off x="566928" y="1097280"/>
            <a:ext cx="11057839" cy="237744"/>
          </a:xfrm>
          <a:prstGeom prst="rect">
            <a:avLst/>
          </a:prstGeom>
          <a:noFill/>
          <a:ln/>
        </p:spPr>
        <p:txBody>
          <a:bodyPr wrap="square" lIns="0" tIns="0" rIns="0" bIns="0" rtlCol="0" anchor="ctr"/>
          <a:lstStyle/>
          <a:p>
            <a:pPr indent="0" marL="0">
              <a:buNone/>
            </a:pPr>
            <a:r>
              <a:rPr lang="en-US" sz="950" b="1" spc="260" kern="0" dirty="0">
                <a:solidFill>
                  <a:srgbClr val="0E63C4"/>
                </a:solidFill>
                <a:latin typeface="Calibri" pitchFamily="34" charset="0"/>
                <a:ea typeface="Calibri" pitchFamily="34" charset="-122"/>
                <a:cs typeface="Calibri" pitchFamily="34" charset="-120"/>
              </a:rPr>
              <a:t>RESULTS</a:t>
            </a:r>
            <a:endParaRPr lang="en-US" sz="950" dirty="0"/>
          </a:p>
        </p:txBody>
      </p:sp>
      <p:sp>
        <p:nvSpPr>
          <p:cNvPr id="7" name="Text 3"/>
          <p:cNvSpPr/>
          <p:nvPr/>
        </p:nvSpPr>
        <p:spPr>
          <a:xfrm>
            <a:off x="566928" y="1371600"/>
            <a:ext cx="11057839" cy="502920"/>
          </a:xfrm>
          <a:prstGeom prst="rect">
            <a:avLst/>
          </a:prstGeom>
          <a:noFill/>
          <a:ln/>
        </p:spPr>
        <p:txBody>
          <a:bodyPr wrap="square" lIns="0" tIns="0" rIns="0" bIns="0" rtlCol="0" anchor="t"/>
          <a:lstStyle/>
          <a:p>
            <a:pPr indent="0" marL="0">
              <a:buNone/>
            </a:pPr>
            <a:r>
              <a:rPr lang="en-US" sz="2600" b="1" dirty="0">
                <a:solidFill>
                  <a:srgbClr val="101722"/>
                </a:solidFill>
                <a:latin typeface="Calibri" pitchFamily="34" charset="0"/>
                <a:ea typeface="Calibri" pitchFamily="34" charset="-122"/>
                <a:cs typeface="Calibri" pitchFamily="34" charset="-120"/>
              </a:rPr>
              <a:t>48 of 48 tasks, scored on diff F1</a:t>
            </a:r>
            <a:endParaRPr lang="en-US" sz="2600" dirty="0"/>
          </a:p>
        </p:txBody>
      </p:sp>
      <p:sp>
        <p:nvSpPr>
          <p:cNvPr id="8" name="Shape 4"/>
          <p:cNvSpPr/>
          <p:nvPr/>
        </p:nvSpPr>
        <p:spPr>
          <a:xfrm>
            <a:off x="566928" y="2286000"/>
            <a:ext cx="2599868" cy="1783080"/>
          </a:xfrm>
          <a:prstGeom prst="roundRect">
            <a:avLst>
              <a:gd name="adj" fmla="val 4615"/>
            </a:avLst>
          </a:prstGeom>
          <a:solidFill>
            <a:srgbClr val="FFFFFF"/>
          </a:solidFill>
          <a:ln w="12700">
            <a:solidFill>
              <a:srgbClr val="E2E7F0"/>
            </a:solidFill>
            <a:prstDash val="solid"/>
          </a:ln>
        </p:spPr>
      </p:sp>
      <p:sp>
        <p:nvSpPr>
          <p:cNvPr id="9" name="Text 5"/>
          <p:cNvSpPr/>
          <p:nvPr/>
        </p:nvSpPr>
        <p:spPr>
          <a:xfrm>
            <a:off x="768096" y="2487168"/>
            <a:ext cx="2197532" cy="731520"/>
          </a:xfrm>
          <a:prstGeom prst="rect">
            <a:avLst/>
          </a:prstGeom>
          <a:noFill/>
          <a:ln/>
        </p:spPr>
        <p:txBody>
          <a:bodyPr wrap="square" lIns="0" tIns="0" rIns="0" bIns="0" rtlCol="0" anchor="ctr"/>
          <a:lstStyle/>
          <a:p>
            <a:pPr indent="0" marL="0">
              <a:buNone/>
            </a:pPr>
            <a:r>
              <a:rPr lang="en-US" sz="3800" b="1" dirty="0">
                <a:solidFill>
                  <a:srgbClr val="0E63C4"/>
                </a:solidFill>
                <a:latin typeface="Calibri" pitchFamily="34" charset="0"/>
                <a:ea typeface="Calibri" pitchFamily="34" charset="-122"/>
                <a:cs typeface="Calibri" pitchFamily="34" charset="-120"/>
              </a:rPr>
              <a:t>0.390</a:t>
            </a:r>
            <a:endParaRPr lang="en-US" sz="3800" dirty="0"/>
          </a:p>
        </p:txBody>
      </p:sp>
      <p:sp>
        <p:nvSpPr>
          <p:cNvPr id="10" name="Text 6"/>
          <p:cNvSpPr/>
          <p:nvPr/>
        </p:nvSpPr>
        <p:spPr>
          <a:xfrm>
            <a:off x="768096" y="3273552"/>
            <a:ext cx="2197532" cy="292608"/>
          </a:xfrm>
          <a:prstGeom prst="rect">
            <a:avLst/>
          </a:prstGeom>
          <a:noFill/>
          <a:ln/>
        </p:spPr>
        <p:txBody>
          <a:bodyPr wrap="square" lIns="0" tIns="0" rIns="0" bIns="0" rtlCol="0" anchor="t"/>
          <a:lstStyle/>
          <a:p>
            <a:pPr indent="0" marL="0">
              <a:buNone/>
            </a:pPr>
            <a:r>
              <a:rPr lang="en-US" sz="1300" b="1" dirty="0">
                <a:solidFill>
                  <a:srgbClr val="101722"/>
                </a:solidFill>
                <a:latin typeface="Calibri" pitchFamily="34" charset="0"/>
                <a:ea typeface="Calibri" pitchFamily="34" charset="-122"/>
                <a:cs typeface="Calibri" pitchFamily="34" charset="-120"/>
              </a:rPr>
              <a:t>our mean diff F1</a:t>
            </a:r>
            <a:endParaRPr lang="en-US" sz="1300" dirty="0"/>
          </a:p>
        </p:txBody>
      </p:sp>
      <p:sp>
        <p:nvSpPr>
          <p:cNvPr id="11" name="Text 7"/>
          <p:cNvSpPr/>
          <p:nvPr/>
        </p:nvSpPr>
        <p:spPr>
          <a:xfrm>
            <a:off x="768096" y="3584448"/>
            <a:ext cx="2197532" cy="384048"/>
          </a:xfrm>
          <a:prstGeom prst="rect">
            <a:avLst/>
          </a:prstGeom>
          <a:noFill/>
          <a:ln/>
        </p:spPr>
        <p:txBody>
          <a:bodyPr wrap="square" lIns="0" tIns="0" rIns="0" bIns="0" rtlCol="0" anchor="t"/>
          <a:lstStyle/>
          <a:p>
            <a:pPr indent="0" marL="0">
              <a:buNone/>
            </a:pPr>
            <a:r>
              <a:rPr lang="en-US" sz="1050" dirty="0">
                <a:solidFill>
                  <a:srgbClr val="7D8899"/>
                </a:solidFill>
                <a:latin typeface="Calibri" pitchFamily="34" charset="0"/>
                <a:ea typeface="Calibri" pitchFamily="34" charset="-122"/>
                <a:cs typeface="Calibri" pitchFamily="34" charset="-120"/>
              </a:rPr>
              <a:t>all 48 tasks scored</a:t>
            </a:r>
            <a:endParaRPr lang="en-US" sz="1050" dirty="0"/>
          </a:p>
        </p:txBody>
      </p:sp>
      <p:sp>
        <p:nvSpPr>
          <p:cNvPr id="12" name="Shape 8"/>
          <p:cNvSpPr/>
          <p:nvPr/>
        </p:nvSpPr>
        <p:spPr>
          <a:xfrm>
            <a:off x="3386252" y="2286000"/>
            <a:ext cx="2599868" cy="1783080"/>
          </a:xfrm>
          <a:prstGeom prst="roundRect">
            <a:avLst>
              <a:gd name="adj" fmla="val 4615"/>
            </a:avLst>
          </a:prstGeom>
          <a:solidFill>
            <a:srgbClr val="FFFFFF"/>
          </a:solidFill>
          <a:ln w="12700">
            <a:solidFill>
              <a:srgbClr val="E2E7F0"/>
            </a:solidFill>
            <a:prstDash val="solid"/>
          </a:ln>
        </p:spPr>
      </p:sp>
      <p:sp>
        <p:nvSpPr>
          <p:cNvPr id="13" name="Text 9"/>
          <p:cNvSpPr/>
          <p:nvPr/>
        </p:nvSpPr>
        <p:spPr>
          <a:xfrm>
            <a:off x="3587420" y="2487168"/>
            <a:ext cx="2197532" cy="731520"/>
          </a:xfrm>
          <a:prstGeom prst="rect">
            <a:avLst/>
          </a:prstGeom>
          <a:noFill/>
          <a:ln/>
        </p:spPr>
        <p:txBody>
          <a:bodyPr wrap="square" lIns="0" tIns="0" rIns="0" bIns="0" rtlCol="0" anchor="ctr"/>
          <a:lstStyle/>
          <a:p>
            <a:pPr indent="0" marL="0">
              <a:buNone/>
            </a:pPr>
            <a:r>
              <a:rPr lang="en-US" sz="3800" b="1" dirty="0">
                <a:solidFill>
                  <a:srgbClr val="101722"/>
                </a:solidFill>
                <a:latin typeface="Calibri" pitchFamily="34" charset="0"/>
                <a:ea typeface="Calibri" pitchFamily="34" charset="-122"/>
                <a:cs typeface="Calibri" pitchFamily="34" charset="-120"/>
              </a:rPr>
              <a:t>0.184</a:t>
            </a:r>
            <a:endParaRPr lang="en-US" sz="3800" dirty="0"/>
          </a:p>
        </p:txBody>
      </p:sp>
      <p:sp>
        <p:nvSpPr>
          <p:cNvPr id="14" name="Text 10"/>
          <p:cNvSpPr/>
          <p:nvPr/>
        </p:nvSpPr>
        <p:spPr>
          <a:xfrm>
            <a:off x="3587420" y="3273552"/>
            <a:ext cx="2197532" cy="292608"/>
          </a:xfrm>
          <a:prstGeom prst="rect">
            <a:avLst/>
          </a:prstGeom>
          <a:noFill/>
          <a:ln/>
        </p:spPr>
        <p:txBody>
          <a:bodyPr wrap="square" lIns="0" tIns="0" rIns="0" bIns="0" rtlCol="0" anchor="t"/>
          <a:lstStyle/>
          <a:p>
            <a:pPr indent="0" marL="0">
              <a:buNone/>
            </a:pPr>
            <a:r>
              <a:rPr lang="en-US" sz="1300" b="1" dirty="0">
                <a:solidFill>
                  <a:srgbClr val="101722"/>
                </a:solidFill>
                <a:latin typeface="Calibri" pitchFamily="34" charset="0"/>
                <a:ea typeface="Calibri" pitchFamily="34" charset="-122"/>
                <a:cs typeface="Calibri" pitchFamily="34" charset="-120"/>
              </a:rPr>
              <a:t>best published model</a:t>
            </a:r>
            <a:endParaRPr lang="en-US" sz="1300" dirty="0"/>
          </a:p>
        </p:txBody>
      </p:sp>
      <p:sp>
        <p:nvSpPr>
          <p:cNvPr id="15" name="Text 11"/>
          <p:cNvSpPr/>
          <p:nvPr/>
        </p:nvSpPr>
        <p:spPr>
          <a:xfrm>
            <a:off x="3587420" y="3584448"/>
            <a:ext cx="2197532" cy="384048"/>
          </a:xfrm>
          <a:prstGeom prst="rect">
            <a:avLst/>
          </a:prstGeom>
          <a:noFill/>
          <a:ln/>
        </p:spPr>
        <p:txBody>
          <a:bodyPr wrap="square" lIns="0" tIns="0" rIns="0" bIns="0" rtlCol="0" anchor="t"/>
          <a:lstStyle/>
          <a:p>
            <a:pPr indent="0" marL="0">
              <a:buNone/>
            </a:pPr>
            <a:r>
              <a:rPr lang="en-US" sz="1050" dirty="0">
                <a:solidFill>
                  <a:srgbClr val="7D8899"/>
                </a:solidFill>
                <a:latin typeface="Calibri" pitchFamily="34" charset="0"/>
                <a:ea typeface="Calibri" pitchFamily="34" charset="-122"/>
                <a:cs typeface="Calibri" pitchFamily="34" charset="-120"/>
              </a:rPr>
              <a:t>GPT-5.2, the same 48 tasks</a:t>
            </a:r>
            <a:endParaRPr lang="en-US" sz="1050" dirty="0"/>
          </a:p>
        </p:txBody>
      </p:sp>
      <p:sp>
        <p:nvSpPr>
          <p:cNvPr id="16" name="Shape 12"/>
          <p:cNvSpPr/>
          <p:nvPr/>
        </p:nvSpPr>
        <p:spPr>
          <a:xfrm>
            <a:off x="6205576" y="2286000"/>
            <a:ext cx="2599868" cy="1783080"/>
          </a:xfrm>
          <a:prstGeom prst="roundRect">
            <a:avLst>
              <a:gd name="adj" fmla="val 4615"/>
            </a:avLst>
          </a:prstGeom>
          <a:solidFill>
            <a:srgbClr val="FFFFFF"/>
          </a:solidFill>
          <a:ln w="12700">
            <a:solidFill>
              <a:srgbClr val="E2E7F0"/>
            </a:solidFill>
            <a:prstDash val="solid"/>
          </a:ln>
        </p:spPr>
      </p:sp>
      <p:sp>
        <p:nvSpPr>
          <p:cNvPr id="17" name="Text 13"/>
          <p:cNvSpPr/>
          <p:nvPr/>
        </p:nvSpPr>
        <p:spPr>
          <a:xfrm>
            <a:off x="6406744" y="2487168"/>
            <a:ext cx="2197532" cy="731520"/>
          </a:xfrm>
          <a:prstGeom prst="rect">
            <a:avLst/>
          </a:prstGeom>
          <a:noFill/>
          <a:ln/>
        </p:spPr>
        <p:txBody>
          <a:bodyPr wrap="square" lIns="0" tIns="0" rIns="0" bIns="0" rtlCol="0" anchor="ctr"/>
          <a:lstStyle/>
          <a:p>
            <a:pPr indent="0" marL="0">
              <a:buNone/>
            </a:pPr>
            <a:r>
              <a:rPr lang="en-US" sz="3800" b="1" dirty="0">
                <a:solidFill>
                  <a:srgbClr val="0F8F63"/>
                </a:solidFill>
                <a:latin typeface="Calibri" pitchFamily="34" charset="0"/>
                <a:ea typeface="Calibri" pitchFamily="34" charset="-122"/>
                <a:cs typeface="Calibri" pitchFamily="34" charset="-120"/>
              </a:rPr>
              <a:t>16</a:t>
            </a:r>
            <a:endParaRPr lang="en-US" sz="3800" dirty="0"/>
          </a:p>
        </p:txBody>
      </p:sp>
      <p:sp>
        <p:nvSpPr>
          <p:cNvPr id="18" name="Text 14"/>
          <p:cNvSpPr/>
          <p:nvPr/>
        </p:nvSpPr>
        <p:spPr>
          <a:xfrm>
            <a:off x="6406744" y="3273552"/>
            <a:ext cx="2197532" cy="292608"/>
          </a:xfrm>
          <a:prstGeom prst="rect">
            <a:avLst/>
          </a:prstGeom>
          <a:noFill/>
          <a:ln/>
        </p:spPr>
        <p:txBody>
          <a:bodyPr wrap="square" lIns="0" tIns="0" rIns="0" bIns="0" rtlCol="0" anchor="t"/>
          <a:lstStyle/>
          <a:p>
            <a:pPr indent="0" marL="0">
              <a:buNone/>
            </a:pPr>
            <a:r>
              <a:rPr lang="en-US" sz="1300" b="1" dirty="0">
                <a:solidFill>
                  <a:srgbClr val="101722"/>
                </a:solidFill>
                <a:latin typeface="Calibri" pitchFamily="34" charset="0"/>
                <a:ea typeface="Calibri" pitchFamily="34" charset="-122"/>
                <a:cs typeface="Calibri" pitchFamily="34" charset="-120"/>
              </a:rPr>
              <a:t>solved outright</a:t>
            </a:r>
            <a:endParaRPr lang="en-US" sz="1300" dirty="0"/>
          </a:p>
        </p:txBody>
      </p:sp>
      <p:sp>
        <p:nvSpPr>
          <p:cNvPr id="19" name="Text 15"/>
          <p:cNvSpPr/>
          <p:nvPr/>
        </p:nvSpPr>
        <p:spPr>
          <a:xfrm>
            <a:off x="6406744" y="3584448"/>
            <a:ext cx="2197532" cy="384048"/>
          </a:xfrm>
          <a:prstGeom prst="rect">
            <a:avLst/>
          </a:prstGeom>
          <a:noFill/>
          <a:ln/>
        </p:spPr>
        <p:txBody>
          <a:bodyPr wrap="square" lIns="0" tIns="0" rIns="0" bIns="0" rtlCol="0" anchor="t"/>
          <a:lstStyle/>
          <a:p>
            <a:pPr indent="0" marL="0">
              <a:buNone/>
            </a:pPr>
            <a:r>
              <a:rPr lang="en-US" sz="1050" dirty="0">
                <a:solidFill>
                  <a:srgbClr val="7D8899"/>
                </a:solidFill>
                <a:latin typeface="Calibri" pitchFamily="34" charset="0"/>
                <a:ea typeface="Calibri" pitchFamily="34" charset="-122"/>
                <a:cs typeface="Calibri" pitchFamily="34" charset="-120"/>
              </a:rPr>
              <a:t>diff F1 at or above 0.60</a:t>
            </a:r>
            <a:endParaRPr lang="en-US" sz="1050" dirty="0"/>
          </a:p>
        </p:txBody>
      </p:sp>
      <p:sp>
        <p:nvSpPr>
          <p:cNvPr id="20" name="Shape 16"/>
          <p:cNvSpPr/>
          <p:nvPr/>
        </p:nvSpPr>
        <p:spPr>
          <a:xfrm>
            <a:off x="9024899" y="2286000"/>
            <a:ext cx="2599868" cy="1783080"/>
          </a:xfrm>
          <a:prstGeom prst="roundRect">
            <a:avLst>
              <a:gd name="adj" fmla="val 4615"/>
            </a:avLst>
          </a:prstGeom>
          <a:solidFill>
            <a:srgbClr val="FFFFFF"/>
          </a:solidFill>
          <a:ln w="12700">
            <a:solidFill>
              <a:srgbClr val="E2E7F0"/>
            </a:solidFill>
            <a:prstDash val="solid"/>
          </a:ln>
        </p:spPr>
      </p:sp>
      <p:sp>
        <p:nvSpPr>
          <p:cNvPr id="21" name="Text 17"/>
          <p:cNvSpPr/>
          <p:nvPr/>
        </p:nvSpPr>
        <p:spPr>
          <a:xfrm>
            <a:off x="9226067" y="2487168"/>
            <a:ext cx="2197532" cy="731520"/>
          </a:xfrm>
          <a:prstGeom prst="rect">
            <a:avLst/>
          </a:prstGeom>
          <a:noFill/>
          <a:ln/>
        </p:spPr>
        <p:txBody>
          <a:bodyPr wrap="square" lIns="0" tIns="0" rIns="0" bIns="0" rtlCol="0" anchor="ctr"/>
          <a:lstStyle/>
          <a:p>
            <a:pPr indent="0" marL="0">
              <a:buNone/>
            </a:pPr>
            <a:r>
              <a:rPr lang="en-US" sz="3800" b="1" dirty="0">
                <a:solidFill>
                  <a:srgbClr val="101722"/>
                </a:solidFill>
                <a:latin typeface="Calibri" pitchFamily="34" charset="0"/>
                <a:ea typeface="Calibri" pitchFamily="34" charset="-122"/>
                <a:cs typeface="Calibri" pitchFamily="34" charset="-120"/>
              </a:rPr>
              <a:t>$0.83</a:t>
            </a:r>
            <a:endParaRPr lang="en-US" sz="3800" dirty="0"/>
          </a:p>
        </p:txBody>
      </p:sp>
      <p:sp>
        <p:nvSpPr>
          <p:cNvPr id="22" name="Text 18"/>
          <p:cNvSpPr/>
          <p:nvPr/>
        </p:nvSpPr>
        <p:spPr>
          <a:xfrm>
            <a:off x="9226067" y="3273552"/>
            <a:ext cx="2197532" cy="292608"/>
          </a:xfrm>
          <a:prstGeom prst="rect">
            <a:avLst/>
          </a:prstGeom>
          <a:noFill/>
          <a:ln/>
        </p:spPr>
        <p:txBody>
          <a:bodyPr wrap="square" lIns="0" tIns="0" rIns="0" bIns="0" rtlCol="0" anchor="t"/>
          <a:lstStyle/>
          <a:p>
            <a:pPr indent="0" marL="0">
              <a:buNone/>
            </a:pPr>
            <a:r>
              <a:rPr lang="en-US" sz="1300" b="1" dirty="0">
                <a:solidFill>
                  <a:srgbClr val="101722"/>
                </a:solidFill>
                <a:latin typeface="Calibri" pitchFamily="34" charset="0"/>
                <a:ea typeface="Calibri" pitchFamily="34" charset="-122"/>
                <a:cs typeface="Calibri" pitchFamily="34" charset="-120"/>
              </a:rPr>
              <a:t>per task</a:t>
            </a:r>
            <a:endParaRPr lang="en-US" sz="1300" dirty="0"/>
          </a:p>
        </p:txBody>
      </p:sp>
      <p:sp>
        <p:nvSpPr>
          <p:cNvPr id="23" name="Text 19"/>
          <p:cNvSpPr/>
          <p:nvPr/>
        </p:nvSpPr>
        <p:spPr>
          <a:xfrm>
            <a:off x="9226067" y="3584448"/>
            <a:ext cx="2197532" cy="384048"/>
          </a:xfrm>
          <a:prstGeom prst="rect">
            <a:avLst/>
          </a:prstGeom>
          <a:noFill/>
          <a:ln/>
        </p:spPr>
        <p:txBody>
          <a:bodyPr wrap="square" lIns="0" tIns="0" rIns="0" bIns="0" rtlCol="0" anchor="t"/>
          <a:lstStyle/>
          <a:p>
            <a:pPr indent="0" marL="0">
              <a:buNone/>
            </a:pPr>
            <a:r>
              <a:rPr lang="en-US" sz="1050" dirty="0">
                <a:solidFill>
                  <a:srgbClr val="7D8899"/>
                </a:solidFill>
                <a:latin typeface="Calibri" pitchFamily="34" charset="0"/>
                <a:ea typeface="Calibri" pitchFamily="34" charset="-122"/>
                <a:cs typeface="Calibri" pitchFamily="34" charset="-120"/>
              </a:rPr>
              <a:t>$39.98 for the whole benchmark</a:t>
            </a:r>
            <a:endParaRPr lang="en-US" sz="1050" dirty="0"/>
          </a:p>
        </p:txBody>
      </p:sp>
      <p:sp>
        <p:nvSpPr>
          <p:cNvPr id="24" name="Text 20"/>
          <p:cNvSpPr/>
          <p:nvPr/>
        </p:nvSpPr>
        <p:spPr>
          <a:xfrm>
            <a:off x="566928" y="4617720"/>
            <a:ext cx="10509199" cy="1481328"/>
          </a:xfrm>
          <a:prstGeom prst="rect">
            <a:avLst/>
          </a:prstGeom>
          <a:noFill/>
          <a:ln/>
        </p:spPr>
        <p:txBody>
          <a:bodyPr wrap="square" lIns="0" tIns="0" rIns="0" bIns="0" rtlCol="0" anchor="t"/>
          <a:lstStyle/>
          <a:p>
            <a:pPr indent="0" marL="0">
              <a:lnSpc>
                <a:spcPts val="2400"/>
              </a:lnSpc>
              <a:buNone/>
            </a:pPr>
            <a:r>
              <a:rPr lang="en-US" sz="1400" dirty="0">
                <a:solidFill>
                  <a:srgbClr val="4C5766"/>
                </a:solidFill>
                <a:latin typeface="Calibri" pitchFamily="34" charset="0"/>
                <a:ea typeface="Calibri" pitchFamily="34" charset="-122"/>
                <a:cs typeface="Calibri" pitchFamily="34" charset="-120"/>
              </a:rPr>
              <a:t>Second only to the second human expert at 0.595, which is the agreement ceiling for this metric rather than a competitor. </a:t>
            </a:r>
            <a:pPr indent="0" marL="0">
              <a:lnSpc>
                <a:spcPts val="2400"/>
              </a:lnSpc>
              <a:buNone/>
            </a:pPr>
            <a:r>
              <a:rPr lang="en-US" sz="1400" b="1" dirty="0">
                <a:solidFill>
                  <a:srgbClr val="101722"/>
                </a:solidFill>
                <a:latin typeface="Calibri" pitchFamily="34" charset="0"/>
                <a:ea typeface="Calibri" pitchFamily="34" charset="-122"/>
                <a:cs typeface="Calibri" pitchFamily="34" charset="-120"/>
              </a:rPr>
              <a:t>Chamfer similarity 0.98 and volume F1 0.91</a:t>
            </a:r>
            <a:pPr indent="0" marL="0">
              <a:lnSpc>
                <a:spcPts val="2400"/>
              </a:lnSpc>
              <a:buNone/>
            </a:pPr>
            <a:r>
              <a:rPr lang="en-US" sz="1400" dirty="0">
                <a:solidFill>
                  <a:srgbClr val="4C5766"/>
                </a:solidFill>
                <a:latin typeface="Calibri" pitchFamily="34" charset="0"/>
                <a:ea typeface="Calibri" pitchFamily="34" charset="-122"/>
                <a:cs typeface="Calibri" pitchFamily="34" charset="-120"/>
              </a:rPr>
              <a:t> are healthy and are not the point: both sit near 1.0 for every method, including the ones that never edited the part at all.</a:t>
            </a:r>
            <a:endParaRPr lang="en-US" sz="1500" dirty="0"/>
          </a:p>
        </p:txBody>
      </p:sp>
      <p:sp>
        <p:nvSpPr>
          <p:cNvPr id="25" name="Text 21"/>
          <p:cNvSpPr/>
          <p:nvPr/>
        </p:nvSpPr>
        <p:spPr>
          <a:xfrm>
            <a:off x="566928" y="6272784"/>
            <a:ext cx="7315200" cy="274320"/>
          </a:xfrm>
          <a:prstGeom prst="rect">
            <a:avLst/>
          </a:prstGeom>
          <a:noFill/>
          <a:ln/>
        </p:spPr>
        <p:txBody>
          <a:bodyPr wrap="square" lIns="0" tIns="0" rIns="0" bIns="0" rtlCol="0" anchor="ctr"/>
          <a:lstStyle/>
          <a:p>
            <a:pPr indent="0" marL="0">
              <a:buNone/>
            </a:pPr>
            <a:r>
              <a:rPr lang="en-US" sz="900" dirty="0">
                <a:solidFill>
                  <a:srgbClr val="7D8899"/>
                </a:solidFill>
                <a:latin typeface="Calibri" pitchFamily="34" charset="0"/>
                <a:ea typeface="Calibri" pitchFamily="34" charset="-122"/>
                <a:cs typeface="Calibri" pitchFamily="34" charset="-120"/>
              </a:rPr>
              <a:t>UCONN CAD PACK · ASME 2026 Student Hackathon</a:t>
            </a:r>
            <a:endParaRPr lang="en-US" sz="900" dirty="0"/>
          </a:p>
        </p:txBody>
      </p:sp>
      <p:sp>
        <p:nvSpPr>
          <p:cNvPr id="26" name="Text 22"/>
          <p:cNvSpPr/>
          <p:nvPr/>
        </p:nvSpPr>
        <p:spPr>
          <a:xfrm>
            <a:off x="9795967" y="6272784"/>
            <a:ext cx="1828800" cy="274320"/>
          </a:xfrm>
          <a:prstGeom prst="rect">
            <a:avLst/>
          </a:prstGeom>
          <a:noFill/>
          <a:ln/>
        </p:spPr>
        <p:txBody>
          <a:bodyPr wrap="square" lIns="0" tIns="0" rIns="0" bIns="0" rtlCol="0" anchor="ctr"/>
          <a:lstStyle/>
          <a:p>
            <a:pPr algn="r" indent="0" marL="0">
              <a:buNone/>
            </a:pPr>
            <a:r>
              <a:rPr lang="en-US" sz="900" dirty="0">
                <a:solidFill>
                  <a:srgbClr val="7D8899"/>
                </a:solidFill>
                <a:latin typeface="Calibri" pitchFamily="34" charset="0"/>
                <a:ea typeface="Calibri" pitchFamily="34" charset="-122"/>
                <a:cs typeface="Calibri" pitchFamily="34" charset="-120"/>
              </a:rPr>
              <a:t>2 / 13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pitch/shots3/logo_hack.png">    </p:cNvPr>
          <p:cNvPicPr>
            <a:picLocks noChangeAspect="1"/>
          </p:cNvPicPr>
          <p:nvPr/>
        </p:nvPicPr>
        <p:blipFill>
          <a:blip r:embed="rId1"/>
          <a:stretch>
            <a:fillRect/>
          </a:stretch>
        </p:blipFill>
        <p:spPr>
          <a:xfrm>
            <a:off x="566928" y="146304"/>
            <a:ext cx="564135" cy="566928"/>
          </a:xfrm>
          <a:prstGeom prst="rect">
            <a:avLst/>
          </a:prstGeom>
        </p:spPr>
      </p:pic>
      <p:sp>
        <p:nvSpPr>
          <p:cNvPr id="3" name="Text 0"/>
          <p:cNvSpPr/>
          <p:nvPr/>
        </p:nvSpPr>
        <p:spPr>
          <a:xfrm>
            <a:off x="1332231" y="201168"/>
            <a:ext cx="5486400" cy="201168"/>
          </a:xfrm>
          <a:prstGeom prst="rect">
            <a:avLst/>
          </a:prstGeom>
          <a:noFill/>
          <a:ln/>
        </p:spPr>
        <p:txBody>
          <a:bodyPr wrap="square" lIns="0" tIns="0" rIns="0" bIns="0" rtlCol="0" anchor="b"/>
          <a:lstStyle/>
          <a:p>
            <a:pPr indent="0" marL="0">
              <a:buNone/>
            </a:pPr>
            <a:r>
              <a:rPr lang="en-US" sz="850" b="1" spc="220" kern="0" dirty="0">
                <a:solidFill>
                  <a:srgbClr val="0E63C4"/>
                </a:solidFill>
                <a:latin typeface="Calibri" pitchFamily="34" charset="0"/>
                <a:ea typeface="Calibri" pitchFamily="34" charset="-122"/>
                <a:cs typeface="Calibri" pitchFamily="34" charset="-120"/>
              </a:rPr>
              <a:t>ASME 2026 STUDENT HACKATHON  ·  NEURALCAD-EDIT</a:t>
            </a:r>
            <a:endParaRPr lang="en-US" sz="850" dirty="0"/>
          </a:p>
        </p:txBody>
      </p:sp>
      <p:sp>
        <p:nvSpPr>
          <p:cNvPr id="4" name="Text 1"/>
          <p:cNvSpPr/>
          <p:nvPr/>
        </p:nvSpPr>
        <p:spPr>
          <a:xfrm>
            <a:off x="1332231" y="411480"/>
            <a:ext cx="5486400" cy="274320"/>
          </a:xfrm>
          <a:prstGeom prst="rect">
            <a:avLst/>
          </a:prstGeom>
          <a:noFill/>
          <a:ln/>
        </p:spPr>
        <p:txBody>
          <a:bodyPr wrap="square" lIns="0" tIns="0" rIns="0" bIns="0" rtlCol="0" anchor="t"/>
          <a:lstStyle/>
          <a:p>
            <a:pPr indent="0" marL="0">
              <a:buNone/>
            </a:pPr>
            <a:r>
              <a:rPr lang="en-US" sz="1400" b="1" dirty="0">
                <a:solidFill>
                  <a:srgbClr val="101722"/>
                </a:solidFill>
                <a:latin typeface="Calibri" pitchFamily="34" charset="0"/>
                <a:ea typeface="Calibri" pitchFamily="34" charset="-122"/>
                <a:cs typeface="Calibri" pitchFamily="34" charset="-120"/>
              </a:rPr>
              <a:t>UCONN CAD PACK</a:t>
            </a:r>
            <a:endParaRPr lang="en-US" sz="1400" dirty="0"/>
          </a:p>
        </p:txBody>
      </p:sp>
      <p:pic>
        <p:nvPicPr>
          <p:cNvPr id="5" name="Image 1" descr="/home/claude/pitch/shots3/logo_uconn.png">    </p:cNvPr>
          <p:cNvPicPr>
            <a:picLocks noChangeAspect="1"/>
          </p:cNvPicPr>
          <p:nvPr/>
        </p:nvPicPr>
        <p:blipFill>
          <a:blip r:embed="rId2"/>
          <a:stretch>
            <a:fillRect/>
          </a:stretch>
        </p:blipFill>
        <p:spPr>
          <a:xfrm>
            <a:off x="9887407" y="237744"/>
            <a:ext cx="1737360" cy="367674"/>
          </a:xfrm>
          <a:prstGeom prst="rect">
            <a:avLst/>
          </a:prstGeom>
        </p:spPr>
      </p:pic>
      <p:sp>
        <p:nvSpPr>
          <p:cNvPr id="6" name="Text 2"/>
          <p:cNvSpPr/>
          <p:nvPr/>
        </p:nvSpPr>
        <p:spPr>
          <a:xfrm>
            <a:off x="566928" y="1097280"/>
            <a:ext cx="11057839" cy="237744"/>
          </a:xfrm>
          <a:prstGeom prst="rect">
            <a:avLst/>
          </a:prstGeom>
          <a:noFill/>
          <a:ln/>
        </p:spPr>
        <p:txBody>
          <a:bodyPr wrap="square" lIns="0" tIns="0" rIns="0" bIns="0" rtlCol="0" anchor="ctr"/>
          <a:lstStyle/>
          <a:p>
            <a:pPr indent="0" marL="0">
              <a:buNone/>
            </a:pPr>
            <a:r>
              <a:rPr lang="en-US" sz="950" b="1" spc="260" kern="0" dirty="0">
                <a:solidFill>
                  <a:srgbClr val="0E63C4"/>
                </a:solidFill>
                <a:latin typeface="Calibri" pitchFamily="34" charset="0"/>
                <a:ea typeface="Calibri" pitchFamily="34" charset="-122"/>
                <a:cs typeface="Calibri" pitchFamily="34" charset="-120"/>
              </a:rPr>
              <a:t>THE FIVE TASKS THE ORGANISERS NAMED</a:t>
            </a:r>
            <a:endParaRPr lang="en-US" sz="950" dirty="0"/>
          </a:p>
        </p:txBody>
      </p:sp>
      <p:sp>
        <p:nvSpPr>
          <p:cNvPr id="7" name="Text 3"/>
          <p:cNvSpPr/>
          <p:nvPr/>
        </p:nvSpPr>
        <p:spPr>
          <a:xfrm>
            <a:off x="566928" y="1371600"/>
            <a:ext cx="11057839" cy="502920"/>
          </a:xfrm>
          <a:prstGeom prst="rect">
            <a:avLst/>
          </a:prstGeom>
          <a:noFill/>
          <a:ln/>
        </p:spPr>
        <p:txBody>
          <a:bodyPr wrap="square" lIns="0" tIns="0" rIns="0" bIns="0" rtlCol="0" anchor="t"/>
          <a:lstStyle/>
          <a:p>
            <a:pPr indent="0" marL="0">
              <a:buNone/>
            </a:pPr>
            <a:r>
              <a:rPr lang="en-US" sz="2600" b="1" dirty="0">
                <a:solidFill>
                  <a:srgbClr val="101722"/>
                </a:solidFill>
                <a:latin typeface="Calibri" pitchFamily="34" charset="0"/>
                <a:ea typeface="Calibri" pitchFamily="34" charset="-122"/>
                <a:cs typeface="Calibri" pitchFamily="34" charset="-120"/>
              </a:rPr>
              <a:t>All five, every method, with the score under each part</a:t>
            </a:r>
            <a:endParaRPr lang="en-US" sz="2600" dirty="0"/>
          </a:p>
        </p:txBody>
      </p:sp>
      <p:pic>
        <p:nvPicPr>
          <p:cNvPr id="8" name="Image 2" descr="/home/claude/pitch/figs/v4a_comp5.png">    </p:cNvPr>
          <p:cNvPicPr>
            <a:picLocks noChangeAspect="1"/>
          </p:cNvPicPr>
          <p:nvPr/>
        </p:nvPicPr>
        <p:blipFill>
          <a:blip r:embed="rId3"/>
          <a:stretch>
            <a:fillRect/>
          </a:stretch>
        </p:blipFill>
        <p:spPr>
          <a:xfrm>
            <a:off x="1655555" y="1965960"/>
            <a:ext cx="8880586" cy="3611880"/>
          </a:xfrm>
          <a:prstGeom prst="rect">
            <a:avLst/>
          </a:prstGeom>
        </p:spPr>
      </p:pic>
      <p:sp>
        <p:nvSpPr>
          <p:cNvPr id="9" name="Text 4"/>
          <p:cNvSpPr/>
          <p:nvPr/>
        </p:nvSpPr>
        <p:spPr>
          <a:xfrm>
            <a:off x="566928" y="5641848"/>
            <a:ext cx="11057839" cy="502920"/>
          </a:xfrm>
          <a:prstGeom prst="rect">
            <a:avLst/>
          </a:prstGeom>
          <a:noFill/>
          <a:ln/>
        </p:spPr>
        <p:txBody>
          <a:bodyPr wrap="square" lIns="0" tIns="0" rIns="0" bIns="0" rtlCol="0" anchor="t"/>
          <a:lstStyle/>
          <a:p>
            <a:pPr algn="ctr" indent="0" marL="0">
              <a:lnSpc>
                <a:spcPts val="1400"/>
              </a:lnSpc>
              <a:buNone/>
            </a:pPr>
            <a:r>
              <a:rPr lang="en-US" sz="1000" dirty="0">
                <a:solidFill>
                  <a:srgbClr val="7D8899"/>
                </a:solidFill>
                <a:latin typeface="Calibri" pitchFamily="34" charset="0"/>
                <a:ea typeface="Calibri" pitchFamily="34" charset="-122"/>
                <a:cs typeface="Calibri" pitchFamily="34" charset="-120"/>
              </a:rPr>
              <a:t>Our mean on these five is 0.473, the best benchmark model reaches 0.181, and the second human 0.622. Renders and scores are the benchmark's own, arranged by us.</a:t>
            </a:r>
            <a:endParaRPr lang="en-US" sz="1000" dirty="0"/>
          </a:p>
        </p:txBody>
      </p:sp>
      <p:sp>
        <p:nvSpPr>
          <p:cNvPr id="10" name="Text 5"/>
          <p:cNvSpPr/>
          <p:nvPr/>
        </p:nvSpPr>
        <p:spPr>
          <a:xfrm>
            <a:off x="566928" y="6272784"/>
            <a:ext cx="7315200" cy="274320"/>
          </a:xfrm>
          <a:prstGeom prst="rect">
            <a:avLst/>
          </a:prstGeom>
          <a:noFill/>
          <a:ln/>
        </p:spPr>
        <p:txBody>
          <a:bodyPr wrap="square" lIns="0" tIns="0" rIns="0" bIns="0" rtlCol="0" anchor="ctr"/>
          <a:lstStyle/>
          <a:p>
            <a:pPr indent="0" marL="0">
              <a:buNone/>
            </a:pPr>
            <a:r>
              <a:rPr lang="en-US" sz="900" dirty="0">
                <a:solidFill>
                  <a:srgbClr val="7D8899"/>
                </a:solidFill>
                <a:latin typeface="Calibri" pitchFamily="34" charset="0"/>
                <a:ea typeface="Calibri" pitchFamily="34" charset="-122"/>
                <a:cs typeface="Calibri" pitchFamily="34" charset="-120"/>
              </a:rPr>
              <a:t>UCONN CAD PACK · ASME 2026 Student Hackathon</a:t>
            </a:r>
            <a:endParaRPr lang="en-US" sz="900" dirty="0"/>
          </a:p>
        </p:txBody>
      </p:sp>
      <p:sp>
        <p:nvSpPr>
          <p:cNvPr id="11" name="Text 6"/>
          <p:cNvSpPr/>
          <p:nvPr/>
        </p:nvSpPr>
        <p:spPr>
          <a:xfrm>
            <a:off x="9795967" y="6272784"/>
            <a:ext cx="1828800" cy="274320"/>
          </a:xfrm>
          <a:prstGeom prst="rect">
            <a:avLst/>
          </a:prstGeom>
          <a:noFill/>
          <a:ln/>
        </p:spPr>
        <p:txBody>
          <a:bodyPr wrap="square" lIns="0" tIns="0" rIns="0" bIns="0" rtlCol="0" anchor="ctr"/>
          <a:lstStyle/>
          <a:p>
            <a:pPr algn="r" indent="0" marL="0">
              <a:buNone/>
            </a:pPr>
            <a:r>
              <a:rPr lang="en-US" sz="900" dirty="0">
                <a:solidFill>
                  <a:srgbClr val="7D8899"/>
                </a:solidFill>
                <a:latin typeface="Calibri" pitchFamily="34" charset="0"/>
                <a:ea typeface="Calibri" pitchFamily="34" charset="-122"/>
                <a:cs typeface="Calibri" pitchFamily="34" charset="-120"/>
              </a:rPr>
              <a:t>3 / 13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home/claude/pitch/shots3/logo_hack.png">    </p:cNvPr>
          <p:cNvPicPr>
            <a:picLocks noChangeAspect="1"/>
          </p:cNvPicPr>
          <p:nvPr/>
        </p:nvPicPr>
        <p:blipFill>
          <a:blip r:embed="rId1"/>
          <a:stretch>
            <a:fillRect/>
          </a:stretch>
        </p:blipFill>
        <p:spPr>
          <a:xfrm>
            <a:off x="566928" y="146304"/>
            <a:ext cx="564135" cy="566928"/>
          </a:xfrm>
          <a:prstGeom prst="rect">
            <a:avLst/>
          </a:prstGeom>
        </p:spPr>
      </p:pic>
      <p:sp>
        <p:nvSpPr>
          <p:cNvPr id="3" name="Text 0"/>
          <p:cNvSpPr/>
          <p:nvPr/>
        </p:nvSpPr>
        <p:spPr>
          <a:xfrm>
            <a:off x="1332231" y="201168"/>
            <a:ext cx="5486400" cy="201168"/>
          </a:xfrm>
          <a:prstGeom prst="rect">
            <a:avLst/>
          </a:prstGeom>
          <a:noFill/>
          <a:ln/>
        </p:spPr>
        <p:txBody>
          <a:bodyPr wrap="square" lIns="0" tIns="0" rIns="0" bIns="0" rtlCol="0" anchor="b"/>
          <a:lstStyle/>
          <a:p>
            <a:pPr indent="0" marL="0">
              <a:buNone/>
            </a:pPr>
            <a:r>
              <a:rPr lang="en-US" sz="850" b="1" spc="220" kern="0" dirty="0">
                <a:solidFill>
                  <a:srgbClr val="0E63C4"/>
                </a:solidFill>
                <a:latin typeface="Calibri" pitchFamily="34" charset="0"/>
                <a:ea typeface="Calibri" pitchFamily="34" charset="-122"/>
                <a:cs typeface="Calibri" pitchFamily="34" charset="-120"/>
              </a:rPr>
              <a:t>ASME 2026 STUDENT HACKATHON  ·  NEURALCAD-EDIT</a:t>
            </a:r>
            <a:endParaRPr lang="en-US" sz="850" dirty="0"/>
          </a:p>
        </p:txBody>
      </p:sp>
      <p:sp>
        <p:nvSpPr>
          <p:cNvPr id="4" name="Text 1"/>
          <p:cNvSpPr/>
          <p:nvPr/>
        </p:nvSpPr>
        <p:spPr>
          <a:xfrm>
            <a:off x="1332231" y="411480"/>
            <a:ext cx="5486400" cy="274320"/>
          </a:xfrm>
          <a:prstGeom prst="rect">
            <a:avLst/>
          </a:prstGeom>
          <a:noFill/>
          <a:ln/>
        </p:spPr>
        <p:txBody>
          <a:bodyPr wrap="square" lIns="0" tIns="0" rIns="0" bIns="0" rtlCol="0" anchor="t"/>
          <a:lstStyle/>
          <a:p>
            <a:pPr indent="0" marL="0">
              <a:buNone/>
            </a:pPr>
            <a:r>
              <a:rPr lang="en-US" sz="1400" b="1" dirty="0">
                <a:solidFill>
                  <a:srgbClr val="101722"/>
                </a:solidFill>
                <a:latin typeface="Calibri" pitchFamily="34" charset="0"/>
                <a:ea typeface="Calibri" pitchFamily="34" charset="-122"/>
                <a:cs typeface="Calibri" pitchFamily="34" charset="-120"/>
              </a:rPr>
              <a:t>UCONN CAD PACK</a:t>
            </a:r>
            <a:endParaRPr lang="en-US" sz="1400" dirty="0"/>
          </a:p>
        </p:txBody>
      </p:sp>
      <p:pic>
        <p:nvPicPr>
          <p:cNvPr id="5" name="Image 1" descr="/home/claude/pitch/shots3/logo_uconn.png">    </p:cNvPr>
          <p:cNvPicPr>
            <a:picLocks noChangeAspect="1"/>
          </p:cNvPicPr>
          <p:nvPr/>
        </p:nvPicPr>
        <p:blipFill>
          <a:blip r:embed="rId2"/>
          <a:stretch>
            <a:fillRect/>
          </a:stretch>
        </p:blipFill>
        <p:spPr>
          <a:xfrm>
            <a:off x="9887407" y="237744"/>
            <a:ext cx="1737360" cy="367674"/>
          </a:xfrm>
          <a:prstGeom prst="rect">
            <a:avLst/>
          </a:prstGeom>
        </p:spPr>
      </p:pic>
      <p:sp>
        <p:nvSpPr>
          <p:cNvPr id="6" name="Text 2"/>
          <p:cNvSpPr/>
          <p:nvPr/>
        </p:nvSpPr>
        <p:spPr>
          <a:xfrm>
            <a:off x="566928" y="1097280"/>
            <a:ext cx="11057839" cy="237744"/>
          </a:xfrm>
          <a:prstGeom prst="rect">
            <a:avLst/>
          </a:prstGeom>
          <a:noFill/>
          <a:ln/>
        </p:spPr>
        <p:txBody>
          <a:bodyPr wrap="square" lIns="0" tIns="0" rIns="0" bIns="0" rtlCol="0" anchor="ctr"/>
          <a:lstStyle/>
          <a:p>
            <a:pPr indent="0" marL="0">
              <a:buNone/>
            </a:pPr>
            <a:r>
              <a:rPr lang="en-US" sz="950" b="1" spc="260" kern="0" dirty="0">
                <a:solidFill>
                  <a:srgbClr val="0E63C4"/>
                </a:solidFill>
                <a:latin typeface="Calibri" pitchFamily="34" charset="0"/>
                <a:ea typeface="Calibri" pitchFamily="34" charset="-122"/>
                <a:cs typeface="Calibri" pitchFamily="34" charset="-120"/>
              </a:rPr>
              <a:t>WHAT WE ADDED</a:t>
            </a:r>
            <a:endParaRPr lang="en-US" sz="950" dirty="0"/>
          </a:p>
        </p:txBody>
      </p:sp>
      <p:sp>
        <p:nvSpPr>
          <p:cNvPr id="7" name="Text 3"/>
          <p:cNvSpPr/>
          <p:nvPr/>
        </p:nvSpPr>
        <p:spPr>
          <a:xfrm>
            <a:off x="566928" y="1371600"/>
            <a:ext cx="11057839" cy="502920"/>
          </a:xfrm>
          <a:prstGeom prst="rect">
            <a:avLst/>
          </a:prstGeom>
          <a:noFill/>
          <a:ln/>
        </p:spPr>
        <p:txBody>
          <a:bodyPr wrap="square" lIns="0" tIns="0" rIns="0" bIns="0" rtlCol="0" anchor="t"/>
          <a:lstStyle/>
          <a:p>
            <a:pPr indent="0" marL="0">
              <a:buNone/>
            </a:pPr>
            <a:r>
              <a:rPr lang="en-US" sz="2600" b="1" dirty="0">
                <a:solidFill>
                  <a:srgbClr val="101722"/>
                </a:solidFill>
                <a:latin typeface="Calibri" pitchFamily="34" charset="0"/>
                <a:ea typeface="Calibri" pitchFamily="34" charset="-122"/>
                <a:cs typeface="Calibri" pitchFamily="34" charset="-120"/>
              </a:rPr>
              <a:t>Six components we added to the framework</a:t>
            </a:r>
            <a:endParaRPr lang="en-US" sz="2600" dirty="0"/>
          </a:p>
        </p:txBody>
      </p:sp>
      <p:sp>
        <p:nvSpPr>
          <p:cNvPr id="8" name="Shape 4"/>
          <p:cNvSpPr/>
          <p:nvPr/>
        </p:nvSpPr>
        <p:spPr>
          <a:xfrm>
            <a:off x="566928" y="1938528"/>
            <a:ext cx="3527450" cy="1993392"/>
          </a:xfrm>
          <a:prstGeom prst="roundRect">
            <a:avLst>
              <a:gd name="adj" fmla="val 4128"/>
            </a:avLst>
          </a:prstGeom>
          <a:solidFill>
            <a:srgbClr val="FFFFFF"/>
          </a:solidFill>
          <a:ln w="12700">
            <a:solidFill>
              <a:srgbClr val="E2E7F0"/>
            </a:solidFill>
            <a:prstDash val="solid"/>
          </a:ln>
        </p:spPr>
      </p:sp>
      <p:sp>
        <p:nvSpPr>
          <p:cNvPr id="9" name="Text 5"/>
          <p:cNvSpPr/>
          <p:nvPr/>
        </p:nvSpPr>
        <p:spPr>
          <a:xfrm>
            <a:off x="731520" y="2084832"/>
            <a:ext cx="3198266" cy="274320"/>
          </a:xfrm>
          <a:prstGeom prst="rect">
            <a:avLst/>
          </a:prstGeom>
          <a:noFill/>
          <a:ln/>
        </p:spPr>
        <p:txBody>
          <a:bodyPr wrap="square" lIns="0" tIns="0" rIns="0" bIns="0" rtlCol="0" anchor="t"/>
          <a:lstStyle/>
          <a:p>
            <a:pPr indent="0" marL="0">
              <a:buNone/>
            </a:pPr>
            <a:r>
              <a:rPr lang="en-US" sz="1350" b="1" dirty="0">
                <a:solidFill>
                  <a:srgbClr val="101722"/>
                </a:solidFill>
                <a:latin typeface="Calibri" pitchFamily="34" charset="0"/>
                <a:ea typeface="Calibri" pitchFamily="34" charset="-122"/>
                <a:cs typeface="Calibri" pitchFamily="34" charset="-120"/>
              </a:rPr>
              <a:t>Part inspector</a:t>
            </a:r>
            <a:endParaRPr lang="en-US" sz="1350" dirty="0"/>
          </a:p>
        </p:txBody>
      </p:sp>
      <p:sp>
        <p:nvSpPr>
          <p:cNvPr id="10" name="Text 6"/>
          <p:cNvSpPr/>
          <p:nvPr/>
        </p:nvSpPr>
        <p:spPr>
          <a:xfrm>
            <a:off x="731520" y="2359152"/>
            <a:ext cx="3198266" cy="182880"/>
          </a:xfrm>
          <a:prstGeom prst="rect">
            <a:avLst/>
          </a:prstGeom>
          <a:noFill/>
          <a:ln/>
        </p:spPr>
        <p:txBody>
          <a:bodyPr wrap="square" lIns="0" tIns="0" rIns="0" bIns="0" rtlCol="0" anchor="t"/>
          <a:lstStyle/>
          <a:p>
            <a:pPr indent="0" marL="0">
              <a:buNone/>
            </a:pPr>
            <a:r>
              <a:rPr lang="en-US" sz="750" b="1" spc="160" kern="0" dirty="0">
                <a:solidFill>
                  <a:srgbClr val="0E63C4"/>
                </a:solidFill>
                <a:latin typeface="Calibri" pitchFamily="34" charset="0"/>
                <a:ea typeface="Calibri" pitchFamily="34" charset="-122"/>
                <a:cs typeface="Calibri" pitchFamily="34" charset="-120"/>
              </a:rPr>
              <a:t>IT CAN POINT AT THINGS</a:t>
            </a:r>
            <a:endParaRPr lang="en-US" sz="750" dirty="0"/>
          </a:p>
        </p:txBody>
      </p:sp>
      <p:sp>
        <p:nvSpPr>
          <p:cNvPr id="11" name="Text 7"/>
          <p:cNvSpPr/>
          <p:nvPr/>
        </p:nvSpPr>
        <p:spPr>
          <a:xfrm>
            <a:off x="731520" y="2560320"/>
            <a:ext cx="3198266" cy="804672"/>
          </a:xfrm>
          <a:prstGeom prst="rect">
            <a:avLst/>
          </a:prstGeom>
          <a:noFill/>
          <a:ln/>
        </p:spPr>
        <p:txBody>
          <a:bodyPr wrap="square" lIns="0" tIns="0" rIns="0" bIns="0" rtlCol="0" anchor="t"/>
          <a:lstStyle/>
          <a:p>
            <a:pPr indent="0" marL="0">
              <a:lnSpc>
                <a:spcPts val="1500"/>
              </a:lnSpc>
              <a:buNone/>
            </a:pPr>
            <a:r>
              <a:rPr lang="en-US" sz="1100" dirty="0">
                <a:solidFill>
                  <a:srgbClr val="4C5766"/>
                </a:solidFill>
                <a:latin typeface="Calibri" pitchFamily="34" charset="0"/>
                <a:ea typeface="Calibri" pitchFamily="34" charset="-122"/>
                <a:cs typeface="Calibri" pitchFamily="34" charset="-120"/>
              </a:rPr>
              <a:t>Measures the solid into a text index of holes, faces and edges.</a:t>
            </a:r>
            <a:endParaRPr lang="en-US" sz="1100" dirty="0"/>
          </a:p>
        </p:txBody>
      </p:sp>
      <p:sp>
        <p:nvSpPr>
          <p:cNvPr id="12" name="Shape 8"/>
          <p:cNvSpPr/>
          <p:nvPr/>
        </p:nvSpPr>
        <p:spPr>
          <a:xfrm>
            <a:off x="731520" y="3346704"/>
            <a:ext cx="3198266" cy="0"/>
          </a:xfrm>
          <a:prstGeom prst="line">
            <a:avLst/>
          </a:prstGeom>
          <a:noFill/>
          <a:ln w="12700">
            <a:solidFill>
              <a:srgbClr val="E2E7F0"/>
            </a:solidFill>
            <a:prstDash val="solid"/>
          </a:ln>
        </p:spPr>
      </p:sp>
      <p:sp>
        <p:nvSpPr>
          <p:cNvPr id="13" name="Text 9"/>
          <p:cNvSpPr/>
          <p:nvPr/>
        </p:nvSpPr>
        <p:spPr>
          <a:xfrm>
            <a:off x="731520" y="3401568"/>
            <a:ext cx="3198266" cy="457200"/>
          </a:xfrm>
          <a:prstGeom prst="rect">
            <a:avLst/>
          </a:prstGeom>
          <a:noFill/>
          <a:ln/>
        </p:spPr>
        <p:txBody>
          <a:bodyPr wrap="square" lIns="0" tIns="0" rIns="0" bIns="0" rtlCol="0" anchor="t"/>
          <a:lstStyle/>
          <a:p>
            <a:pPr indent="0" marL="0">
              <a:lnSpc>
                <a:spcPts val="1300"/>
              </a:lnSpc>
              <a:buNone/>
            </a:pPr>
            <a:r>
              <a:rPr lang="en-US" sz="1000" dirty="0">
                <a:solidFill>
                  <a:srgbClr val="101722"/>
                </a:solidFill>
                <a:latin typeface="Calibri" pitchFamily="34" charset="0"/>
                <a:ea typeface="Calibri" pitchFamily="34" charset="-122"/>
                <a:cs typeface="Calibri" pitchFamily="34" charset="-120"/>
              </a:rPr>
              <a:t>Example: the plan can say </a:t>
            </a:r>
            <a:pPr indent="0" marL="0">
              <a:lnSpc>
                <a:spcPts val="1300"/>
              </a:lnSpc>
              <a:buNone/>
            </a:pPr>
            <a:r>
              <a:rPr lang="en-US" sz="1000" b="1" dirty="0">
                <a:solidFill>
                  <a:srgbClr val="0F8F63"/>
                </a:solidFill>
                <a:latin typeface="Calibri" pitchFamily="34" charset="0"/>
                <a:ea typeface="Calibri" pitchFamily="34" charset="-122"/>
                <a:cs typeface="Calibri" pitchFamily="34" charset="-120"/>
              </a:rPr>
              <a:t>chamfer edge 68, 119, 127</a:t>
            </a:r>
            <a:pPr indent="0" marL="0">
              <a:lnSpc>
                <a:spcPts val="1300"/>
              </a:lnSpc>
              <a:buNone/>
            </a:pPr>
            <a:r>
              <a:rPr lang="en-US" sz="1000" dirty="0">
                <a:solidFill>
                  <a:srgbClr val="101722"/>
                </a:solidFill>
                <a:latin typeface="Calibri" pitchFamily="34" charset="0"/>
                <a:ea typeface="Calibri" pitchFamily="34" charset="-122"/>
                <a:cs typeface="Calibri" pitchFamily="34" charset="-120"/>
              </a:rPr>
              <a:t> instead of “chamfer the holes”.</a:t>
            </a:r>
            <a:endParaRPr lang="en-US" sz="1000" dirty="0"/>
          </a:p>
        </p:txBody>
      </p:sp>
      <p:sp>
        <p:nvSpPr>
          <p:cNvPr id="14" name="Shape 10"/>
          <p:cNvSpPr/>
          <p:nvPr/>
        </p:nvSpPr>
        <p:spPr>
          <a:xfrm>
            <a:off x="4332122" y="1938528"/>
            <a:ext cx="3527450" cy="1993392"/>
          </a:xfrm>
          <a:prstGeom prst="roundRect">
            <a:avLst>
              <a:gd name="adj" fmla="val 4128"/>
            </a:avLst>
          </a:prstGeom>
          <a:solidFill>
            <a:srgbClr val="FFFFFF"/>
          </a:solidFill>
          <a:ln w="12700">
            <a:solidFill>
              <a:srgbClr val="E2E7F0"/>
            </a:solidFill>
            <a:prstDash val="solid"/>
          </a:ln>
        </p:spPr>
      </p:sp>
      <p:sp>
        <p:nvSpPr>
          <p:cNvPr id="15" name="Text 11"/>
          <p:cNvSpPr/>
          <p:nvPr/>
        </p:nvSpPr>
        <p:spPr>
          <a:xfrm>
            <a:off x="4496714" y="2084832"/>
            <a:ext cx="3198266" cy="274320"/>
          </a:xfrm>
          <a:prstGeom prst="rect">
            <a:avLst/>
          </a:prstGeom>
          <a:noFill/>
          <a:ln/>
        </p:spPr>
        <p:txBody>
          <a:bodyPr wrap="square" lIns="0" tIns="0" rIns="0" bIns="0" rtlCol="0" anchor="t"/>
          <a:lstStyle/>
          <a:p>
            <a:pPr indent="0" marL="0">
              <a:buNone/>
            </a:pPr>
            <a:r>
              <a:rPr lang="en-US" sz="1350" b="1" dirty="0">
                <a:solidFill>
                  <a:srgbClr val="101722"/>
                </a:solidFill>
                <a:latin typeface="Calibri" pitchFamily="34" charset="0"/>
                <a:ea typeface="Calibri" pitchFamily="34" charset="-122"/>
                <a:cs typeface="Calibri" pitchFamily="34" charset="-120"/>
              </a:rPr>
              <a:t>Strategist</a:t>
            </a:r>
            <a:endParaRPr lang="en-US" sz="1350" dirty="0"/>
          </a:p>
        </p:txBody>
      </p:sp>
      <p:sp>
        <p:nvSpPr>
          <p:cNvPr id="16" name="Text 12"/>
          <p:cNvSpPr/>
          <p:nvPr/>
        </p:nvSpPr>
        <p:spPr>
          <a:xfrm>
            <a:off x="4496714" y="2359152"/>
            <a:ext cx="3198266" cy="182880"/>
          </a:xfrm>
          <a:prstGeom prst="rect">
            <a:avLst/>
          </a:prstGeom>
          <a:noFill/>
          <a:ln/>
        </p:spPr>
        <p:txBody>
          <a:bodyPr wrap="square" lIns="0" tIns="0" rIns="0" bIns="0" rtlCol="0" anchor="t"/>
          <a:lstStyle/>
          <a:p>
            <a:pPr indent="0" marL="0">
              <a:buNone/>
            </a:pPr>
            <a:r>
              <a:rPr lang="en-US" sz="750" b="1" spc="160" kern="0" dirty="0">
                <a:solidFill>
                  <a:srgbClr val="0E63C4"/>
                </a:solidFill>
                <a:latin typeface="Calibri" pitchFamily="34" charset="0"/>
                <a:ea typeface="Calibri" pitchFamily="34" charset="-122"/>
                <a:cs typeface="Calibri" pitchFamily="34" charset="-120"/>
              </a:rPr>
              <a:t>A PLAN, NOT A WISH</a:t>
            </a:r>
            <a:endParaRPr lang="en-US" sz="750" dirty="0"/>
          </a:p>
        </p:txBody>
      </p:sp>
      <p:sp>
        <p:nvSpPr>
          <p:cNvPr id="17" name="Text 13"/>
          <p:cNvSpPr/>
          <p:nvPr/>
        </p:nvSpPr>
        <p:spPr>
          <a:xfrm>
            <a:off x="4496714" y="2560320"/>
            <a:ext cx="3198266" cy="804672"/>
          </a:xfrm>
          <a:prstGeom prst="rect">
            <a:avLst/>
          </a:prstGeom>
          <a:noFill/>
          <a:ln/>
        </p:spPr>
        <p:txBody>
          <a:bodyPr wrap="square" lIns="0" tIns="0" rIns="0" bIns="0" rtlCol="0" anchor="t"/>
          <a:lstStyle/>
          <a:p>
            <a:pPr indent="0" marL="0">
              <a:lnSpc>
                <a:spcPts val="1500"/>
              </a:lnSpc>
              <a:buNone/>
            </a:pPr>
            <a:r>
              <a:rPr lang="en-US" sz="1100" dirty="0">
                <a:solidFill>
                  <a:srgbClr val="4C5766"/>
                </a:solidFill>
                <a:latin typeface="Calibri" pitchFamily="34" charset="0"/>
                <a:ea typeface="Calibri" pitchFamily="34" charset="-122"/>
                <a:cs typeface="Calibri" pitchFamily="34" charset="-120"/>
              </a:rPr>
              <a:t>Turns one line into ordered CAD sub-goals, each with tags and an envelope.</a:t>
            </a:r>
            <a:endParaRPr lang="en-US" sz="1100" dirty="0"/>
          </a:p>
        </p:txBody>
      </p:sp>
      <p:sp>
        <p:nvSpPr>
          <p:cNvPr id="18" name="Shape 14"/>
          <p:cNvSpPr/>
          <p:nvPr/>
        </p:nvSpPr>
        <p:spPr>
          <a:xfrm>
            <a:off x="4496714" y="3346704"/>
            <a:ext cx="3198266" cy="0"/>
          </a:xfrm>
          <a:prstGeom prst="line">
            <a:avLst/>
          </a:prstGeom>
          <a:noFill/>
          <a:ln w="12700">
            <a:solidFill>
              <a:srgbClr val="E2E7F0"/>
            </a:solidFill>
            <a:prstDash val="solid"/>
          </a:ln>
        </p:spPr>
      </p:sp>
      <p:sp>
        <p:nvSpPr>
          <p:cNvPr id="19" name="Text 15"/>
          <p:cNvSpPr/>
          <p:nvPr/>
        </p:nvSpPr>
        <p:spPr>
          <a:xfrm>
            <a:off x="4496714" y="3401568"/>
            <a:ext cx="3198266" cy="457200"/>
          </a:xfrm>
          <a:prstGeom prst="rect">
            <a:avLst/>
          </a:prstGeom>
          <a:noFill/>
          <a:ln/>
        </p:spPr>
        <p:txBody>
          <a:bodyPr wrap="square" lIns="0" tIns="0" rIns="0" bIns="0" rtlCol="0" anchor="t"/>
          <a:lstStyle/>
          <a:p>
            <a:pPr indent="0" marL="0">
              <a:lnSpc>
                <a:spcPts val="1300"/>
              </a:lnSpc>
              <a:buNone/>
            </a:pPr>
            <a:r>
              <a:rPr lang="en-US" sz="1000" dirty="0">
                <a:solidFill>
                  <a:srgbClr val="101722"/>
                </a:solidFill>
                <a:latin typeface="Calibri" pitchFamily="34" charset="0"/>
                <a:ea typeface="Calibri" pitchFamily="34" charset="-122"/>
                <a:cs typeface="Calibri" pitchFamily="34" charset="-120"/>
              </a:rPr>
              <a:t>Example: </a:t>
            </a:r>
            <a:pPr indent="0" marL="0">
              <a:lnSpc>
                <a:spcPts val="1300"/>
              </a:lnSpc>
              <a:buNone/>
            </a:pPr>
            <a:r>
              <a:rPr lang="en-US" sz="1000" b="1" dirty="0">
                <a:solidFill>
                  <a:srgbClr val="0F8F63"/>
                </a:solidFill>
                <a:latin typeface="Calibri" pitchFamily="34" charset="0"/>
                <a:ea typeface="Calibri" pitchFamily="34" charset="-122"/>
                <a:cs typeface="Calibri" pitchFamily="34" charset="-120"/>
              </a:rPr>
              <a:t>“add a flange”</a:t>
            </a:r>
            <a:pPr indent="0" marL="0">
              <a:lnSpc>
                <a:spcPts val="1300"/>
              </a:lnSpc>
              <a:buNone/>
            </a:pPr>
            <a:r>
              <a:rPr lang="en-US" sz="1000" dirty="0">
                <a:solidFill>
                  <a:srgbClr val="101722"/>
                </a:solidFill>
                <a:latin typeface="Calibri" pitchFamily="34" charset="0"/>
                <a:ea typeface="Calibri" pitchFamily="34" charset="-122"/>
                <a:cs typeface="Calibri" pitchFamily="34" charset="-120"/>
              </a:rPr>
              <a:t> becomes cut the pocket, then add the flange, then drill the four holes.</a:t>
            </a:r>
            <a:endParaRPr lang="en-US" sz="1000" dirty="0"/>
          </a:p>
        </p:txBody>
      </p:sp>
      <p:sp>
        <p:nvSpPr>
          <p:cNvPr id="20" name="Shape 16"/>
          <p:cNvSpPr/>
          <p:nvPr/>
        </p:nvSpPr>
        <p:spPr>
          <a:xfrm>
            <a:off x="8097317" y="1938528"/>
            <a:ext cx="3527450" cy="1993392"/>
          </a:xfrm>
          <a:prstGeom prst="roundRect">
            <a:avLst>
              <a:gd name="adj" fmla="val 4128"/>
            </a:avLst>
          </a:prstGeom>
          <a:solidFill>
            <a:srgbClr val="FFFFFF"/>
          </a:solidFill>
          <a:ln w="12700">
            <a:solidFill>
              <a:srgbClr val="E2E7F0"/>
            </a:solidFill>
            <a:prstDash val="solid"/>
          </a:ln>
        </p:spPr>
      </p:sp>
      <p:sp>
        <p:nvSpPr>
          <p:cNvPr id="21" name="Text 17"/>
          <p:cNvSpPr/>
          <p:nvPr/>
        </p:nvSpPr>
        <p:spPr>
          <a:xfrm>
            <a:off x="8261909" y="2084832"/>
            <a:ext cx="3198266" cy="274320"/>
          </a:xfrm>
          <a:prstGeom prst="rect">
            <a:avLst/>
          </a:prstGeom>
          <a:noFill/>
          <a:ln/>
        </p:spPr>
        <p:txBody>
          <a:bodyPr wrap="square" lIns="0" tIns="0" rIns="0" bIns="0" rtlCol="0" anchor="t"/>
          <a:lstStyle/>
          <a:p>
            <a:pPr indent="0" marL="0">
              <a:buNone/>
            </a:pPr>
            <a:r>
              <a:rPr lang="en-US" sz="1350" b="1" dirty="0">
                <a:solidFill>
                  <a:srgbClr val="101722"/>
                </a:solidFill>
                <a:latin typeface="Calibri" pitchFamily="34" charset="0"/>
                <a:ea typeface="Calibri" pitchFamily="34" charset="-122"/>
                <a:cs typeface="Calibri" pitchFamily="34" charset="-120"/>
              </a:rPr>
              <a:t>Three agents, one job each</a:t>
            </a:r>
            <a:endParaRPr lang="en-US" sz="1350" dirty="0"/>
          </a:p>
        </p:txBody>
      </p:sp>
      <p:sp>
        <p:nvSpPr>
          <p:cNvPr id="22" name="Text 18"/>
          <p:cNvSpPr/>
          <p:nvPr/>
        </p:nvSpPr>
        <p:spPr>
          <a:xfrm>
            <a:off x="8261909" y="2359152"/>
            <a:ext cx="3198266" cy="182880"/>
          </a:xfrm>
          <a:prstGeom prst="rect">
            <a:avLst/>
          </a:prstGeom>
          <a:noFill/>
          <a:ln/>
        </p:spPr>
        <p:txBody>
          <a:bodyPr wrap="square" lIns="0" tIns="0" rIns="0" bIns="0" rtlCol="0" anchor="t"/>
          <a:lstStyle/>
          <a:p>
            <a:pPr indent="0" marL="0">
              <a:buNone/>
            </a:pPr>
            <a:r>
              <a:rPr lang="en-US" sz="750" b="1" spc="160" kern="0" dirty="0">
                <a:solidFill>
                  <a:srgbClr val="0E63C4"/>
                </a:solidFill>
                <a:latin typeface="Calibri" pitchFamily="34" charset="0"/>
                <a:ea typeface="Calibri" pitchFamily="34" charset="-122"/>
                <a:cs typeface="Calibri" pitchFamily="34" charset="-120"/>
              </a:rPr>
              <a:t>FAILURES STAY SEPARABLE</a:t>
            </a:r>
            <a:endParaRPr lang="en-US" sz="750" dirty="0"/>
          </a:p>
        </p:txBody>
      </p:sp>
      <p:sp>
        <p:nvSpPr>
          <p:cNvPr id="23" name="Text 19"/>
          <p:cNvSpPr/>
          <p:nvPr/>
        </p:nvSpPr>
        <p:spPr>
          <a:xfrm>
            <a:off x="8261909" y="2560320"/>
            <a:ext cx="3198266" cy="804672"/>
          </a:xfrm>
          <a:prstGeom prst="rect">
            <a:avLst/>
          </a:prstGeom>
          <a:noFill/>
          <a:ln/>
        </p:spPr>
        <p:txBody>
          <a:bodyPr wrap="square" lIns="0" tIns="0" rIns="0" bIns="0" rtlCol="0" anchor="t"/>
          <a:lstStyle/>
          <a:p>
            <a:pPr indent="0" marL="0">
              <a:lnSpc>
                <a:spcPts val="1500"/>
              </a:lnSpc>
              <a:buNone/>
            </a:pPr>
            <a:r>
              <a:rPr lang="en-US" sz="1100" dirty="0">
                <a:solidFill>
                  <a:srgbClr val="4C5766"/>
                </a:solidFill>
                <a:latin typeface="Calibri" pitchFamily="34" charset="0"/>
                <a:ea typeface="Calibri" pitchFamily="34" charset="-122"/>
                <a:cs typeface="Calibri" pitchFamily="34" charset="-120"/>
              </a:rPr>
              <a:t>One plans, one writes CadQuery for a single sub-goal, one judges.</a:t>
            </a:r>
            <a:endParaRPr lang="en-US" sz="1100" dirty="0"/>
          </a:p>
        </p:txBody>
      </p:sp>
      <p:sp>
        <p:nvSpPr>
          <p:cNvPr id="24" name="Shape 20"/>
          <p:cNvSpPr/>
          <p:nvPr/>
        </p:nvSpPr>
        <p:spPr>
          <a:xfrm>
            <a:off x="8261909" y="3346704"/>
            <a:ext cx="3198266" cy="0"/>
          </a:xfrm>
          <a:prstGeom prst="line">
            <a:avLst/>
          </a:prstGeom>
          <a:noFill/>
          <a:ln w="12700">
            <a:solidFill>
              <a:srgbClr val="E2E7F0"/>
            </a:solidFill>
            <a:prstDash val="solid"/>
          </a:ln>
        </p:spPr>
      </p:sp>
      <p:sp>
        <p:nvSpPr>
          <p:cNvPr id="25" name="Text 21"/>
          <p:cNvSpPr/>
          <p:nvPr/>
        </p:nvSpPr>
        <p:spPr>
          <a:xfrm>
            <a:off x="8261909" y="3401568"/>
            <a:ext cx="3198266" cy="457200"/>
          </a:xfrm>
          <a:prstGeom prst="rect">
            <a:avLst/>
          </a:prstGeom>
          <a:noFill/>
          <a:ln/>
        </p:spPr>
        <p:txBody>
          <a:bodyPr wrap="square" lIns="0" tIns="0" rIns="0" bIns="0" rtlCol="0" anchor="t"/>
          <a:lstStyle/>
          <a:p>
            <a:pPr indent="0" marL="0">
              <a:lnSpc>
                <a:spcPts val="1300"/>
              </a:lnSpc>
              <a:buNone/>
            </a:pPr>
            <a:r>
              <a:rPr lang="en-US" sz="1000" dirty="0">
                <a:solidFill>
                  <a:srgbClr val="101722"/>
                </a:solidFill>
                <a:latin typeface="Calibri" pitchFamily="34" charset="0"/>
                <a:ea typeface="Calibri" pitchFamily="34" charset="-122"/>
                <a:cs typeface="Calibri" pitchFamily="34" charset="-120"/>
              </a:rPr>
              <a:t>Example: the executor </a:t>
            </a:r>
            <a:pPr indent="0" marL="0">
              <a:lnSpc>
                <a:spcPts val="1300"/>
              </a:lnSpc>
              <a:buNone/>
            </a:pPr>
            <a:r>
              <a:rPr lang="en-US" sz="1000" b="1" dirty="0">
                <a:solidFill>
                  <a:srgbClr val="0F8F63"/>
                </a:solidFill>
                <a:latin typeface="Calibri" pitchFamily="34" charset="0"/>
                <a:ea typeface="Calibri" pitchFamily="34" charset="-122"/>
                <a:cs typeface="Calibri" pitchFamily="34" charset="-120"/>
              </a:rPr>
              <a:t>never sees the rest of the plan</a:t>
            </a:r>
            <a:pPr indent="0" marL="0">
              <a:lnSpc>
                <a:spcPts val="1300"/>
              </a:lnSpc>
              <a:buNone/>
            </a:pPr>
            <a:r>
              <a:rPr lang="en-US" sz="1000" dirty="0">
                <a:solidFill>
                  <a:srgbClr val="101722"/>
                </a:solidFill>
                <a:latin typeface="Calibri" pitchFamily="34" charset="0"/>
                <a:ea typeface="Calibri" pitchFamily="34" charset="-122"/>
                <a:cs typeface="Calibri" pitchFamily="34" charset="-120"/>
              </a:rPr>
              <a:t>, so a bad plan cannot hide behind a good build.</a:t>
            </a:r>
            <a:endParaRPr lang="en-US" sz="1000" dirty="0"/>
          </a:p>
        </p:txBody>
      </p:sp>
      <p:sp>
        <p:nvSpPr>
          <p:cNvPr id="26" name="Shape 22"/>
          <p:cNvSpPr/>
          <p:nvPr/>
        </p:nvSpPr>
        <p:spPr>
          <a:xfrm>
            <a:off x="566928" y="4151376"/>
            <a:ext cx="3527450" cy="1993392"/>
          </a:xfrm>
          <a:prstGeom prst="roundRect">
            <a:avLst>
              <a:gd name="adj" fmla="val 4128"/>
            </a:avLst>
          </a:prstGeom>
          <a:solidFill>
            <a:srgbClr val="FFFFFF"/>
          </a:solidFill>
          <a:ln w="12700">
            <a:solidFill>
              <a:srgbClr val="E2E7F0"/>
            </a:solidFill>
            <a:prstDash val="solid"/>
          </a:ln>
        </p:spPr>
      </p:sp>
      <p:sp>
        <p:nvSpPr>
          <p:cNvPr id="27" name="Text 23"/>
          <p:cNvSpPr/>
          <p:nvPr/>
        </p:nvSpPr>
        <p:spPr>
          <a:xfrm>
            <a:off x="731520" y="4297680"/>
            <a:ext cx="3198266" cy="274320"/>
          </a:xfrm>
          <a:prstGeom prst="rect">
            <a:avLst/>
          </a:prstGeom>
          <a:noFill/>
          <a:ln/>
        </p:spPr>
        <p:txBody>
          <a:bodyPr wrap="square" lIns="0" tIns="0" rIns="0" bIns="0" rtlCol="0" anchor="t"/>
          <a:lstStyle/>
          <a:p>
            <a:pPr indent="0" marL="0">
              <a:buNone/>
            </a:pPr>
            <a:r>
              <a:rPr lang="en-US" sz="1350" b="1" dirty="0">
                <a:solidFill>
                  <a:srgbClr val="101722"/>
                </a:solidFill>
                <a:latin typeface="Calibri" pitchFamily="34" charset="0"/>
                <a:ea typeface="Calibri" pitchFamily="34" charset="-122"/>
                <a:cs typeface="Calibri" pitchFamily="34" charset="-120"/>
              </a:rPr>
              <a:t>Syntax and API check</a:t>
            </a:r>
            <a:endParaRPr lang="en-US" sz="1350" dirty="0"/>
          </a:p>
        </p:txBody>
      </p:sp>
      <p:sp>
        <p:nvSpPr>
          <p:cNvPr id="28" name="Text 24"/>
          <p:cNvSpPr/>
          <p:nvPr/>
        </p:nvSpPr>
        <p:spPr>
          <a:xfrm>
            <a:off x="731520" y="4572000"/>
            <a:ext cx="3198266" cy="182880"/>
          </a:xfrm>
          <a:prstGeom prst="rect">
            <a:avLst/>
          </a:prstGeom>
          <a:noFill/>
          <a:ln/>
        </p:spPr>
        <p:txBody>
          <a:bodyPr wrap="square" lIns="0" tIns="0" rIns="0" bIns="0" rtlCol="0" anchor="t"/>
          <a:lstStyle/>
          <a:p>
            <a:pPr indent="0" marL="0">
              <a:buNone/>
            </a:pPr>
            <a:r>
              <a:rPr lang="en-US" sz="750" b="1" spc="160" kern="0" dirty="0">
                <a:solidFill>
                  <a:srgbClr val="0E63C4"/>
                </a:solidFill>
                <a:latin typeface="Calibri" pitchFamily="34" charset="0"/>
                <a:ea typeface="Calibri" pitchFamily="34" charset="-122"/>
                <a:cs typeface="Calibri" pitchFamily="34" charset="-120"/>
              </a:rPr>
              <a:t>BEFORE ANYTHING RUNS</a:t>
            </a:r>
            <a:endParaRPr lang="en-US" sz="750" dirty="0"/>
          </a:p>
        </p:txBody>
      </p:sp>
      <p:sp>
        <p:nvSpPr>
          <p:cNvPr id="29" name="Text 25"/>
          <p:cNvSpPr/>
          <p:nvPr/>
        </p:nvSpPr>
        <p:spPr>
          <a:xfrm>
            <a:off x="731520" y="4773168"/>
            <a:ext cx="3198266" cy="804672"/>
          </a:xfrm>
          <a:prstGeom prst="rect">
            <a:avLst/>
          </a:prstGeom>
          <a:noFill/>
          <a:ln/>
        </p:spPr>
        <p:txBody>
          <a:bodyPr wrap="square" lIns="0" tIns="0" rIns="0" bIns="0" rtlCol="0" anchor="t"/>
          <a:lstStyle/>
          <a:p>
            <a:pPr indent="0" marL="0">
              <a:lnSpc>
                <a:spcPts val="1500"/>
              </a:lnSpc>
              <a:buNone/>
            </a:pPr>
            <a:r>
              <a:rPr lang="en-US" sz="1100" dirty="0">
                <a:solidFill>
                  <a:srgbClr val="4C5766"/>
                </a:solidFill>
                <a:latin typeface="Calibri" pitchFamily="34" charset="0"/>
                <a:ea typeface="Calibri" pitchFamily="34" charset="-122"/>
                <a:cs typeface="Calibri" pitchFamily="34" charset="-120"/>
              </a:rPr>
              <a:t>Reads the CadQuery the model wrote and blocks the errors that never execute.</a:t>
            </a:r>
            <a:endParaRPr lang="en-US" sz="1100" dirty="0"/>
          </a:p>
        </p:txBody>
      </p:sp>
      <p:sp>
        <p:nvSpPr>
          <p:cNvPr id="30" name="Shape 26"/>
          <p:cNvSpPr/>
          <p:nvPr/>
        </p:nvSpPr>
        <p:spPr>
          <a:xfrm>
            <a:off x="731520" y="5559552"/>
            <a:ext cx="3198266" cy="0"/>
          </a:xfrm>
          <a:prstGeom prst="line">
            <a:avLst/>
          </a:prstGeom>
          <a:noFill/>
          <a:ln w="12700">
            <a:solidFill>
              <a:srgbClr val="E2E7F0"/>
            </a:solidFill>
            <a:prstDash val="solid"/>
          </a:ln>
        </p:spPr>
      </p:sp>
      <p:sp>
        <p:nvSpPr>
          <p:cNvPr id="31" name="Text 27"/>
          <p:cNvSpPr/>
          <p:nvPr/>
        </p:nvSpPr>
        <p:spPr>
          <a:xfrm>
            <a:off x="731520" y="5614416"/>
            <a:ext cx="3198266" cy="457200"/>
          </a:xfrm>
          <a:prstGeom prst="rect">
            <a:avLst/>
          </a:prstGeom>
          <a:noFill/>
          <a:ln/>
        </p:spPr>
        <p:txBody>
          <a:bodyPr wrap="square" lIns="0" tIns="0" rIns="0" bIns="0" rtlCol="0" anchor="t"/>
          <a:lstStyle/>
          <a:p>
            <a:pPr indent="0" marL="0">
              <a:lnSpc>
                <a:spcPts val="1300"/>
              </a:lnSpc>
              <a:buNone/>
            </a:pPr>
            <a:r>
              <a:rPr lang="en-US" sz="1000" dirty="0">
                <a:solidFill>
                  <a:srgbClr val="101722"/>
                </a:solidFill>
                <a:latin typeface="Calibri" pitchFamily="34" charset="0"/>
                <a:ea typeface="Calibri" pitchFamily="34" charset="-122"/>
                <a:cs typeface="Calibri" pitchFamily="34" charset="-120"/>
              </a:rPr>
              <a:t>Example: an unbalanced .faces() chain, or a method that does not exist in this CadQuery build, is caught </a:t>
            </a:r>
            <a:pPr indent="0" marL="0">
              <a:lnSpc>
                <a:spcPts val="1300"/>
              </a:lnSpc>
              <a:buNone/>
            </a:pPr>
            <a:r>
              <a:rPr lang="en-US" sz="1000" b="1" dirty="0">
                <a:solidFill>
                  <a:srgbClr val="0F8F63"/>
                </a:solidFill>
                <a:latin typeface="Calibri" pitchFamily="34" charset="0"/>
                <a:ea typeface="Calibri" pitchFamily="34" charset="-122"/>
                <a:cs typeface="Calibri" pitchFamily="34" charset="-120"/>
              </a:rPr>
              <a:t>without spending a run</a:t>
            </a:r>
            <a:pPr indent="0" marL="0">
              <a:lnSpc>
                <a:spcPts val="1300"/>
              </a:lnSpc>
              <a:buNone/>
            </a:pPr>
            <a:r>
              <a:rPr lang="en-US" sz="1000" dirty="0">
                <a:solidFill>
                  <a:srgbClr val="101722"/>
                </a:solidFill>
                <a:latin typeface="Calibri" pitchFamily="34" charset="0"/>
                <a:ea typeface="Calibri" pitchFamily="34" charset="-122"/>
                <a:cs typeface="Calibri" pitchFamily="34" charset="-120"/>
              </a:rPr>
              <a:t>.</a:t>
            </a:r>
            <a:endParaRPr lang="en-US" sz="1000" dirty="0"/>
          </a:p>
        </p:txBody>
      </p:sp>
      <p:sp>
        <p:nvSpPr>
          <p:cNvPr id="32" name="Shape 28"/>
          <p:cNvSpPr/>
          <p:nvPr/>
        </p:nvSpPr>
        <p:spPr>
          <a:xfrm>
            <a:off x="4332122" y="4151376"/>
            <a:ext cx="3527450" cy="1993392"/>
          </a:xfrm>
          <a:prstGeom prst="roundRect">
            <a:avLst>
              <a:gd name="adj" fmla="val 4128"/>
            </a:avLst>
          </a:prstGeom>
          <a:solidFill>
            <a:srgbClr val="FFFFFF"/>
          </a:solidFill>
          <a:ln w="12700">
            <a:solidFill>
              <a:srgbClr val="E2E7F0"/>
            </a:solidFill>
            <a:prstDash val="solid"/>
          </a:ln>
        </p:spPr>
      </p:sp>
      <p:sp>
        <p:nvSpPr>
          <p:cNvPr id="33" name="Text 29"/>
          <p:cNvSpPr/>
          <p:nvPr/>
        </p:nvSpPr>
        <p:spPr>
          <a:xfrm>
            <a:off x="4496714" y="4297680"/>
            <a:ext cx="3198266" cy="274320"/>
          </a:xfrm>
          <a:prstGeom prst="rect">
            <a:avLst/>
          </a:prstGeom>
          <a:noFill/>
          <a:ln/>
        </p:spPr>
        <p:txBody>
          <a:bodyPr wrap="square" lIns="0" tIns="0" rIns="0" bIns="0" rtlCol="0" anchor="t"/>
          <a:lstStyle/>
          <a:p>
            <a:pPr indent="0" marL="0">
              <a:buNone/>
            </a:pPr>
            <a:r>
              <a:rPr lang="en-US" sz="1350" b="1" dirty="0">
                <a:solidFill>
                  <a:srgbClr val="101722"/>
                </a:solidFill>
                <a:latin typeface="Calibri" pitchFamily="34" charset="0"/>
                <a:ea typeface="Calibri" pitchFamily="34" charset="-122"/>
                <a:cs typeface="Calibri" pitchFamily="34" charset="-120"/>
              </a:rPr>
              <a:t>QA inspector</a:t>
            </a:r>
            <a:endParaRPr lang="en-US" sz="1350" dirty="0"/>
          </a:p>
        </p:txBody>
      </p:sp>
      <p:sp>
        <p:nvSpPr>
          <p:cNvPr id="34" name="Text 30"/>
          <p:cNvSpPr/>
          <p:nvPr/>
        </p:nvSpPr>
        <p:spPr>
          <a:xfrm>
            <a:off x="4496714" y="4572000"/>
            <a:ext cx="3198266" cy="182880"/>
          </a:xfrm>
          <a:prstGeom prst="rect">
            <a:avLst/>
          </a:prstGeom>
          <a:noFill/>
          <a:ln/>
        </p:spPr>
        <p:txBody>
          <a:bodyPr wrap="square" lIns="0" tIns="0" rIns="0" bIns="0" rtlCol="0" anchor="t"/>
          <a:lstStyle/>
          <a:p>
            <a:pPr indent="0" marL="0">
              <a:buNone/>
            </a:pPr>
            <a:r>
              <a:rPr lang="en-US" sz="750" b="1" spc="160" kern="0" dirty="0">
                <a:solidFill>
                  <a:srgbClr val="0E63C4"/>
                </a:solidFill>
                <a:latin typeface="Calibri" pitchFamily="34" charset="0"/>
                <a:ea typeface="Calibri" pitchFamily="34" charset="-122"/>
                <a:cs typeface="Calibri" pitchFamily="34" charset="-120"/>
              </a:rPr>
              <a:t>IT SAYS WHAT IS WRONG</a:t>
            </a:r>
            <a:endParaRPr lang="en-US" sz="750" dirty="0"/>
          </a:p>
        </p:txBody>
      </p:sp>
      <p:sp>
        <p:nvSpPr>
          <p:cNvPr id="35" name="Text 31"/>
          <p:cNvSpPr/>
          <p:nvPr/>
        </p:nvSpPr>
        <p:spPr>
          <a:xfrm>
            <a:off x="4496714" y="4773168"/>
            <a:ext cx="3198266" cy="804672"/>
          </a:xfrm>
          <a:prstGeom prst="rect">
            <a:avLst/>
          </a:prstGeom>
          <a:noFill/>
          <a:ln/>
        </p:spPr>
        <p:txBody>
          <a:bodyPr wrap="square" lIns="0" tIns="0" rIns="0" bIns="0" rtlCol="0" anchor="t"/>
          <a:lstStyle/>
          <a:p>
            <a:pPr indent="0" marL="0">
              <a:lnSpc>
                <a:spcPts val="1500"/>
              </a:lnSpc>
              <a:buNone/>
            </a:pPr>
            <a:r>
              <a:rPr lang="en-US" sz="1100" dirty="0">
                <a:solidFill>
                  <a:srgbClr val="4C5766"/>
                </a:solidFill>
                <a:latin typeface="Calibri" pitchFamily="34" charset="0"/>
                <a:ea typeface="Calibri" pitchFamily="34" charset="-122"/>
                <a:cs typeface="Calibri" pitchFamily="34" charset="-120"/>
              </a:rPr>
              <a:t>An independent call with no stake in the edit passing, judging pictures and numbers.</a:t>
            </a:r>
            <a:endParaRPr lang="en-US" sz="1100" dirty="0"/>
          </a:p>
        </p:txBody>
      </p:sp>
      <p:sp>
        <p:nvSpPr>
          <p:cNvPr id="36" name="Shape 32"/>
          <p:cNvSpPr/>
          <p:nvPr/>
        </p:nvSpPr>
        <p:spPr>
          <a:xfrm>
            <a:off x="4496714" y="5559552"/>
            <a:ext cx="3198266" cy="0"/>
          </a:xfrm>
          <a:prstGeom prst="line">
            <a:avLst/>
          </a:prstGeom>
          <a:noFill/>
          <a:ln w="12700">
            <a:solidFill>
              <a:srgbClr val="E2E7F0"/>
            </a:solidFill>
            <a:prstDash val="solid"/>
          </a:ln>
        </p:spPr>
      </p:sp>
      <p:sp>
        <p:nvSpPr>
          <p:cNvPr id="37" name="Text 33"/>
          <p:cNvSpPr/>
          <p:nvPr/>
        </p:nvSpPr>
        <p:spPr>
          <a:xfrm>
            <a:off x="4496714" y="5614416"/>
            <a:ext cx="3198266" cy="457200"/>
          </a:xfrm>
          <a:prstGeom prst="rect">
            <a:avLst/>
          </a:prstGeom>
          <a:noFill/>
          <a:ln/>
        </p:spPr>
        <p:txBody>
          <a:bodyPr wrap="square" lIns="0" tIns="0" rIns="0" bIns="0" rtlCol="0" anchor="t"/>
          <a:lstStyle/>
          <a:p>
            <a:pPr indent="0" marL="0">
              <a:lnSpc>
                <a:spcPts val="1300"/>
              </a:lnSpc>
              <a:buNone/>
            </a:pPr>
            <a:r>
              <a:rPr lang="en-US" sz="1000" dirty="0">
                <a:solidFill>
                  <a:srgbClr val="101722"/>
                </a:solidFill>
                <a:latin typeface="Calibri" pitchFamily="34" charset="0"/>
                <a:ea typeface="Calibri" pitchFamily="34" charset="-122"/>
                <a:cs typeface="Calibri" pitchFamily="34" charset="-120"/>
              </a:rPr>
              <a:t>Example: </a:t>
            </a:r>
            <a:pPr indent="0" marL="0">
              <a:lnSpc>
                <a:spcPts val="1300"/>
              </a:lnSpc>
              <a:buNone/>
            </a:pPr>
            <a:r>
              <a:rPr lang="en-US" sz="1000" b="1" dirty="0">
                <a:solidFill>
                  <a:srgbClr val="0F8F63"/>
                </a:solidFill>
                <a:latin typeface="Calibri" pitchFamily="34" charset="0"/>
                <a:ea typeface="Calibri" pitchFamily="34" charset="-122"/>
                <a:cs typeface="Calibri" pitchFamily="34" charset="-120"/>
              </a:rPr>
              <a:t>“the chamfer landed on the outer rim, not the hole mouth”</a:t>
            </a:r>
            <a:pPr indent="0" marL="0">
              <a:lnSpc>
                <a:spcPts val="1300"/>
              </a:lnSpc>
              <a:buNone/>
            </a:pPr>
            <a:r>
              <a:rPr lang="en-US" sz="1000" dirty="0">
                <a:solidFill>
                  <a:srgbClr val="101722"/>
                </a:solidFill>
                <a:latin typeface="Calibri" pitchFamily="34" charset="0"/>
                <a:ea typeface="Calibri" pitchFamily="34" charset="-122"/>
                <a:cs typeface="Calibri" pitchFamily="34" charset="-120"/>
              </a:rPr>
              <a:t> goes back as the next instruction.</a:t>
            </a:r>
            <a:endParaRPr lang="en-US" sz="1000" dirty="0"/>
          </a:p>
        </p:txBody>
      </p:sp>
      <p:sp>
        <p:nvSpPr>
          <p:cNvPr id="38" name="Shape 34"/>
          <p:cNvSpPr/>
          <p:nvPr/>
        </p:nvSpPr>
        <p:spPr>
          <a:xfrm>
            <a:off x="8097317" y="4151376"/>
            <a:ext cx="3527450" cy="1993392"/>
          </a:xfrm>
          <a:prstGeom prst="roundRect">
            <a:avLst>
              <a:gd name="adj" fmla="val 4128"/>
            </a:avLst>
          </a:prstGeom>
          <a:solidFill>
            <a:srgbClr val="FFFFFF"/>
          </a:solidFill>
          <a:ln w="12700">
            <a:solidFill>
              <a:srgbClr val="E2E7F0"/>
            </a:solidFill>
            <a:prstDash val="solid"/>
          </a:ln>
        </p:spPr>
      </p:sp>
      <p:sp>
        <p:nvSpPr>
          <p:cNvPr id="39" name="Text 35"/>
          <p:cNvSpPr/>
          <p:nvPr/>
        </p:nvSpPr>
        <p:spPr>
          <a:xfrm>
            <a:off x="8261909" y="4297680"/>
            <a:ext cx="3198266" cy="274320"/>
          </a:xfrm>
          <a:prstGeom prst="rect">
            <a:avLst/>
          </a:prstGeom>
          <a:noFill/>
          <a:ln/>
        </p:spPr>
        <p:txBody>
          <a:bodyPr wrap="square" lIns="0" tIns="0" rIns="0" bIns="0" rtlCol="0" anchor="t"/>
          <a:lstStyle/>
          <a:p>
            <a:pPr indent="0" marL="0">
              <a:buNone/>
            </a:pPr>
            <a:r>
              <a:rPr lang="en-US" sz="1350" b="1" dirty="0">
                <a:solidFill>
                  <a:srgbClr val="101722"/>
                </a:solidFill>
                <a:latin typeface="Calibri" pitchFamily="34" charset="0"/>
                <a:ea typeface="Calibri" pitchFamily="34" charset="-122"/>
                <a:cs typeface="Calibri" pitchFamily="34" charset="-120"/>
              </a:rPr>
              <a:t>A skill set, picked by sub-goal</a:t>
            </a:r>
            <a:endParaRPr lang="en-US" sz="1350" dirty="0"/>
          </a:p>
        </p:txBody>
      </p:sp>
      <p:sp>
        <p:nvSpPr>
          <p:cNvPr id="40" name="Text 36"/>
          <p:cNvSpPr/>
          <p:nvPr/>
        </p:nvSpPr>
        <p:spPr>
          <a:xfrm>
            <a:off x="8261909" y="4572000"/>
            <a:ext cx="3198266" cy="182880"/>
          </a:xfrm>
          <a:prstGeom prst="rect">
            <a:avLst/>
          </a:prstGeom>
          <a:noFill/>
          <a:ln/>
        </p:spPr>
        <p:txBody>
          <a:bodyPr wrap="square" lIns="0" tIns="0" rIns="0" bIns="0" rtlCol="0" anchor="t"/>
          <a:lstStyle/>
          <a:p>
            <a:pPr indent="0" marL="0">
              <a:buNone/>
            </a:pPr>
            <a:r>
              <a:rPr lang="en-US" sz="750" b="1" spc="160" kern="0" dirty="0">
                <a:solidFill>
                  <a:srgbClr val="0E63C4"/>
                </a:solidFill>
                <a:latin typeface="Calibri" pitchFamily="34" charset="0"/>
                <a:ea typeface="Calibri" pitchFamily="34" charset="-122"/>
                <a:cs typeface="Calibri" pitchFamily="34" charset="-120"/>
              </a:rPr>
              <a:t>THE RIGHT RECIPES, NOT ALL OF THEM</a:t>
            </a:r>
            <a:endParaRPr lang="en-US" sz="750" dirty="0"/>
          </a:p>
        </p:txBody>
      </p:sp>
      <p:sp>
        <p:nvSpPr>
          <p:cNvPr id="41" name="Text 37"/>
          <p:cNvSpPr/>
          <p:nvPr/>
        </p:nvSpPr>
        <p:spPr>
          <a:xfrm>
            <a:off x="8261909" y="4773168"/>
            <a:ext cx="3198266" cy="804672"/>
          </a:xfrm>
          <a:prstGeom prst="rect">
            <a:avLst/>
          </a:prstGeom>
          <a:noFill/>
          <a:ln/>
        </p:spPr>
        <p:txBody>
          <a:bodyPr wrap="square" lIns="0" tIns="0" rIns="0" bIns="0" rtlCol="0" anchor="t"/>
          <a:lstStyle/>
          <a:p>
            <a:pPr indent="0" marL="0">
              <a:lnSpc>
                <a:spcPts val="1500"/>
              </a:lnSpc>
              <a:buNone/>
            </a:pPr>
            <a:r>
              <a:rPr lang="en-US" sz="1100" dirty="0">
                <a:solidFill>
                  <a:srgbClr val="4C5766"/>
                </a:solidFill>
                <a:latin typeface="Calibri" pitchFamily="34" charset="0"/>
                <a:ea typeface="Calibri" pitchFamily="34" charset="-122"/>
                <a:cs typeface="Calibri" pitchFamily="34" charset="-120"/>
              </a:rPr>
              <a:t>Every sub-goal the strategist writes carries tags. Those tags pull only the verified CadQuery recipes that fit it, inside a token budget.</a:t>
            </a:r>
            <a:endParaRPr lang="en-US" sz="1100" dirty="0"/>
          </a:p>
        </p:txBody>
      </p:sp>
      <p:sp>
        <p:nvSpPr>
          <p:cNvPr id="42" name="Shape 38"/>
          <p:cNvSpPr/>
          <p:nvPr/>
        </p:nvSpPr>
        <p:spPr>
          <a:xfrm>
            <a:off x="8261909" y="5559552"/>
            <a:ext cx="3198266" cy="0"/>
          </a:xfrm>
          <a:prstGeom prst="line">
            <a:avLst/>
          </a:prstGeom>
          <a:noFill/>
          <a:ln w="12700">
            <a:solidFill>
              <a:srgbClr val="E2E7F0"/>
            </a:solidFill>
            <a:prstDash val="solid"/>
          </a:ln>
        </p:spPr>
      </p:sp>
      <p:sp>
        <p:nvSpPr>
          <p:cNvPr id="43" name="Text 39"/>
          <p:cNvSpPr/>
          <p:nvPr/>
        </p:nvSpPr>
        <p:spPr>
          <a:xfrm>
            <a:off x="8261909" y="5614416"/>
            <a:ext cx="3198266" cy="457200"/>
          </a:xfrm>
          <a:prstGeom prst="rect">
            <a:avLst/>
          </a:prstGeom>
          <a:noFill/>
          <a:ln/>
        </p:spPr>
        <p:txBody>
          <a:bodyPr wrap="square" lIns="0" tIns="0" rIns="0" bIns="0" rtlCol="0" anchor="t"/>
          <a:lstStyle/>
          <a:p>
            <a:pPr indent="0" marL="0">
              <a:lnSpc>
                <a:spcPts val="1300"/>
              </a:lnSpc>
              <a:buNone/>
            </a:pPr>
            <a:r>
              <a:rPr lang="en-US" sz="1000" dirty="0">
                <a:solidFill>
                  <a:srgbClr val="101722"/>
                </a:solidFill>
                <a:latin typeface="Calibri" pitchFamily="34" charset="0"/>
                <a:ea typeface="Calibri" pitchFamily="34" charset="-122"/>
                <a:cs typeface="Calibri" pitchFamily="34" charset="-120"/>
              </a:rPr>
              <a:t>Example: a sub-goal tagged </a:t>
            </a:r>
            <a:pPr indent="0" marL="0">
              <a:lnSpc>
                <a:spcPts val="1300"/>
              </a:lnSpc>
              <a:buNone/>
            </a:pPr>
            <a:r>
              <a:rPr lang="en-US" sz="1000" b="1" dirty="0">
                <a:solidFill>
                  <a:srgbClr val="0F8F63"/>
                </a:solidFill>
                <a:latin typeface="Calibri" pitchFamily="34" charset="0"/>
                <a:ea typeface="Calibri" pitchFamily="34" charset="-122"/>
                <a:cs typeface="Calibri" pitchFamily="34" charset="-120"/>
              </a:rPr>
              <a:t>cut-hole-slot</a:t>
            </a:r>
            <a:pPr indent="0" marL="0">
              <a:lnSpc>
                <a:spcPts val="1300"/>
              </a:lnSpc>
              <a:buNone/>
            </a:pPr>
            <a:r>
              <a:rPr lang="en-US" sz="1000" dirty="0">
                <a:solidFill>
                  <a:srgbClr val="101722"/>
                </a:solidFill>
                <a:latin typeface="Calibri" pitchFamily="34" charset="0"/>
                <a:ea typeface="Calibri" pitchFamily="34" charset="-122"/>
                <a:cs typeface="Calibri" pitchFamily="34" charset="-120"/>
              </a:rPr>
              <a:t> is handed the hole cutting recipes only, and never the fillet cookbook.</a:t>
            </a:r>
            <a:endParaRPr lang="en-US" sz="1000" dirty="0"/>
          </a:p>
        </p:txBody>
      </p:sp>
      <p:sp>
        <p:nvSpPr>
          <p:cNvPr id="44" name="Text 40"/>
          <p:cNvSpPr/>
          <p:nvPr/>
        </p:nvSpPr>
        <p:spPr>
          <a:xfrm>
            <a:off x="566928" y="6272784"/>
            <a:ext cx="7315200" cy="274320"/>
          </a:xfrm>
          <a:prstGeom prst="rect">
            <a:avLst/>
          </a:prstGeom>
          <a:noFill/>
          <a:ln/>
        </p:spPr>
        <p:txBody>
          <a:bodyPr wrap="square" lIns="0" tIns="0" rIns="0" bIns="0" rtlCol="0" anchor="ctr"/>
          <a:lstStyle/>
          <a:p>
            <a:pPr indent="0" marL="0">
              <a:buNone/>
            </a:pPr>
            <a:r>
              <a:rPr lang="en-US" sz="900" dirty="0">
                <a:solidFill>
                  <a:srgbClr val="7D8899"/>
                </a:solidFill>
                <a:latin typeface="Calibri" pitchFamily="34" charset="0"/>
                <a:ea typeface="Calibri" pitchFamily="34" charset="-122"/>
                <a:cs typeface="Calibri" pitchFamily="34" charset="-120"/>
              </a:rPr>
              <a:t>UCONN CAD PACK · ASME 2026 Student Hackathon</a:t>
            </a:r>
            <a:endParaRPr lang="en-US" sz="900" dirty="0"/>
          </a:p>
        </p:txBody>
      </p:sp>
      <p:sp>
        <p:nvSpPr>
          <p:cNvPr id="45" name="Text 41"/>
          <p:cNvSpPr/>
          <p:nvPr/>
        </p:nvSpPr>
        <p:spPr>
          <a:xfrm>
            <a:off x="9795967" y="6272784"/>
            <a:ext cx="1828800" cy="274320"/>
          </a:xfrm>
          <a:prstGeom prst="rect">
            <a:avLst/>
          </a:prstGeom>
          <a:noFill/>
          <a:ln/>
        </p:spPr>
        <p:txBody>
          <a:bodyPr wrap="square" lIns="0" tIns="0" rIns="0" bIns="0" rtlCol="0" anchor="ctr"/>
          <a:lstStyle/>
          <a:p>
            <a:pPr algn="r" indent="0" marL="0">
              <a:buNone/>
            </a:pPr>
            <a:r>
              <a:rPr lang="en-US" sz="900" dirty="0">
                <a:solidFill>
                  <a:srgbClr val="7D8899"/>
                </a:solidFill>
                <a:latin typeface="Calibri" pitchFamily="34" charset="0"/>
                <a:ea typeface="Calibri" pitchFamily="34" charset="-122"/>
                <a:cs typeface="Calibri" pitchFamily="34" charset="-120"/>
              </a:rPr>
              <a:t>4 / 13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home/claude/pitch/shots3/logo_hack.png">    </p:cNvPr>
          <p:cNvPicPr>
            <a:picLocks noChangeAspect="1"/>
          </p:cNvPicPr>
          <p:nvPr/>
        </p:nvPicPr>
        <p:blipFill>
          <a:blip r:embed="rId1"/>
          <a:stretch>
            <a:fillRect/>
          </a:stretch>
        </p:blipFill>
        <p:spPr>
          <a:xfrm>
            <a:off x="566928" y="146304"/>
            <a:ext cx="564135" cy="566928"/>
          </a:xfrm>
          <a:prstGeom prst="rect">
            <a:avLst/>
          </a:prstGeom>
        </p:spPr>
      </p:pic>
      <p:sp>
        <p:nvSpPr>
          <p:cNvPr id="3" name="Text 0"/>
          <p:cNvSpPr/>
          <p:nvPr/>
        </p:nvSpPr>
        <p:spPr>
          <a:xfrm>
            <a:off x="1332231" y="201168"/>
            <a:ext cx="5486400" cy="201168"/>
          </a:xfrm>
          <a:prstGeom prst="rect">
            <a:avLst/>
          </a:prstGeom>
          <a:noFill/>
          <a:ln/>
        </p:spPr>
        <p:txBody>
          <a:bodyPr wrap="square" lIns="0" tIns="0" rIns="0" bIns="0" rtlCol="0" anchor="b"/>
          <a:lstStyle/>
          <a:p>
            <a:pPr indent="0" marL="0">
              <a:buNone/>
            </a:pPr>
            <a:r>
              <a:rPr lang="en-US" sz="850" b="1" spc="220" kern="0" dirty="0">
                <a:solidFill>
                  <a:srgbClr val="0E63C4"/>
                </a:solidFill>
                <a:latin typeface="Calibri" pitchFamily="34" charset="0"/>
                <a:ea typeface="Calibri" pitchFamily="34" charset="-122"/>
                <a:cs typeface="Calibri" pitchFamily="34" charset="-120"/>
              </a:rPr>
              <a:t>ASME 2026 STUDENT HACKATHON  ·  NEURALCAD-EDIT</a:t>
            </a:r>
            <a:endParaRPr lang="en-US" sz="850" dirty="0"/>
          </a:p>
        </p:txBody>
      </p:sp>
      <p:sp>
        <p:nvSpPr>
          <p:cNvPr id="4" name="Text 1"/>
          <p:cNvSpPr/>
          <p:nvPr/>
        </p:nvSpPr>
        <p:spPr>
          <a:xfrm>
            <a:off x="1332231" y="411480"/>
            <a:ext cx="5486400" cy="274320"/>
          </a:xfrm>
          <a:prstGeom prst="rect">
            <a:avLst/>
          </a:prstGeom>
          <a:noFill/>
          <a:ln/>
        </p:spPr>
        <p:txBody>
          <a:bodyPr wrap="square" lIns="0" tIns="0" rIns="0" bIns="0" rtlCol="0" anchor="t"/>
          <a:lstStyle/>
          <a:p>
            <a:pPr indent="0" marL="0">
              <a:buNone/>
            </a:pPr>
            <a:r>
              <a:rPr lang="en-US" sz="1400" b="1" dirty="0">
                <a:solidFill>
                  <a:srgbClr val="101722"/>
                </a:solidFill>
                <a:latin typeface="Calibri" pitchFamily="34" charset="0"/>
                <a:ea typeface="Calibri" pitchFamily="34" charset="-122"/>
                <a:cs typeface="Calibri" pitchFamily="34" charset="-120"/>
              </a:rPr>
              <a:t>UCONN CAD PACK</a:t>
            </a:r>
            <a:endParaRPr lang="en-US" sz="1400" dirty="0"/>
          </a:p>
        </p:txBody>
      </p:sp>
      <p:pic>
        <p:nvPicPr>
          <p:cNvPr id="5" name="Image 1" descr="/home/claude/pitch/shots3/logo_uconn.png">    </p:cNvPr>
          <p:cNvPicPr>
            <a:picLocks noChangeAspect="1"/>
          </p:cNvPicPr>
          <p:nvPr/>
        </p:nvPicPr>
        <p:blipFill>
          <a:blip r:embed="rId2"/>
          <a:stretch>
            <a:fillRect/>
          </a:stretch>
        </p:blipFill>
        <p:spPr>
          <a:xfrm>
            <a:off x="9887407" y="237744"/>
            <a:ext cx="1737360" cy="367674"/>
          </a:xfrm>
          <a:prstGeom prst="rect">
            <a:avLst/>
          </a:prstGeom>
        </p:spPr>
      </p:pic>
      <p:sp>
        <p:nvSpPr>
          <p:cNvPr id="6" name="Text 2"/>
          <p:cNvSpPr/>
          <p:nvPr/>
        </p:nvSpPr>
        <p:spPr>
          <a:xfrm>
            <a:off x="566928" y="1097280"/>
            <a:ext cx="11057839" cy="237744"/>
          </a:xfrm>
          <a:prstGeom prst="rect">
            <a:avLst/>
          </a:prstGeom>
          <a:noFill/>
          <a:ln/>
        </p:spPr>
        <p:txBody>
          <a:bodyPr wrap="square" lIns="0" tIns="0" rIns="0" bIns="0" rtlCol="0" anchor="ctr"/>
          <a:lstStyle/>
          <a:p>
            <a:pPr indent="0" marL="0">
              <a:buNone/>
            </a:pPr>
            <a:r>
              <a:rPr lang="en-US" sz="950" b="1" spc="260" kern="0" dirty="0">
                <a:solidFill>
                  <a:srgbClr val="0E63C4"/>
                </a:solidFill>
                <a:latin typeface="Calibri" pitchFamily="34" charset="0"/>
                <a:ea typeface="Calibri" pitchFamily="34" charset="-122"/>
                <a:cs typeface="Calibri" pitchFamily="34" charset="-120"/>
              </a:rPr>
              <a:t>THE FRAMEWORK, END TO END</a:t>
            </a:r>
            <a:endParaRPr lang="en-US" sz="950" dirty="0"/>
          </a:p>
        </p:txBody>
      </p:sp>
      <p:sp>
        <p:nvSpPr>
          <p:cNvPr id="7" name="Text 3"/>
          <p:cNvSpPr/>
          <p:nvPr/>
        </p:nvSpPr>
        <p:spPr>
          <a:xfrm>
            <a:off x="566928" y="1371600"/>
            <a:ext cx="11057839" cy="502920"/>
          </a:xfrm>
          <a:prstGeom prst="rect">
            <a:avLst/>
          </a:prstGeom>
          <a:noFill/>
          <a:ln/>
        </p:spPr>
        <p:txBody>
          <a:bodyPr wrap="square" lIns="0" tIns="0" rIns="0" bIns="0" rtlCol="0" anchor="t"/>
          <a:lstStyle/>
          <a:p>
            <a:pPr indent="0" marL="0">
              <a:buNone/>
            </a:pPr>
            <a:r>
              <a:rPr lang="en-US" sz="2600" b="1" dirty="0">
                <a:solidFill>
                  <a:srgbClr val="101722"/>
                </a:solidFill>
                <a:latin typeface="Calibri" pitchFamily="34" charset="0"/>
                <a:ea typeface="Calibri" pitchFamily="34" charset="-122"/>
                <a:cs typeface="Calibri" pitchFamily="34" charset="-120"/>
              </a:rPr>
              <a:t>Sixteen blocks, every wire labelled, and what holds it together</a:t>
            </a:r>
            <a:endParaRPr lang="en-US" sz="2600" dirty="0"/>
          </a:p>
        </p:txBody>
      </p:sp>
      <p:sp>
        <p:nvSpPr>
          <p:cNvPr id="8" name="Shape 4"/>
          <p:cNvSpPr/>
          <p:nvPr/>
        </p:nvSpPr>
        <p:spPr>
          <a:xfrm>
            <a:off x="475488" y="1992926"/>
            <a:ext cx="7149319" cy="4079157"/>
          </a:xfrm>
          <a:prstGeom prst="roundRect">
            <a:avLst>
              <a:gd name="adj" fmla="val 1793"/>
            </a:avLst>
          </a:prstGeom>
          <a:solidFill>
            <a:srgbClr val="FFFFFF"/>
          </a:solidFill>
          <a:ln w="12700">
            <a:solidFill>
              <a:srgbClr val="E2E7F0"/>
            </a:solidFill>
            <a:prstDash val="solid"/>
          </a:ln>
        </p:spPr>
      </p:sp>
      <p:pic>
        <p:nvPicPr>
          <p:cNvPr id="9" name="Image 2" descr="/home/claude/pitch/figs/v4a_pipeline.png">    </p:cNvPr>
          <p:cNvPicPr>
            <a:picLocks noChangeAspect="1"/>
          </p:cNvPicPr>
          <p:nvPr/>
        </p:nvPicPr>
        <p:blipFill>
          <a:blip r:embed="rId3"/>
          <a:stretch>
            <a:fillRect/>
          </a:stretch>
        </p:blipFill>
        <p:spPr>
          <a:xfrm>
            <a:off x="566928" y="2084366"/>
            <a:ext cx="6966439" cy="3896277"/>
          </a:xfrm>
          <a:prstGeom prst="rect">
            <a:avLst/>
          </a:prstGeom>
        </p:spPr>
      </p:pic>
      <p:sp>
        <p:nvSpPr>
          <p:cNvPr id="10" name="Shape 5"/>
          <p:cNvSpPr/>
          <p:nvPr/>
        </p:nvSpPr>
        <p:spPr>
          <a:xfrm>
            <a:off x="7899127" y="1965960"/>
            <a:ext cx="3725641" cy="1242441"/>
          </a:xfrm>
          <a:prstGeom prst="roundRect">
            <a:avLst>
              <a:gd name="adj" fmla="val 5888"/>
            </a:avLst>
          </a:prstGeom>
          <a:solidFill>
            <a:srgbClr val="E8F1FD"/>
          </a:solidFill>
          <a:ln w="12700">
            <a:solidFill>
              <a:srgbClr val="CFE2FA"/>
            </a:solidFill>
            <a:prstDash val="solid"/>
          </a:ln>
        </p:spPr>
      </p:sp>
      <p:sp>
        <p:nvSpPr>
          <p:cNvPr id="11" name="Text 6"/>
          <p:cNvSpPr/>
          <p:nvPr/>
        </p:nvSpPr>
        <p:spPr>
          <a:xfrm>
            <a:off x="8045431" y="2075688"/>
            <a:ext cx="3433033" cy="256032"/>
          </a:xfrm>
          <a:prstGeom prst="rect">
            <a:avLst/>
          </a:prstGeom>
          <a:noFill/>
          <a:ln/>
        </p:spPr>
        <p:txBody>
          <a:bodyPr wrap="square" lIns="0" tIns="0" rIns="0" bIns="0" rtlCol="0" anchor="t"/>
          <a:lstStyle/>
          <a:p>
            <a:pPr indent="0" marL="0">
              <a:buNone/>
            </a:pPr>
            <a:r>
              <a:rPr lang="en-US" sz="1350" b="1" dirty="0">
                <a:solidFill>
                  <a:srgbClr val="101722"/>
                </a:solidFill>
                <a:latin typeface="Calibri" pitchFamily="34" charset="0"/>
                <a:ea typeface="Calibri" pitchFamily="34" charset="-122"/>
                <a:cs typeface="Calibri" pitchFamily="34" charset="-120"/>
              </a:rPr>
              <a:t>The models we run</a:t>
            </a:r>
            <a:endParaRPr lang="en-US" sz="1350" dirty="0"/>
          </a:p>
        </p:txBody>
      </p:sp>
      <p:sp>
        <p:nvSpPr>
          <p:cNvPr id="12" name="Text 7"/>
          <p:cNvSpPr/>
          <p:nvPr/>
        </p:nvSpPr>
        <p:spPr>
          <a:xfrm>
            <a:off x="8045431" y="2368296"/>
            <a:ext cx="3433033" cy="766953"/>
          </a:xfrm>
          <a:prstGeom prst="rect">
            <a:avLst/>
          </a:prstGeom>
          <a:noFill/>
          <a:ln/>
        </p:spPr>
        <p:txBody>
          <a:bodyPr wrap="square" lIns="0" tIns="0" rIns="0" bIns="0" rtlCol="0" anchor="t"/>
          <a:lstStyle/>
          <a:p>
            <a:pPr indent="0" marL="0">
              <a:lnSpc>
                <a:spcPts val="1700"/>
              </a:lnSpc>
              <a:buNone/>
            </a:pPr>
            <a:r>
              <a:rPr lang="en-US" sz="1250" b="1" dirty="0">
                <a:solidFill>
                  <a:srgbClr val="101722"/>
                </a:solidFill>
                <a:latin typeface="Calibri" pitchFamily="34" charset="0"/>
                <a:ea typeface="Calibri" pitchFamily="34" charset="-122"/>
                <a:cs typeface="Calibri" pitchFamily="34" charset="-120"/>
              </a:rPr>
              <a:t>Strategist</a:t>
            </a:r>
            <a:pPr indent="0" marL="0">
              <a:lnSpc>
                <a:spcPts val="1700"/>
              </a:lnSpc>
              <a:buNone/>
            </a:pPr>
            <a:r>
              <a:rPr lang="en-US" sz="1250" dirty="0">
                <a:solidFill>
                  <a:srgbClr val="4C5766"/>
                </a:solidFill>
                <a:latin typeface="Calibri" pitchFamily="34" charset="0"/>
                <a:ea typeface="Calibri" pitchFamily="34" charset="-122"/>
                <a:cs typeface="Calibri" pitchFamily="34" charset="-120"/>
              </a:rPr>
              <a:t> gpt-5.6-sol. </a:t>
            </a:r>
            <a:pPr indent="0" marL="0">
              <a:lnSpc>
                <a:spcPts val="1700"/>
              </a:lnSpc>
              <a:buNone/>
            </a:pPr>
            <a:r>
              <a:rPr lang="en-US" sz="1250" b="1" dirty="0">
                <a:solidFill>
                  <a:srgbClr val="101722"/>
                </a:solidFill>
                <a:latin typeface="Calibri" pitchFamily="34" charset="0"/>
                <a:ea typeface="Calibri" pitchFamily="34" charset="-122"/>
                <a:cs typeface="Calibri" pitchFamily="34" charset="-120"/>
              </a:rPr>
              <a:t>Executor</a:t>
            </a:r>
            <a:pPr indent="0" marL="0">
              <a:lnSpc>
                <a:spcPts val="1700"/>
              </a:lnSpc>
              <a:buNone/>
            </a:pPr>
            <a:r>
              <a:rPr lang="en-US" sz="1250" dirty="0">
                <a:solidFill>
                  <a:srgbClr val="4C5766"/>
                </a:solidFill>
                <a:latin typeface="Calibri" pitchFamily="34" charset="0"/>
                <a:ea typeface="Calibri" pitchFamily="34" charset="-122"/>
                <a:cs typeface="Calibri" pitchFamily="34" charset="-120"/>
              </a:rPr>
              <a:t> gpt-5.2. </a:t>
            </a:r>
            <a:pPr indent="0" marL="0">
              <a:lnSpc>
                <a:spcPts val="1700"/>
              </a:lnSpc>
              <a:buNone/>
            </a:pPr>
            <a:r>
              <a:rPr lang="en-US" sz="1250" b="1" dirty="0">
                <a:solidFill>
                  <a:srgbClr val="101722"/>
                </a:solidFill>
                <a:latin typeface="Calibri" pitchFamily="34" charset="0"/>
                <a:ea typeface="Calibri" pitchFamily="34" charset="-122"/>
                <a:cs typeface="Calibri" pitchFamily="34" charset="-120"/>
              </a:rPr>
              <a:t>QA</a:t>
            </a:r>
            <a:pPr indent="0" marL="0">
              <a:lnSpc>
                <a:spcPts val="1700"/>
              </a:lnSpc>
              <a:buNone/>
            </a:pPr>
            <a:r>
              <a:rPr lang="en-US" sz="1250" dirty="0">
                <a:solidFill>
                  <a:srgbClr val="4C5766"/>
                </a:solidFill>
                <a:latin typeface="Calibri" pitchFamily="34" charset="0"/>
                <a:ea typeface="Calibri" pitchFamily="34" charset="-122"/>
                <a:cs typeface="Calibri" pitchFamily="34" charset="-120"/>
              </a:rPr>
              <a:t> gpt-5.2. The published baseline runs that same gpt-5.2.</a:t>
            </a:r>
            <a:endParaRPr lang="en-US" sz="1250" dirty="0"/>
          </a:p>
        </p:txBody>
      </p:sp>
      <p:sp>
        <p:nvSpPr>
          <p:cNvPr id="13" name="Shape 8"/>
          <p:cNvSpPr/>
          <p:nvPr/>
        </p:nvSpPr>
        <p:spPr>
          <a:xfrm>
            <a:off x="7899127" y="3372993"/>
            <a:ext cx="3725641" cy="1023366"/>
          </a:xfrm>
          <a:prstGeom prst="roundRect">
            <a:avLst>
              <a:gd name="adj" fmla="val 7148"/>
            </a:avLst>
          </a:prstGeom>
          <a:solidFill>
            <a:srgbClr val="FFFFFF"/>
          </a:solidFill>
          <a:ln w="12700">
            <a:solidFill>
              <a:srgbClr val="E2E7F0"/>
            </a:solidFill>
            <a:prstDash val="solid"/>
          </a:ln>
        </p:spPr>
      </p:sp>
      <p:sp>
        <p:nvSpPr>
          <p:cNvPr id="14" name="Text 9"/>
          <p:cNvSpPr/>
          <p:nvPr/>
        </p:nvSpPr>
        <p:spPr>
          <a:xfrm>
            <a:off x="8045431" y="3482721"/>
            <a:ext cx="3433033" cy="256032"/>
          </a:xfrm>
          <a:prstGeom prst="rect">
            <a:avLst/>
          </a:prstGeom>
          <a:noFill/>
          <a:ln/>
        </p:spPr>
        <p:txBody>
          <a:bodyPr wrap="square" lIns="0" tIns="0" rIns="0" bIns="0" rtlCol="0" anchor="t"/>
          <a:lstStyle/>
          <a:p>
            <a:pPr indent="0" marL="0">
              <a:buNone/>
            </a:pPr>
            <a:r>
              <a:rPr lang="en-US" sz="1350" b="1" dirty="0">
                <a:solidFill>
                  <a:srgbClr val="101722"/>
                </a:solidFill>
                <a:latin typeface="Calibri" pitchFamily="34" charset="0"/>
                <a:ea typeface="Calibri" pitchFamily="34" charset="-122"/>
                <a:cs typeface="Calibri" pitchFamily="34" charset="-120"/>
              </a:rPr>
              <a:t>Underneath, costing nothing</a:t>
            </a:r>
            <a:endParaRPr lang="en-US" sz="1350" dirty="0"/>
          </a:p>
        </p:txBody>
      </p:sp>
      <p:sp>
        <p:nvSpPr>
          <p:cNvPr id="15" name="Text 10"/>
          <p:cNvSpPr/>
          <p:nvPr/>
        </p:nvSpPr>
        <p:spPr>
          <a:xfrm>
            <a:off x="8045431" y="3775329"/>
            <a:ext cx="3433033" cy="547878"/>
          </a:xfrm>
          <a:prstGeom prst="rect">
            <a:avLst/>
          </a:prstGeom>
          <a:noFill/>
          <a:ln/>
        </p:spPr>
        <p:txBody>
          <a:bodyPr wrap="square" lIns="0" tIns="0" rIns="0" bIns="0" rtlCol="0" anchor="t"/>
          <a:lstStyle/>
          <a:p>
            <a:pPr indent="0" marL="0">
              <a:lnSpc>
                <a:spcPts val="1700"/>
              </a:lnSpc>
              <a:buNone/>
            </a:pPr>
            <a:r>
              <a:rPr lang="en-US" sz="1250" dirty="0">
                <a:solidFill>
                  <a:srgbClr val="4C5766"/>
                </a:solidFill>
                <a:latin typeface="Calibri" pitchFamily="34" charset="0"/>
                <a:ea typeface="Calibri" pitchFamily="34" charset="-122"/>
                <a:cs typeface="Calibri" pitchFamily="34" charset="-120"/>
              </a:rPr>
              <a:t>Six deterministic tools and six gates. A gate rejects an attempt </a:t>
            </a:r>
            <a:pPr indent="0" marL="0">
              <a:lnSpc>
                <a:spcPts val="1700"/>
              </a:lnSpc>
              <a:buNone/>
            </a:pPr>
            <a:r>
              <a:rPr lang="en-US" sz="1250" b="1" dirty="0">
                <a:solidFill>
                  <a:srgbClr val="101722"/>
                </a:solidFill>
                <a:latin typeface="Calibri" pitchFamily="34" charset="0"/>
                <a:ea typeface="Calibri" pitchFamily="34" charset="-122"/>
                <a:cs typeface="Calibri" pitchFamily="34" charset="-120"/>
              </a:rPr>
              <a:t>without a model call</a:t>
            </a:r>
            <a:pPr indent="0" marL="0">
              <a:lnSpc>
                <a:spcPts val="1700"/>
              </a:lnSpc>
              <a:buNone/>
            </a:pPr>
            <a:r>
              <a:rPr lang="en-US" sz="1250" dirty="0">
                <a:solidFill>
                  <a:srgbClr val="4C5766"/>
                </a:solidFill>
                <a:latin typeface="Calibri" pitchFamily="34" charset="0"/>
                <a:ea typeface="Calibri" pitchFamily="34" charset="-122"/>
                <a:cs typeface="Calibri" pitchFamily="34" charset="-120"/>
              </a:rPr>
              <a:t>.</a:t>
            </a:r>
            <a:endParaRPr lang="en-US" sz="1250" dirty="0"/>
          </a:p>
        </p:txBody>
      </p:sp>
      <p:sp>
        <p:nvSpPr>
          <p:cNvPr id="16" name="Shape 11"/>
          <p:cNvSpPr/>
          <p:nvPr/>
        </p:nvSpPr>
        <p:spPr>
          <a:xfrm>
            <a:off x="7899127" y="4560951"/>
            <a:ext cx="3725641" cy="1023366"/>
          </a:xfrm>
          <a:prstGeom prst="roundRect">
            <a:avLst>
              <a:gd name="adj" fmla="val 7148"/>
            </a:avLst>
          </a:prstGeom>
          <a:solidFill>
            <a:srgbClr val="FFFFFF"/>
          </a:solidFill>
          <a:ln w="12700">
            <a:solidFill>
              <a:srgbClr val="E2E7F0"/>
            </a:solidFill>
            <a:prstDash val="solid"/>
          </a:ln>
        </p:spPr>
      </p:sp>
      <p:sp>
        <p:nvSpPr>
          <p:cNvPr id="17" name="Text 12"/>
          <p:cNvSpPr/>
          <p:nvPr/>
        </p:nvSpPr>
        <p:spPr>
          <a:xfrm>
            <a:off x="8045431" y="4670679"/>
            <a:ext cx="3433033" cy="256032"/>
          </a:xfrm>
          <a:prstGeom prst="rect">
            <a:avLst/>
          </a:prstGeom>
          <a:noFill/>
          <a:ln/>
        </p:spPr>
        <p:txBody>
          <a:bodyPr wrap="square" lIns="0" tIns="0" rIns="0" bIns="0" rtlCol="0" anchor="t"/>
          <a:lstStyle/>
          <a:p>
            <a:pPr indent="0" marL="0">
              <a:buNone/>
            </a:pPr>
            <a:r>
              <a:rPr lang="en-US" sz="1350" b="1" dirty="0">
                <a:solidFill>
                  <a:srgbClr val="101722"/>
                </a:solidFill>
                <a:latin typeface="Calibri" pitchFamily="34" charset="0"/>
                <a:ea typeface="Calibri" pitchFamily="34" charset="-122"/>
                <a:cs typeface="Calibri" pitchFamily="34" charset="-120"/>
              </a:rPr>
              <a:t>What bounds the spend</a:t>
            </a:r>
            <a:endParaRPr lang="en-US" sz="1350" dirty="0"/>
          </a:p>
        </p:txBody>
      </p:sp>
      <p:sp>
        <p:nvSpPr>
          <p:cNvPr id="18" name="Text 13"/>
          <p:cNvSpPr/>
          <p:nvPr/>
        </p:nvSpPr>
        <p:spPr>
          <a:xfrm>
            <a:off x="8045431" y="4963287"/>
            <a:ext cx="3433033" cy="547878"/>
          </a:xfrm>
          <a:prstGeom prst="rect">
            <a:avLst/>
          </a:prstGeom>
          <a:noFill/>
          <a:ln/>
        </p:spPr>
        <p:txBody>
          <a:bodyPr wrap="square" lIns="0" tIns="0" rIns="0" bIns="0" rtlCol="0" anchor="t"/>
          <a:lstStyle/>
          <a:p>
            <a:pPr indent="0" marL="0">
              <a:lnSpc>
                <a:spcPts val="1700"/>
              </a:lnSpc>
              <a:buNone/>
            </a:pPr>
            <a:r>
              <a:rPr lang="en-US" sz="1250" dirty="0">
                <a:solidFill>
                  <a:srgbClr val="4C5766"/>
                </a:solidFill>
                <a:latin typeface="Calibri" pitchFamily="34" charset="0"/>
                <a:ea typeface="Calibri" pitchFamily="34" charset="-122"/>
                <a:cs typeface="Calibri" pitchFamily="34" charset="-120"/>
              </a:rPr>
              <a:t>5 sub-goals · 3 attempts each · 2 replans · 4,100 token recipe budget.</a:t>
            </a:r>
            <a:endParaRPr lang="en-US" sz="1250" dirty="0"/>
          </a:p>
        </p:txBody>
      </p:sp>
      <p:sp>
        <p:nvSpPr>
          <p:cNvPr id="19" name="Text 14"/>
          <p:cNvSpPr/>
          <p:nvPr/>
        </p:nvSpPr>
        <p:spPr>
          <a:xfrm>
            <a:off x="566928" y="6272784"/>
            <a:ext cx="7315200" cy="274320"/>
          </a:xfrm>
          <a:prstGeom prst="rect">
            <a:avLst/>
          </a:prstGeom>
          <a:noFill/>
          <a:ln/>
        </p:spPr>
        <p:txBody>
          <a:bodyPr wrap="square" lIns="0" tIns="0" rIns="0" bIns="0" rtlCol="0" anchor="ctr"/>
          <a:lstStyle/>
          <a:p>
            <a:pPr indent="0" marL="0">
              <a:buNone/>
            </a:pPr>
            <a:r>
              <a:rPr lang="en-US" sz="900" dirty="0">
                <a:solidFill>
                  <a:srgbClr val="7D8899"/>
                </a:solidFill>
                <a:latin typeface="Calibri" pitchFamily="34" charset="0"/>
                <a:ea typeface="Calibri" pitchFamily="34" charset="-122"/>
                <a:cs typeface="Calibri" pitchFamily="34" charset="-120"/>
              </a:rPr>
              <a:t>UCONN CAD PACK · ASME 2026 Student Hackathon</a:t>
            </a:r>
            <a:endParaRPr lang="en-US" sz="900" dirty="0"/>
          </a:p>
        </p:txBody>
      </p:sp>
      <p:sp>
        <p:nvSpPr>
          <p:cNvPr id="20" name="Text 15"/>
          <p:cNvSpPr/>
          <p:nvPr/>
        </p:nvSpPr>
        <p:spPr>
          <a:xfrm>
            <a:off x="9795967" y="6272784"/>
            <a:ext cx="1828800" cy="274320"/>
          </a:xfrm>
          <a:prstGeom prst="rect">
            <a:avLst/>
          </a:prstGeom>
          <a:noFill/>
          <a:ln/>
        </p:spPr>
        <p:txBody>
          <a:bodyPr wrap="square" lIns="0" tIns="0" rIns="0" bIns="0" rtlCol="0" anchor="ctr"/>
          <a:lstStyle/>
          <a:p>
            <a:pPr algn="r" indent="0" marL="0">
              <a:buNone/>
            </a:pPr>
            <a:r>
              <a:rPr lang="en-US" sz="900" dirty="0">
                <a:solidFill>
                  <a:srgbClr val="7D8899"/>
                </a:solidFill>
                <a:latin typeface="Calibri" pitchFamily="34" charset="0"/>
                <a:ea typeface="Calibri" pitchFamily="34" charset="-122"/>
                <a:cs typeface="Calibri" pitchFamily="34" charset="-120"/>
              </a:rPr>
              <a:t>5 /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home/claude/pitch/shots3/logo_hack.png">    </p:cNvPr>
          <p:cNvPicPr>
            <a:picLocks noChangeAspect="1"/>
          </p:cNvPicPr>
          <p:nvPr/>
        </p:nvPicPr>
        <p:blipFill>
          <a:blip r:embed="rId1"/>
          <a:stretch>
            <a:fillRect/>
          </a:stretch>
        </p:blipFill>
        <p:spPr>
          <a:xfrm>
            <a:off x="566928" y="146304"/>
            <a:ext cx="564135" cy="566928"/>
          </a:xfrm>
          <a:prstGeom prst="rect">
            <a:avLst/>
          </a:prstGeom>
        </p:spPr>
      </p:pic>
      <p:sp>
        <p:nvSpPr>
          <p:cNvPr id="3" name="Text 0"/>
          <p:cNvSpPr/>
          <p:nvPr/>
        </p:nvSpPr>
        <p:spPr>
          <a:xfrm>
            <a:off x="1332231" y="201168"/>
            <a:ext cx="5486400" cy="201168"/>
          </a:xfrm>
          <a:prstGeom prst="rect">
            <a:avLst/>
          </a:prstGeom>
          <a:noFill/>
          <a:ln/>
        </p:spPr>
        <p:txBody>
          <a:bodyPr wrap="square" lIns="0" tIns="0" rIns="0" bIns="0" rtlCol="0" anchor="b"/>
          <a:lstStyle/>
          <a:p>
            <a:pPr indent="0" marL="0">
              <a:buNone/>
            </a:pPr>
            <a:r>
              <a:rPr lang="en-US" sz="850" b="1" spc="220" kern="0" dirty="0">
                <a:solidFill>
                  <a:srgbClr val="0E63C4"/>
                </a:solidFill>
                <a:latin typeface="Calibri" pitchFamily="34" charset="0"/>
                <a:ea typeface="Calibri" pitchFamily="34" charset="-122"/>
                <a:cs typeface="Calibri" pitchFamily="34" charset="-120"/>
              </a:rPr>
              <a:t>ASME 2026 STUDENT HACKATHON  ·  NEURALCAD-EDIT</a:t>
            </a:r>
            <a:endParaRPr lang="en-US" sz="850" dirty="0"/>
          </a:p>
        </p:txBody>
      </p:sp>
      <p:sp>
        <p:nvSpPr>
          <p:cNvPr id="4" name="Text 1"/>
          <p:cNvSpPr/>
          <p:nvPr/>
        </p:nvSpPr>
        <p:spPr>
          <a:xfrm>
            <a:off x="1332231" y="411480"/>
            <a:ext cx="5486400" cy="274320"/>
          </a:xfrm>
          <a:prstGeom prst="rect">
            <a:avLst/>
          </a:prstGeom>
          <a:noFill/>
          <a:ln/>
        </p:spPr>
        <p:txBody>
          <a:bodyPr wrap="square" lIns="0" tIns="0" rIns="0" bIns="0" rtlCol="0" anchor="t"/>
          <a:lstStyle/>
          <a:p>
            <a:pPr indent="0" marL="0">
              <a:buNone/>
            </a:pPr>
            <a:r>
              <a:rPr lang="en-US" sz="1400" b="1" dirty="0">
                <a:solidFill>
                  <a:srgbClr val="101722"/>
                </a:solidFill>
                <a:latin typeface="Calibri" pitchFamily="34" charset="0"/>
                <a:ea typeface="Calibri" pitchFamily="34" charset="-122"/>
                <a:cs typeface="Calibri" pitchFamily="34" charset="-120"/>
              </a:rPr>
              <a:t>UCONN CAD PACK</a:t>
            </a:r>
            <a:endParaRPr lang="en-US" sz="1400" dirty="0"/>
          </a:p>
        </p:txBody>
      </p:sp>
      <p:pic>
        <p:nvPicPr>
          <p:cNvPr id="5" name="Image 1" descr="/home/claude/pitch/shots3/logo_uconn.png">    </p:cNvPr>
          <p:cNvPicPr>
            <a:picLocks noChangeAspect="1"/>
          </p:cNvPicPr>
          <p:nvPr/>
        </p:nvPicPr>
        <p:blipFill>
          <a:blip r:embed="rId2"/>
          <a:stretch>
            <a:fillRect/>
          </a:stretch>
        </p:blipFill>
        <p:spPr>
          <a:xfrm>
            <a:off x="9887407" y="237744"/>
            <a:ext cx="1737360" cy="367674"/>
          </a:xfrm>
          <a:prstGeom prst="rect">
            <a:avLst/>
          </a:prstGeom>
        </p:spPr>
      </p:pic>
      <p:sp>
        <p:nvSpPr>
          <p:cNvPr id="6" name="Text 2"/>
          <p:cNvSpPr/>
          <p:nvPr/>
        </p:nvSpPr>
        <p:spPr>
          <a:xfrm>
            <a:off x="566928" y="1097280"/>
            <a:ext cx="11057839" cy="237744"/>
          </a:xfrm>
          <a:prstGeom prst="rect">
            <a:avLst/>
          </a:prstGeom>
          <a:noFill/>
          <a:ln/>
        </p:spPr>
        <p:txBody>
          <a:bodyPr wrap="square" lIns="0" tIns="0" rIns="0" bIns="0" rtlCol="0" anchor="ctr"/>
          <a:lstStyle/>
          <a:p>
            <a:pPr indent="0" marL="0">
              <a:buNone/>
            </a:pPr>
            <a:r>
              <a:rPr lang="en-US" sz="950" b="1" spc="260" kern="0" dirty="0">
                <a:solidFill>
                  <a:srgbClr val="0E63C4"/>
                </a:solidFill>
                <a:latin typeface="Calibri" pitchFamily="34" charset="0"/>
                <a:ea typeface="Calibri" pitchFamily="34" charset="-122"/>
                <a:cs typeface="Calibri" pitchFamily="34" charset="-120"/>
              </a:rPr>
              <a:t>WHAT IT COSTS, AND WHAT HOLDS IT THERE</a:t>
            </a:r>
            <a:endParaRPr lang="en-US" sz="950" dirty="0"/>
          </a:p>
        </p:txBody>
      </p:sp>
      <p:sp>
        <p:nvSpPr>
          <p:cNvPr id="7" name="Text 3"/>
          <p:cNvSpPr/>
          <p:nvPr/>
        </p:nvSpPr>
        <p:spPr>
          <a:xfrm>
            <a:off x="566928" y="1371600"/>
            <a:ext cx="11057839" cy="502920"/>
          </a:xfrm>
          <a:prstGeom prst="rect">
            <a:avLst/>
          </a:prstGeom>
          <a:noFill/>
          <a:ln/>
        </p:spPr>
        <p:txBody>
          <a:bodyPr wrap="square" lIns="0" tIns="0" rIns="0" bIns="0" rtlCol="0" anchor="t"/>
          <a:lstStyle/>
          <a:p>
            <a:pPr indent="0" marL="0">
              <a:buNone/>
            </a:pPr>
            <a:r>
              <a:rPr lang="en-US" sz="2600" b="1" dirty="0">
                <a:solidFill>
                  <a:srgbClr val="101722"/>
                </a:solidFill>
                <a:latin typeface="Calibri" pitchFamily="34" charset="0"/>
                <a:ea typeface="Calibri" pitchFamily="34" charset="-122"/>
                <a:cs typeface="Calibri" pitchFamily="34" charset="-120"/>
              </a:rPr>
              <a:t>Cost efficiency is a design constraint, not an outcome</a:t>
            </a:r>
            <a:endParaRPr lang="en-US" sz="2600" dirty="0"/>
          </a:p>
        </p:txBody>
      </p:sp>
      <p:pic>
        <p:nvPicPr>
          <p:cNvPr id="8" name="Image 2" descr="/home/claude/pitch/figs/v4a_cost.png">    </p:cNvPr>
          <p:cNvPicPr>
            <a:picLocks noChangeAspect="1"/>
          </p:cNvPicPr>
          <p:nvPr/>
        </p:nvPicPr>
        <p:blipFill>
          <a:blip r:embed="rId3"/>
          <a:stretch>
            <a:fillRect/>
          </a:stretch>
        </p:blipFill>
        <p:spPr>
          <a:xfrm>
            <a:off x="1896820" y="1965960"/>
            <a:ext cx="8398056" cy="2258568"/>
          </a:xfrm>
          <a:prstGeom prst="rect">
            <a:avLst/>
          </a:prstGeom>
        </p:spPr>
      </p:pic>
      <p:sp>
        <p:nvSpPr>
          <p:cNvPr id="9" name="Shape 4"/>
          <p:cNvSpPr/>
          <p:nvPr/>
        </p:nvSpPr>
        <p:spPr>
          <a:xfrm>
            <a:off x="566928" y="4361688"/>
            <a:ext cx="2599868" cy="1783080"/>
          </a:xfrm>
          <a:prstGeom prst="roundRect">
            <a:avLst>
              <a:gd name="adj" fmla="val 4615"/>
            </a:avLst>
          </a:prstGeom>
          <a:solidFill>
            <a:srgbClr val="FFFFFF"/>
          </a:solidFill>
          <a:ln w="12700">
            <a:solidFill>
              <a:srgbClr val="E2E7F0"/>
            </a:solidFill>
            <a:prstDash val="solid"/>
          </a:ln>
        </p:spPr>
      </p:sp>
      <p:sp>
        <p:nvSpPr>
          <p:cNvPr id="10" name="Text 5"/>
          <p:cNvSpPr/>
          <p:nvPr/>
        </p:nvSpPr>
        <p:spPr>
          <a:xfrm>
            <a:off x="768096" y="4562856"/>
            <a:ext cx="2197532" cy="731520"/>
          </a:xfrm>
          <a:prstGeom prst="rect">
            <a:avLst/>
          </a:prstGeom>
          <a:noFill/>
          <a:ln/>
        </p:spPr>
        <p:txBody>
          <a:bodyPr wrap="square" lIns="0" tIns="0" rIns="0" bIns="0" rtlCol="0" anchor="ctr"/>
          <a:lstStyle/>
          <a:p>
            <a:pPr indent="0" marL="0">
              <a:buNone/>
            </a:pPr>
            <a:r>
              <a:rPr lang="en-US" sz="3800" b="1" dirty="0">
                <a:solidFill>
                  <a:srgbClr val="0E63C4"/>
                </a:solidFill>
                <a:latin typeface="Calibri" pitchFamily="34" charset="0"/>
                <a:ea typeface="Calibri" pitchFamily="34" charset="-122"/>
                <a:cs typeface="Calibri" pitchFamily="34" charset="-120"/>
              </a:rPr>
              <a:t>$0.83</a:t>
            </a:r>
            <a:endParaRPr lang="en-US" sz="3800" dirty="0"/>
          </a:p>
        </p:txBody>
      </p:sp>
      <p:sp>
        <p:nvSpPr>
          <p:cNvPr id="11" name="Text 6"/>
          <p:cNvSpPr/>
          <p:nvPr/>
        </p:nvSpPr>
        <p:spPr>
          <a:xfrm>
            <a:off x="768096" y="5349240"/>
            <a:ext cx="2197532" cy="292608"/>
          </a:xfrm>
          <a:prstGeom prst="rect">
            <a:avLst/>
          </a:prstGeom>
          <a:noFill/>
          <a:ln/>
        </p:spPr>
        <p:txBody>
          <a:bodyPr wrap="square" lIns="0" tIns="0" rIns="0" bIns="0" rtlCol="0" anchor="t"/>
          <a:lstStyle/>
          <a:p>
            <a:pPr indent="0" marL="0">
              <a:buNone/>
            </a:pPr>
            <a:r>
              <a:rPr lang="en-US" sz="1300" b="1" dirty="0">
                <a:solidFill>
                  <a:srgbClr val="101722"/>
                </a:solidFill>
                <a:latin typeface="Calibri" pitchFamily="34" charset="0"/>
                <a:ea typeface="Calibri" pitchFamily="34" charset="-122"/>
                <a:cs typeface="Calibri" pitchFamily="34" charset="-120"/>
              </a:rPr>
              <a:t>per task</a:t>
            </a:r>
            <a:endParaRPr lang="en-US" sz="1300" dirty="0"/>
          </a:p>
        </p:txBody>
      </p:sp>
      <p:sp>
        <p:nvSpPr>
          <p:cNvPr id="12" name="Text 7"/>
          <p:cNvSpPr/>
          <p:nvPr/>
        </p:nvSpPr>
        <p:spPr>
          <a:xfrm>
            <a:off x="768096" y="5660136"/>
            <a:ext cx="2197532" cy="384048"/>
          </a:xfrm>
          <a:prstGeom prst="rect">
            <a:avLst/>
          </a:prstGeom>
          <a:noFill/>
          <a:ln/>
        </p:spPr>
        <p:txBody>
          <a:bodyPr wrap="square" lIns="0" tIns="0" rIns="0" bIns="0" rtlCol="0" anchor="t"/>
          <a:lstStyle/>
          <a:p>
            <a:pPr indent="0" marL="0">
              <a:buNone/>
            </a:pPr>
            <a:r>
              <a:rPr lang="en-US" sz="1050" dirty="0">
                <a:solidFill>
                  <a:srgbClr val="7D8899"/>
                </a:solidFill>
                <a:latin typeface="Calibri" pitchFamily="34" charset="0"/>
                <a:ea typeface="Calibri" pitchFamily="34" charset="-122"/>
                <a:cs typeface="Calibri" pitchFamily="34" charset="-120"/>
              </a:rPr>
              <a:t>$39.98 for the whole benchmark</a:t>
            </a:r>
            <a:endParaRPr lang="en-US" sz="1050" dirty="0"/>
          </a:p>
        </p:txBody>
      </p:sp>
      <p:sp>
        <p:nvSpPr>
          <p:cNvPr id="13" name="Shape 8"/>
          <p:cNvSpPr/>
          <p:nvPr/>
        </p:nvSpPr>
        <p:spPr>
          <a:xfrm>
            <a:off x="3386252" y="4361688"/>
            <a:ext cx="2599868" cy="1783080"/>
          </a:xfrm>
          <a:prstGeom prst="roundRect">
            <a:avLst>
              <a:gd name="adj" fmla="val 4615"/>
            </a:avLst>
          </a:prstGeom>
          <a:solidFill>
            <a:srgbClr val="FFFFFF"/>
          </a:solidFill>
          <a:ln w="12700">
            <a:solidFill>
              <a:srgbClr val="E2E7F0"/>
            </a:solidFill>
            <a:prstDash val="solid"/>
          </a:ln>
        </p:spPr>
      </p:sp>
      <p:sp>
        <p:nvSpPr>
          <p:cNvPr id="14" name="Text 9"/>
          <p:cNvSpPr/>
          <p:nvPr/>
        </p:nvSpPr>
        <p:spPr>
          <a:xfrm>
            <a:off x="3587420" y="4562856"/>
            <a:ext cx="2197532" cy="731520"/>
          </a:xfrm>
          <a:prstGeom prst="rect">
            <a:avLst/>
          </a:prstGeom>
          <a:noFill/>
          <a:ln/>
        </p:spPr>
        <p:txBody>
          <a:bodyPr wrap="square" lIns="0" tIns="0" rIns="0" bIns="0" rtlCol="0" anchor="ctr"/>
          <a:lstStyle/>
          <a:p>
            <a:pPr indent="0" marL="0">
              <a:buNone/>
            </a:pPr>
            <a:r>
              <a:rPr lang="en-US" sz="3800" b="1" dirty="0">
                <a:solidFill>
                  <a:srgbClr val="101722"/>
                </a:solidFill>
                <a:latin typeface="Calibri" pitchFamily="34" charset="0"/>
                <a:ea typeface="Calibri" pitchFamily="34" charset="-122"/>
                <a:cs typeface="Calibri" pitchFamily="34" charset="-120"/>
              </a:rPr>
              <a:t>6</a:t>
            </a:r>
            <a:endParaRPr lang="en-US" sz="3800" dirty="0"/>
          </a:p>
        </p:txBody>
      </p:sp>
      <p:sp>
        <p:nvSpPr>
          <p:cNvPr id="15" name="Text 10"/>
          <p:cNvSpPr/>
          <p:nvPr/>
        </p:nvSpPr>
        <p:spPr>
          <a:xfrm>
            <a:off x="3587420" y="5349240"/>
            <a:ext cx="2197532" cy="292608"/>
          </a:xfrm>
          <a:prstGeom prst="rect">
            <a:avLst/>
          </a:prstGeom>
          <a:noFill/>
          <a:ln/>
        </p:spPr>
        <p:txBody>
          <a:bodyPr wrap="square" lIns="0" tIns="0" rIns="0" bIns="0" rtlCol="0" anchor="t"/>
          <a:lstStyle/>
          <a:p>
            <a:pPr indent="0" marL="0">
              <a:buNone/>
            </a:pPr>
            <a:r>
              <a:rPr lang="en-US" sz="1300" b="1" dirty="0">
                <a:solidFill>
                  <a:srgbClr val="101722"/>
                </a:solidFill>
                <a:latin typeface="Calibri" pitchFamily="34" charset="0"/>
                <a:ea typeface="Calibri" pitchFamily="34" charset="-122"/>
                <a:cs typeface="Calibri" pitchFamily="34" charset="-120"/>
              </a:rPr>
              <a:t>gates that cost nothing</a:t>
            </a:r>
            <a:endParaRPr lang="en-US" sz="1300" dirty="0"/>
          </a:p>
        </p:txBody>
      </p:sp>
      <p:sp>
        <p:nvSpPr>
          <p:cNvPr id="16" name="Text 11"/>
          <p:cNvSpPr/>
          <p:nvPr/>
        </p:nvSpPr>
        <p:spPr>
          <a:xfrm>
            <a:off x="3587420" y="5660136"/>
            <a:ext cx="2197532" cy="384048"/>
          </a:xfrm>
          <a:prstGeom prst="rect">
            <a:avLst/>
          </a:prstGeom>
          <a:noFill/>
          <a:ln/>
        </p:spPr>
        <p:txBody>
          <a:bodyPr wrap="square" lIns="0" tIns="0" rIns="0" bIns="0" rtlCol="0" anchor="t"/>
          <a:lstStyle/>
          <a:p>
            <a:pPr indent="0" marL="0">
              <a:buNone/>
            </a:pPr>
            <a:r>
              <a:rPr lang="en-US" sz="1050" dirty="0">
                <a:solidFill>
                  <a:srgbClr val="7D8899"/>
                </a:solidFill>
                <a:latin typeface="Calibri" pitchFamily="34" charset="0"/>
                <a:ea typeface="Calibri" pitchFamily="34" charset="-122"/>
                <a:cs typeface="Calibri" pitchFamily="34" charset="-120"/>
              </a:rPr>
              <a:t>a bad attempt is rejected without a model call</a:t>
            </a:r>
            <a:endParaRPr lang="en-US" sz="1050" dirty="0"/>
          </a:p>
        </p:txBody>
      </p:sp>
      <p:sp>
        <p:nvSpPr>
          <p:cNvPr id="17" name="Shape 12"/>
          <p:cNvSpPr/>
          <p:nvPr/>
        </p:nvSpPr>
        <p:spPr>
          <a:xfrm>
            <a:off x="6205576" y="4361688"/>
            <a:ext cx="2599868" cy="1783080"/>
          </a:xfrm>
          <a:prstGeom prst="roundRect">
            <a:avLst>
              <a:gd name="adj" fmla="val 4615"/>
            </a:avLst>
          </a:prstGeom>
          <a:solidFill>
            <a:srgbClr val="FFFFFF"/>
          </a:solidFill>
          <a:ln w="12700">
            <a:solidFill>
              <a:srgbClr val="E2E7F0"/>
            </a:solidFill>
            <a:prstDash val="solid"/>
          </a:ln>
        </p:spPr>
      </p:sp>
      <p:sp>
        <p:nvSpPr>
          <p:cNvPr id="18" name="Text 13"/>
          <p:cNvSpPr/>
          <p:nvPr/>
        </p:nvSpPr>
        <p:spPr>
          <a:xfrm>
            <a:off x="6406744" y="4562856"/>
            <a:ext cx="2197532" cy="731520"/>
          </a:xfrm>
          <a:prstGeom prst="rect">
            <a:avLst/>
          </a:prstGeom>
          <a:noFill/>
          <a:ln/>
        </p:spPr>
        <p:txBody>
          <a:bodyPr wrap="square" lIns="0" tIns="0" rIns="0" bIns="0" rtlCol="0" anchor="ctr"/>
          <a:lstStyle/>
          <a:p>
            <a:pPr indent="0" marL="0">
              <a:buNone/>
            </a:pPr>
            <a:r>
              <a:rPr lang="en-US" sz="3800" b="1" dirty="0">
                <a:solidFill>
                  <a:srgbClr val="101722"/>
                </a:solidFill>
                <a:latin typeface="Calibri" pitchFamily="34" charset="0"/>
                <a:ea typeface="Calibri" pitchFamily="34" charset="-122"/>
                <a:cs typeface="Calibri" pitchFamily="34" charset="-120"/>
              </a:rPr>
              <a:t>3</a:t>
            </a:r>
            <a:endParaRPr lang="en-US" sz="3800" dirty="0"/>
          </a:p>
        </p:txBody>
      </p:sp>
      <p:sp>
        <p:nvSpPr>
          <p:cNvPr id="19" name="Text 14"/>
          <p:cNvSpPr/>
          <p:nvPr/>
        </p:nvSpPr>
        <p:spPr>
          <a:xfrm>
            <a:off x="6406744" y="5349240"/>
            <a:ext cx="2197532" cy="292608"/>
          </a:xfrm>
          <a:prstGeom prst="rect">
            <a:avLst/>
          </a:prstGeom>
          <a:noFill/>
          <a:ln/>
        </p:spPr>
        <p:txBody>
          <a:bodyPr wrap="square" lIns="0" tIns="0" rIns="0" bIns="0" rtlCol="0" anchor="t"/>
          <a:lstStyle/>
          <a:p>
            <a:pPr indent="0" marL="0">
              <a:buNone/>
            </a:pPr>
            <a:r>
              <a:rPr lang="en-US" sz="1300" b="1" dirty="0">
                <a:solidFill>
                  <a:srgbClr val="101722"/>
                </a:solidFill>
                <a:latin typeface="Calibri" pitchFamily="34" charset="0"/>
                <a:ea typeface="Calibri" pitchFamily="34" charset="-122"/>
                <a:cs typeface="Calibri" pitchFamily="34" charset="-120"/>
              </a:rPr>
              <a:t>attempts per sub-goal</a:t>
            </a:r>
            <a:endParaRPr lang="en-US" sz="1300" dirty="0"/>
          </a:p>
        </p:txBody>
      </p:sp>
      <p:sp>
        <p:nvSpPr>
          <p:cNvPr id="20" name="Text 15"/>
          <p:cNvSpPr/>
          <p:nvPr/>
        </p:nvSpPr>
        <p:spPr>
          <a:xfrm>
            <a:off x="6406744" y="5660136"/>
            <a:ext cx="2197532" cy="384048"/>
          </a:xfrm>
          <a:prstGeom prst="rect">
            <a:avLst/>
          </a:prstGeom>
          <a:noFill/>
          <a:ln/>
        </p:spPr>
        <p:txBody>
          <a:bodyPr wrap="square" lIns="0" tIns="0" rIns="0" bIns="0" rtlCol="0" anchor="t"/>
          <a:lstStyle/>
          <a:p>
            <a:pPr indent="0" marL="0">
              <a:buNone/>
            </a:pPr>
            <a:r>
              <a:rPr lang="en-US" sz="1050" dirty="0">
                <a:solidFill>
                  <a:srgbClr val="7D8899"/>
                </a:solidFill>
                <a:latin typeface="Calibri" pitchFamily="34" charset="0"/>
                <a:ea typeface="Calibri" pitchFamily="34" charset="-122"/>
                <a:cs typeface="Calibri" pitchFamily="34" charset="-120"/>
              </a:rPr>
              <a:t>then the router rolls back to the best one</a:t>
            </a:r>
            <a:endParaRPr lang="en-US" sz="1050" dirty="0"/>
          </a:p>
        </p:txBody>
      </p:sp>
      <p:sp>
        <p:nvSpPr>
          <p:cNvPr id="21" name="Shape 16"/>
          <p:cNvSpPr/>
          <p:nvPr/>
        </p:nvSpPr>
        <p:spPr>
          <a:xfrm>
            <a:off x="9024899" y="4361688"/>
            <a:ext cx="2599868" cy="1783080"/>
          </a:xfrm>
          <a:prstGeom prst="roundRect">
            <a:avLst>
              <a:gd name="adj" fmla="val 4615"/>
            </a:avLst>
          </a:prstGeom>
          <a:solidFill>
            <a:srgbClr val="FFFFFF"/>
          </a:solidFill>
          <a:ln w="12700">
            <a:solidFill>
              <a:srgbClr val="E2E7F0"/>
            </a:solidFill>
            <a:prstDash val="solid"/>
          </a:ln>
        </p:spPr>
      </p:sp>
      <p:sp>
        <p:nvSpPr>
          <p:cNvPr id="22" name="Text 17"/>
          <p:cNvSpPr/>
          <p:nvPr/>
        </p:nvSpPr>
        <p:spPr>
          <a:xfrm>
            <a:off x="9226067" y="4562856"/>
            <a:ext cx="2197532" cy="731520"/>
          </a:xfrm>
          <a:prstGeom prst="rect">
            <a:avLst/>
          </a:prstGeom>
          <a:noFill/>
          <a:ln/>
        </p:spPr>
        <p:txBody>
          <a:bodyPr wrap="square" lIns="0" tIns="0" rIns="0" bIns="0" rtlCol="0" anchor="ctr"/>
          <a:lstStyle/>
          <a:p>
            <a:pPr indent="0" marL="0">
              <a:buNone/>
            </a:pPr>
            <a:r>
              <a:rPr lang="en-US" sz="3800" b="1" dirty="0">
                <a:solidFill>
                  <a:srgbClr val="101722"/>
                </a:solidFill>
                <a:latin typeface="Calibri" pitchFamily="34" charset="0"/>
                <a:ea typeface="Calibri" pitchFamily="34" charset="-122"/>
                <a:cs typeface="Calibri" pitchFamily="34" charset="-120"/>
              </a:rPr>
              <a:t>4,100</a:t>
            </a:r>
            <a:endParaRPr lang="en-US" sz="3800" dirty="0"/>
          </a:p>
        </p:txBody>
      </p:sp>
      <p:sp>
        <p:nvSpPr>
          <p:cNvPr id="23" name="Text 18"/>
          <p:cNvSpPr/>
          <p:nvPr/>
        </p:nvSpPr>
        <p:spPr>
          <a:xfrm>
            <a:off x="9226067" y="5349240"/>
            <a:ext cx="2197532" cy="292608"/>
          </a:xfrm>
          <a:prstGeom prst="rect">
            <a:avLst/>
          </a:prstGeom>
          <a:noFill/>
          <a:ln/>
        </p:spPr>
        <p:txBody>
          <a:bodyPr wrap="square" lIns="0" tIns="0" rIns="0" bIns="0" rtlCol="0" anchor="t"/>
          <a:lstStyle/>
          <a:p>
            <a:pPr indent="0" marL="0">
              <a:buNone/>
            </a:pPr>
            <a:r>
              <a:rPr lang="en-US" sz="1300" b="1" dirty="0">
                <a:solidFill>
                  <a:srgbClr val="101722"/>
                </a:solidFill>
                <a:latin typeface="Calibri" pitchFamily="34" charset="0"/>
                <a:ea typeface="Calibri" pitchFamily="34" charset="-122"/>
                <a:cs typeface="Calibri" pitchFamily="34" charset="-120"/>
              </a:rPr>
              <a:t>token recipe budget</a:t>
            </a:r>
            <a:endParaRPr lang="en-US" sz="1300" dirty="0"/>
          </a:p>
        </p:txBody>
      </p:sp>
      <p:sp>
        <p:nvSpPr>
          <p:cNvPr id="24" name="Text 19"/>
          <p:cNvSpPr/>
          <p:nvPr/>
        </p:nvSpPr>
        <p:spPr>
          <a:xfrm>
            <a:off x="9226067" y="5660136"/>
            <a:ext cx="2197532" cy="384048"/>
          </a:xfrm>
          <a:prstGeom prst="rect">
            <a:avLst/>
          </a:prstGeom>
          <a:noFill/>
          <a:ln/>
        </p:spPr>
        <p:txBody>
          <a:bodyPr wrap="square" lIns="0" tIns="0" rIns="0" bIns="0" rtlCol="0" anchor="t"/>
          <a:lstStyle/>
          <a:p>
            <a:pPr indent="0" marL="0">
              <a:buNone/>
            </a:pPr>
            <a:r>
              <a:rPr lang="en-US" sz="1050" dirty="0">
                <a:solidFill>
                  <a:srgbClr val="7D8899"/>
                </a:solidFill>
                <a:latin typeface="Calibri" pitchFamily="34" charset="0"/>
                <a:ea typeface="Calibri" pitchFamily="34" charset="-122"/>
                <a:cs typeface="Calibri" pitchFamily="34" charset="-120"/>
              </a:rPr>
              <a:t>skills are selected, not pasted in whole</a:t>
            </a:r>
            <a:endParaRPr lang="en-US" sz="1050" dirty="0"/>
          </a:p>
        </p:txBody>
      </p:sp>
      <p:sp>
        <p:nvSpPr>
          <p:cNvPr id="25" name="Text 20"/>
          <p:cNvSpPr/>
          <p:nvPr/>
        </p:nvSpPr>
        <p:spPr>
          <a:xfrm>
            <a:off x="566928" y="6272784"/>
            <a:ext cx="7315200" cy="274320"/>
          </a:xfrm>
          <a:prstGeom prst="rect">
            <a:avLst/>
          </a:prstGeom>
          <a:noFill/>
          <a:ln/>
        </p:spPr>
        <p:txBody>
          <a:bodyPr wrap="square" lIns="0" tIns="0" rIns="0" bIns="0" rtlCol="0" anchor="ctr"/>
          <a:lstStyle/>
          <a:p>
            <a:pPr indent="0" marL="0">
              <a:buNone/>
            </a:pPr>
            <a:r>
              <a:rPr lang="en-US" sz="900" dirty="0">
                <a:solidFill>
                  <a:srgbClr val="7D8899"/>
                </a:solidFill>
                <a:latin typeface="Calibri" pitchFamily="34" charset="0"/>
                <a:ea typeface="Calibri" pitchFamily="34" charset="-122"/>
                <a:cs typeface="Calibri" pitchFamily="34" charset="-120"/>
              </a:rPr>
              <a:t>UCONN CAD PACK · ASME 2026 Student Hackathon</a:t>
            </a:r>
            <a:endParaRPr lang="en-US" sz="900" dirty="0"/>
          </a:p>
        </p:txBody>
      </p:sp>
      <p:sp>
        <p:nvSpPr>
          <p:cNvPr id="26" name="Text 21"/>
          <p:cNvSpPr/>
          <p:nvPr/>
        </p:nvSpPr>
        <p:spPr>
          <a:xfrm>
            <a:off x="9795967" y="6272784"/>
            <a:ext cx="1828800" cy="274320"/>
          </a:xfrm>
          <a:prstGeom prst="rect">
            <a:avLst/>
          </a:prstGeom>
          <a:noFill/>
          <a:ln/>
        </p:spPr>
        <p:txBody>
          <a:bodyPr wrap="square" lIns="0" tIns="0" rIns="0" bIns="0" rtlCol="0" anchor="ctr"/>
          <a:lstStyle/>
          <a:p>
            <a:pPr algn="r" indent="0" marL="0">
              <a:buNone/>
            </a:pPr>
            <a:r>
              <a:rPr lang="en-US" sz="900" dirty="0">
                <a:solidFill>
                  <a:srgbClr val="7D8899"/>
                </a:solidFill>
                <a:latin typeface="Calibri" pitchFamily="34" charset="0"/>
                <a:ea typeface="Calibri" pitchFamily="34" charset="-122"/>
                <a:cs typeface="Calibri" pitchFamily="34" charset="-120"/>
              </a:rPr>
              <a:t>6 / 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home/claude/pitch/shots3/logo_hack.png">    </p:cNvPr>
          <p:cNvPicPr>
            <a:picLocks noChangeAspect="1"/>
          </p:cNvPicPr>
          <p:nvPr/>
        </p:nvPicPr>
        <p:blipFill>
          <a:blip r:embed="rId1"/>
          <a:stretch>
            <a:fillRect/>
          </a:stretch>
        </p:blipFill>
        <p:spPr>
          <a:xfrm>
            <a:off x="566928" y="146304"/>
            <a:ext cx="564135" cy="566928"/>
          </a:xfrm>
          <a:prstGeom prst="rect">
            <a:avLst/>
          </a:prstGeom>
        </p:spPr>
      </p:pic>
      <p:sp>
        <p:nvSpPr>
          <p:cNvPr id="3" name="Text 0"/>
          <p:cNvSpPr/>
          <p:nvPr/>
        </p:nvSpPr>
        <p:spPr>
          <a:xfrm>
            <a:off x="1332231" y="201168"/>
            <a:ext cx="5486400" cy="201168"/>
          </a:xfrm>
          <a:prstGeom prst="rect">
            <a:avLst/>
          </a:prstGeom>
          <a:noFill/>
          <a:ln/>
        </p:spPr>
        <p:txBody>
          <a:bodyPr wrap="square" lIns="0" tIns="0" rIns="0" bIns="0" rtlCol="0" anchor="b"/>
          <a:lstStyle/>
          <a:p>
            <a:pPr indent="0" marL="0">
              <a:buNone/>
            </a:pPr>
            <a:r>
              <a:rPr lang="en-US" sz="850" b="1" spc="220" kern="0" dirty="0">
                <a:solidFill>
                  <a:srgbClr val="0E63C4"/>
                </a:solidFill>
                <a:latin typeface="Calibri" pitchFamily="34" charset="0"/>
                <a:ea typeface="Calibri" pitchFamily="34" charset="-122"/>
                <a:cs typeface="Calibri" pitchFamily="34" charset="-120"/>
              </a:rPr>
              <a:t>ASME 2026 STUDENT HACKATHON  ·  NEURALCAD-EDIT</a:t>
            </a:r>
            <a:endParaRPr lang="en-US" sz="850" dirty="0"/>
          </a:p>
        </p:txBody>
      </p:sp>
      <p:sp>
        <p:nvSpPr>
          <p:cNvPr id="4" name="Text 1"/>
          <p:cNvSpPr/>
          <p:nvPr/>
        </p:nvSpPr>
        <p:spPr>
          <a:xfrm>
            <a:off x="1332231" y="411480"/>
            <a:ext cx="5486400" cy="274320"/>
          </a:xfrm>
          <a:prstGeom prst="rect">
            <a:avLst/>
          </a:prstGeom>
          <a:noFill/>
          <a:ln/>
        </p:spPr>
        <p:txBody>
          <a:bodyPr wrap="square" lIns="0" tIns="0" rIns="0" bIns="0" rtlCol="0" anchor="t"/>
          <a:lstStyle/>
          <a:p>
            <a:pPr indent="0" marL="0">
              <a:buNone/>
            </a:pPr>
            <a:r>
              <a:rPr lang="en-US" sz="1400" b="1" dirty="0">
                <a:solidFill>
                  <a:srgbClr val="101722"/>
                </a:solidFill>
                <a:latin typeface="Calibri" pitchFamily="34" charset="0"/>
                <a:ea typeface="Calibri" pitchFamily="34" charset="-122"/>
                <a:cs typeface="Calibri" pitchFamily="34" charset="-120"/>
              </a:rPr>
              <a:t>UCONN CAD PACK</a:t>
            </a:r>
            <a:endParaRPr lang="en-US" sz="1400" dirty="0"/>
          </a:p>
        </p:txBody>
      </p:sp>
      <p:pic>
        <p:nvPicPr>
          <p:cNvPr id="5" name="Image 1" descr="/home/claude/pitch/shots3/logo_uconn.png">    </p:cNvPr>
          <p:cNvPicPr>
            <a:picLocks noChangeAspect="1"/>
          </p:cNvPicPr>
          <p:nvPr/>
        </p:nvPicPr>
        <p:blipFill>
          <a:blip r:embed="rId2"/>
          <a:stretch>
            <a:fillRect/>
          </a:stretch>
        </p:blipFill>
        <p:spPr>
          <a:xfrm>
            <a:off x="9887407" y="237744"/>
            <a:ext cx="1737360" cy="367674"/>
          </a:xfrm>
          <a:prstGeom prst="rect">
            <a:avLst/>
          </a:prstGeom>
        </p:spPr>
      </p:pic>
      <p:sp>
        <p:nvSpPr>
          <p:cNvPr id="6" name="Text 2"/>
          <p:cNvSpPr/>
          <p:nvPr/>
        </p:nvSpPr>
        <p:spPr>
          <a:xfrm>
            <a:off x="566928" y="1097280"/>
            <a:ext cx="11057839" cy="237744"/>
          </a:xfrm>
          <a:prstGeom prst="rect">
            <a:avLst/>
          </a:prstGeom>
          <a:noFill/>
          <a:ln/>
        </p:spPr>
        <p:txBody>
          <a:bodyPr wrap="square" lIns="0" tIns="0" rIns="0" bIns="0" rtlCol="0" anchor="ctr"/>
          <a:lstStyle/>
          <a:p>
            <a:pPr indent="0" marL="0">
              <a:buNone/>
            </a:pPr>
            <a:r>
              <a:rPr lang="en-US" sz="950" b="1" spc="260" kern="0" dirty="0">
                <a:solidFill>
                  <a:srgbClr val="0E63C4"/>
                </a:solidFill>
                <a:latin typeface="Calibri" pitchFamily="34" charset="0"/>
                <a:ea typeface="Calibri" pitchFamily="34" charset="-122"/>
                <a:cs typeface="Calibri" pitchFamily="34" charset="-120"/>
              </a:rPr>
              <a:t>ONE REQUEST</a:t>
            </a:r>
            <a:endParaRPr lang="en-US" sz="950" dirty="0"/>
          </a:p>
        </p:txBody>
      </p:sp>
      <p:sp>
        <p:nvSpPr>
          <p:cNvPr id="7" name="Text 3"/>
          <p:cNvSpPr/>
          <p:nvPr/>
        </p:nvSpPr>
        <p:spPr>
          <a:xfrm>
            <a:off x="566928" y="1371600"/>
            <a:ext cx="11057839" cy="502920"/>
          </a:xfrm>
          <a:prstGeom prst="rect">
            <a:avLst/>
          </a:prstGeom>
          <a:noFill/>
          <a:ln/>
        </p:spPr>
        <p:txBody>
          <a:bodyPr wrap="square" lIns="0" tIns="0" rIns="0" bIns="0" rtlCol="0" anchor="t"/>
          <a:lstStyle/>
          <a:p>
            <a:pPr indent="0" marL="0">
              <a:buNone/>
            </a:pPr>
            <a:r>
              <a:rPr lang="en-US" sz="2600" b="1" dirty="0">
                <a:solidFill>
                  <a:srgbClr val="101722"/>
                </a:solidFill>
                <a:latin typeface="Calibri" pitchFamily="34" charset="0"/>
                <a:ea typeface="Calibri" pitchFamily="34" charset="-122"/>
                <a:cs typeface="Calibri" pitchFamily="34" charset="-120"/>
              </a:rPr>
              <a:t>The part, the plan it became, and the score</a:t>
            </a:r>
            <a:endParaRPr lang="en-US" sz="2600" dirty="0"/>
          </a:p>
        </p:txBody>
      </p:sp>
      <p:pic>
        <p:nvPicPr>
          <p:cNvPr id="8" name="Image 2" descr="/home/claude/pitch/figs/v5_colorcoded.png">    </p:cNvPr>
          <p:cNvPicPr>
            <a:picLocks noChangeAspect="1"/>
          </p:cNvPicPr>
          <p:nvPr/>
        </p:nvPicPr>
        <p:blipFill>
          <a:blip r:embed="rId3"/>
          <a:stretch>
            <a:fillRect/>
          </a:stretch>
        </p:blipFill>
        <p:spPr>
          <a:xfrm>
            <a:off x="1911663" y="1938528"/>
            <a:ext cx="8368368" cy="1325880"/>
          </a:xfrm>
          <a:prstGeom prst="rect">
            <a:avLst/>
          </a:prstGeom>
        </p:spPr>
      </p:pic>
      <p:sp>
        <p:nvSpPr>
          <p:cNvPr id="9" name="Text 4"/>
          <p:cNvSpPr/>
          <p:nvPr/>
        </p:nvSpPr>
        <p:spPr>
          <a:xfrm>
            <a:off x="566928" y="3300984"/>
            <a:ext cx="11057839" cy="274320"/>
          </a:xfrm>
          <a:prstGeom prst="rect">
            <a:avLst/>
          </a:prstGeom>
          <a:noFill/>
          <a:ln/>
        </p:spPr>
        <p:txBody>
          <a:bodyPr wrap="square" lIns="0" tIns="0" rIns="0" bIns="0" rtlCol="0" anchor="t"/>
          <a:lstStyle/>
          <a:p>
            <a:pPr algn="ctr" indent="0" marL="0">
              <a:buNone/>
            </a:pPr>
            <a:r>
              <a:rPr lang="en-US" sz="950" dirty="0">
                <a:solidFill>
                  <a:srgbClr val="7D8899"/>
                </a:solidFill>
                <a:latin typeface="Calibri" pitchFamily="34" charset="0"/>
                <a:ea typeface="Calibri" pitchFamily="34" charset="-122"/>
                <a:cs typeface="Calibri" pitchFamily="34" charset="-120"/>
              </a:rPr>
              <a:t>What the strategist actually plans from: every feature family in its own colour, seven views, measured rather than guessed.</a:t>
            </a:r>
            <a:endParaRPr lang="en-US" sz="950" dirty="0"/>
          </a:p>
        </p:txBody>
      </p:sp>
      <p:sp>
        <p:nvSpPr>
          <p:cNvPr id="10" name="Shape 5"/>
          <p:cNvSpPr/>
          <p:nvPr/>
        </p:nvSpPr>
        <p:spPr>
          <a:xfrm>
            <a:off x="566928" y="3648456"/>
            <a:ext cx="5971233" cy="1005840"/>
          </a:xfrm>
          <a:prstGeom prst="roundRect">
            <a:avLst>
              <a:gd name="adj" fmla="val 7273"/>
            </a:avLst>
          </a:prstGeom>
          <a:solidFill>
            <a:srgbClr val="E8F1FD"/>
          </a:solidFill>
          <a:ln w="12700">
            <a:solidFill>
              <a:srgbClr val="CFE2FA"/>
            </a:solidFill>
            <a:prstDash val="solid"/>
          </a:ln>
        </p:spPr>
      </p:sp>
      <p:sp>
        <p:nvSpPr>
          <p:cNvPr id="11" name="Text 6"/>
          <p:cNvSpPr/>
          <p:nvPr/>
        </p:nvSpPr>
        <p:spPr>
          <a:xfrm>
            <a:off x="731520" y="3758184"/>
            <a:ext cx="5642049" cy="256032"/>
          </a:xfrm>
          <a:prstGeom prst="rect">
            <a:avLst/>
          </a:prstGeom>
          <a:noFill/>
          <a:ln/>
        </p:spPr>
        <p:txBody>
          <a:bodyPr wrap="square" lIns="0" tIns="0" rIns="0" bIns="0" rtlCol="0" anchor="t"/>
          <a:lstStyle/>
          <a:p>
            <a:pPr indent="0" marL="0">
              <a:buNone/>
            </a:pPr>
            <a:r>
              <a:rPr lang="en-US" sz="1300" b="1" dirty="0">
                <a:solidFill>
                  <a:srgbClr val="101722"/>
                </a:solidFill>
                <a:latin typeface="Calibri" pitchFamily="34" charset="0"/>
                <a:ea typeface="Calibri" pitchFamily="34" charset="-122"/>
                <a:cs typeface="Calibri" pitchFamily="34" charset="-120"/>
              </a:rPr>
              <a:t>The whole input</a:t>
            </a:r>
            <a:endParaRPr lang="en-US" sz="1300" dirty="0"/>
          </a:p>
        </p:txBody>
      </p:sp>
      <p:sp>
        <p:nvSpPr>
          <p:cNvPr id="12" name="Text 7"/>
          <p:cNvSpPr/>
          <p:nvPr/>
        </p:nvSpPr>
        <p:spPr>
          <a:xfrm>
            <a:off x="731520" y="4050792"/>
            <a:ext cx="5642049" cy="512064"/>
          </a:xfrm>
          <a:prstGeom prst="rect">
            <a:avLst/>
          </a:prstGeom>
          <a:noFill/>
          <a:ln/>
        </p:spPr>
        <p:txBody>
          <a:bodyPr wrap="square" lIns="0" tIns="0" rIns="0" bIns="0" rtlCol="0" anchor="t"/>
          <a:lstStyle/>
          <a:p>
            <a:pPr indent="0" marL="0">
              <a:lnSpc>
                <a:spcPts val="1700"/>
              </a:lnSpc>
              <a:buNone/>
            </a:pPr>
            <a:r>
              <a:rPr lang="en-US" sz="1200" b="1" dirty="0">
                <a:solidFill>
                  <a:srgbClr val="101722"/>
                </a:solidFill>
                <a:latin typeface="Calibri" pitchFamily="34" charset="0"/>
                <a:ea typeface="Calibri" pitchFamily="34" charset="-122"/>
                <a:cs typeface="Calibri" pitchFamily="34" charset="-120"/>
              </a:rPr>
              <a:t>“Add 0.2 mm chamfer to the hole edges to improve fitting.”</a:t>
            </a:r>
            <a:pPr indent="0" marL="0">
              <a:lnSpc>
                <a:spcPts val="1700"/>
              </a:lnSpc>
              <a:buNone/>
            </a:pPr>
            <a:r>
              <a:rPr lang="en-US" sz="1200" dirty="0">
                <a:solidFill>
                  <a:srgbClr val="4C5766"/>
                </a:solidFill>
                <a:latin typeface="Calibri" pitchFamily="34" charset="0"/>
                <a:ea typeface="Calibri" pitchFamily="34" charset="-122"/>
                <a:cs typeface="Calibri" pitchFamily="34" charset="-120"/>
              </a:rPr>
              <a:t>  One line of text and a solved B-rep. No feature tree, no sketches, nothing named.</a:t>
            </a:r>
            <a:endParaRPr lang="en-US" sz="1200" dirty="0"/>
          </a:p>
        </p:txBody>
      </p:sp>
      <p:sp>
        <p:nvSpPr>
          <p:cNvPr id="13" name="Shape 8"/>
          <p:cNvSpPr/>
          <p:nvPr/>
        </p:nvSpPr>
        <p:spPr>
          <a:xfrm>
            <a:off x="566928" y="4837176"/>
            <a:ext cx="5971233" cy="1426464"/>
          </a:xfrm>
          <a:prstGeom prst="roundRect">
            <a:avLst>
              <a:gd name="adj" fmla="val 5128"/>
            </a:avLst>
          </a:prstGeom>
          <a:solidFill>
            <a:srgbClr val="FFFFFF"/>
          </a:solidFill>
          <a:ln w="12700">
            <a:solidFill>
              <a:srgbClr val="E2E7F0"/>
            </a:solidFill>
            <a:prstDash val="solid"/>
          </a:ln>
        </p:spPr>
      </p:sp>
      <p:sp>
        <p:nvSpPr>
          <p:cNvPr id="14" name="Text 9"/>
          <p:cNvSpPr/>
          <p:nvPr/>
        </p:nvSpPr>
        <p:spPr>
          <a:xfrm>
            <a:off x="731520" y="4946904"/>
            <a:ext cx="5642049" cy="256032"/>
          </a:xfrm>
          <a:prstGeom prst="rect">
            <a:avLst/>
          </a:prstGeom>
          <a:noFill/>
          <a:ln/>
        </p:spPr>
        <p:txBody>
          <a:bodyPr wrap="square" lIns="0" tIns="0" rIns="0" bIns="0" rtlCol="0" anchor="t"/>
          <a:lstStyle/>
          <a:p>
            <a:pPr indent="0" marL="0">
              <a:buNone/>
            </a:pPr>
            <a:r>
              <a:rPr lang="en-US" sz="1300" b="1" dirty="0">
                <a:solidFill>
                  <a:srgbClr val="101722"/>
                </a:solidFill>
                <a:latin typeface="Calibri" pitchFamily="34" charset="0"/>
                <a:ea typeface="Calibri" pitchFamily="34" charset="-122"/>
                <a:cs typeface="Calibri" pitchFamily="34" charset="-120"/>
              </a:rPr>
              <a:t>The plan, split into sub-goals</a:t>
            </a:r>
            <a:endParaRPr lang="en-US" sz="1300" dirty="0"/>
          </a:p>
        </p:txBody>
      </p:sp>
      <p:sp>
        <p:nvSpPr>
          <p:cNvPr id="15" name="Text 10"/>
          <p:cNvSpPr/>
          <p:nvPr/>
        </p:nvSpPr>
        <p:spPr>
          <a:xfrm>
            <a:off x="731520" y="5239512"/>
            <a:ext cx="5642049" cy="932688"/>
          </a:xfrm>
          <a:prstGeom prst="rect">
            <a:avLst/>
          </a:prstGeom>
          <a:noFill/>
          <a:ln/>
        </p:spPr>
        <p:txBody>
          <a:bodyPr wrap="square" lIns="0" tIns="0" rIns="0" bIns="0" rtlCol="0" anchor="t"/>
          <a:lstStyle/>
          <a:p>
            <a:pPr indent="0" marL="0">
              <a:lnSpc>
                <a:spcPts val="1700"/>
              </a:lnSpc>
              <a:buNone/>
            </a:pPr>
            <a:r>
              <a:rPr lang="en-US" sz="1200" b="1" dirty="0">
                <a:solidFill>
                  <a:srgbClr val="101722"/>
                </a:solidFill>
                <a:latin typeface="Calibri" pitchFamily="34" charset="0"/>
                <a:ea typeface="Calibri" pitchFamily="34" charset="-122"/>
                <a:cs typeface="Calibri" pitchFamily="34" charset="-120"/>
              </a:rPr>
              <a:t>1.</a:t>
            </a:r>
            <a:pPr indent="0" marL="0">
              <a:lnSpc>
                <a:spcPts val="1700"/>
              </a:lnSpc>
              <a:buNone/>
            </a:pPr>
            <a:r>
              <a:rPr lang="en-US" sz="1200" dirty="0">
                <a:solidFill>
                  <a:srgbClr val="4C5766"/>
                </a:solidFill>
                <a:latin typeface="Calibri" pitchFamily="34" charset="0"/>
                <a:ea typeface="Calibri" pitchFamily="34" charset="-122"/>
                <a:cs typeface="Calibri" pitchFamily="34" charset="-120"/>
              </a:rPr>
              <a:t> Apply a 0.2 mm 45 degree chamfer to all listed hole-mouth circular edges: edge_idx [68, 119, 127, 149, 152, 254, 256, 300, 120, 129, 285, 287, ...], 36 in all. Keep the chamfer on the hole entry and exit rims, not on unrelated blend or fillet artefact edges. </a:t>
            </a:r>
            <a:pPr indent="0" marL="0">
              <a:lnSpc>
                <a:spcPts val="1700"/>
              </a:lnSpc>
              <a:buNone/>
            </a:pPr>
            <a:r>
              <a:rPr lang="en-US" sz="1200" b="1" dirty="0">
                <a:solidFill>
                  <a:srgbClr val="0E63C4"/>
                </a:solidFill>
                <a:latin typeface="Calibri" pitchFamily="34" charset="0"/>
                <a:ea typeface="Calibri" pitchFamily="34" charset="-122"/>
                <a:cs typeface="Calibri" pitchFamily="34" charset="-120"/>
              </a:rPr>
              <a:t>[tags: fillet-chamfer · done, 1 attempt]</a:t>
            </a:r>
            <a:endParaRPr lang="en-US" sz="1200" dirty="0"/>
          </a:p>
        </p:txBody>
      </p:sp>
      <p:sp>
        <p:nvSpPr>
          <p:cNvPr id="16" name="Shape 11"/>
          <p:cNvSpPr/>
          <p:nvPr/>
        </p:nvSpPr>
        <p:spPr>
          <a:xfrm>
            <a:off x="6922209" y="3648456"/>
            <a:ext cx="1445599" cy="1371600"/>
          </a:xfrm>
          <a:prstGeom prst="roundRect">
            <a:avLst>
              <a:gd name="adj" fmla="val 5333"/>
            </a:avLst>
          </a:prstGeom>
          <a:solidFill>
            <a:srgbClr val="FFFFFF"/>
          </a:solidFill>
          <a:ln w="12700">
            <a:solidFill>
              <a:srgbClr val="E2E7F0"/>
            </a:solidFill>
            <a:prstDash val="solid"/>
          </a:ln>
        </p:spPr>
      </p:sp>
      <p:sp>
        <p:nvSpPr>
          <p:cNvPr id="17" name="Text 12"/>
          <p:cNvSpPr/>
          <p:nvPr/>
        </p:nvSpPr>
        <p:spPr>
          <a:xfrm>
            <a:off x="7068513" y="3776472"/>
            <a:ext cx="1152991" cy="566928"/>
          </a:xfrm>
          <a:prstGeom prst="rect">
            <a:avLst/>
          </a:prstGeom>
          <a:noFill/>
          <a:ln/>
        </p:spPr>
        <p:txBody>
          <a:bodyPr wrap="square" lIns="0" tIns="0" rIns="0" bIns="0" rtlCol="0" anchor="ctr"/>
          <a:lstStyle/>
          <a:p>
            <a:pPr indent="0" marL="0">
              <a:buNone/>
            </a:pPr>
            <a:r>
              <a:rPr lang="en-US" sz="2600" b="1" dirty="0">
                <a:solidFill>
                  <a:srgbClr val="0E63C4"/>
                </a:solidFill>
                <a:latin typeface="Calibri" pitchFamily="34" charset="0"/>
                <a:ea typeface="Calibri" pitchFamily="34" charset="-122"/>
                <a:cs typeface="Calibri" pitchFamily="34" charset="-120"/>
              </a:rPr>
              <a:t>0.646</a:t>
            </a:r>
            <a:endParaRPr lang="en-US" sz="2600" dirty="0"/>
          </a:p>
        </p:txBody>
      </p:sp>
      <p:sp>
        <p:nvSpPr>
          <p:cNvPr id="18" name="Text 13"/>
          <p:cNvSpPr/>
          <p:nvPr/>
        </p:nvSpPr>
        <p:spPr>
          <a:xfrm>
            <a:off x="7068513" y="4361688"/>
            <a:ext cx="1152991" cy="256032"/>
          </a:xfrm>
          <a:prstGeom prst="rect">
            <a:avLst/>
          </a:prstGeom>
          <a:noFill/>
          <a:ln/>
        </p:spPr>
        <p:txBody>
          <a:bodyPr wrap="square" lIns="0" tIns="0" rIns="0" bIns="0" rtlCol="0" anchor="t"/>
          <a:lstStyle/>
          <a:p>
            <a:pPr indent="0" marL="0">
              <a:buNone/>
            </a:pPr>
            <a:r>
              <a:rPr lang="en-US" sz="1150" b="1" dirty="0">
                <a:solidFill>
                  <a:srgbClr val="101722"/>
                </a:solidFill>
                <a:latin typeface="Calibri" pitchFamily="34" charset="0"/>
                <a:ea typeface="Calibri" pitchFamily="34" charset="-122"/>
                <a:cs typeface="Calibri" pitchFamily="34" charset="-120"/>
              </a:rPr>
              <a:t>diff F1</a:t>
            </a:r>
            <a:endParaRPr lang="en-US" sz="1150" dirty="0"/>
          </a:p>
        </p:txBody>
      </p:sp>
      <p:sp>
        <p:nvSpPr>
          <p:cNvPr id="19" name="Text 14"/>
          <p:cNvSpPr/>
          <p:nvPr/>
        </p:nvSpPr>
        <p:spPr>
          <a:xfrm>
            <a:off x="7068513" y="4599432"/>
            <a:ext cx="1152991" cy="310896"/>
          </a:xfrm>
          <a:prstGeom prst="rect">
            <a:avLst/>
          </a:prstGeom>
          <a:noFill/>
          <a:ln/>
        </p:spPr>
        <p:txBody>
          <a:bodyPr wrap="square" lIns="0" tIns="0" rIns="0" bIns="0" rtlCol="0" anchor="t"/>
          <a:lstStyle/>
          <a:p>
            <a:pPr indent="0" marL="0">
              <a:buNone/>
            </a:pPr>
            <a:r>
              <a:rPr lang="en-US" sz="950" dirty="0">
                <a:solidFill>
                  <a:srgbClr val="7D8899"/>
                </a:solidFill>
                <a:latin typeface="Calibri" pitchFamily="34" charset="0"/>
                <a:ea typeface="Calibri" pitchFamily="34" charset="-122"/>
                <a:cs typeface="Calibri" pitchFamily="34" charset="-120"/>
              </a:rPr>
              <a:t>the metric that reads edits</a:t>
            </a:r>
            <a:endParaRPr lang="en-US" sz="950" dirty="0"/>
          </a:p>
        </p:txBody>
      </p:sp>
      <p:sp>
        <p:nvSpPr>
          <p:cNvPr id="20" name="Shape 15"/>
          <p:cNvSpPr/>
          <p:nvPr/>
        </p:nvSpPr>
        <p:spPr>
          <a:xfrm>
            <a:off x="8550689" y="3648456"/>
            <a:ext cx="1445599" cy="1371600"/>
          </a:xfrm>
          <a:prstGeom prst="roundRect">
            <a:avLst>
              <a:gd name="adj" fmla="val 5333"/>
            </a:avLst>
          </a:prstGeom>
          <a:solidFill>
            <a:srgbClr val="FFFFFF"/>
          </a:solidFill>
          <a:ln w="12700">
            <a:solidFill>
              <a:srgbClr val="E2E7F0"/>
            </a:solidFill>
            <a:prstDash val="solid"/>
          </a:ln>
        </p:spPr>
      </p:sp>
      <p:sp>
        <p:nvSpPr>
          <p:cNvPr id="21" name="Text 16"/>
          <p:cNvSpPr/>
          <p:nvPr/>
        </p:nvSpPr>
        <p:spPr>
          <a:xfrm>
            <a:off x="8696993" y="3776472"/>
            <a:ext cx="1152991" cy="566928"/>
          </a:xfrm>
          <a:prstGeom prst="rect">
            <a:avLst/>
          </a:prstGeom>
          <a:noFill/>
          <a:ln/>
        </p:spPr>
        <p:txBody>
          <a:bodyPr wrap="square" lIns="0" tIns="0" rIns="0" bIns="0" rtlCol="0" anchor="ctr"/>
          <a:lstStyle/>
          <a:p>
            <a:pPr indent="0" marL="0">
              <a:buNone/>
            </a:pPr>
            <a:r>
              <a:rPr lang="en-US" sz="2600" b="1" dirty="0">
                <a:solidFill>
                  <a:srgbClr val="101722"/>
                </a:solidFill>
                <a:latin typeface="Calibri" pitchFamily="34" charset="0"/>
                <a:ea typeface="Calibri" pitchFamily="34" charset="-122"/>
                <a:cs typeface="Calibri" pitchFamily="34" charset="-120"/>
              </a:rPr>
              <a:t>0.989</a:t>
            </a:r>
            <a:endParaRPr lang="en-US" sz="2600" dirty="0"/>
          </a:p>
        </p:txBody>
      </p:sp>
      <p:sp>
        <p:nvSpPr>
          <p:cNvPr id="22" name="Text 17"/>
          <p:cNvSpPr/>
          <p:nvPr/>
        </p:nvSpPr>
        <p:spPr>
          <a:xfrm>
            <a:off x="8696993" y="4361688"/>
            <a:ext cx="1152991" cy="256032"/>
          </a:xfrm>
          <a:prstGeom prst="rect">
            <a:avLst/>
          </a:prstGeom>
          <a:noFill/>
          <a:ln/>
        </p:spPr>
        <p:txBody>
          <a:bodyPr wrap="square" lIns="0" tIns="0" rIns="0" bIns="0" rtlCol="0" anchor="t"/>
          <a:lstStyle/>
          <a:p>
            <a:pPr indent="0" marL="0">
              <a:buNone/>
            </a:pPr>
            <a:r>
              <a:rPr lang="en-US" sz="1150" b="1" dirty="0">
                <a:solidFill>
                  <a:srgbClr val="101722"/>
                </a:solidFill>
                <a:latin typeface="Calibri" pitchFamily="34" charset="0"/>
                <a:ea typeface="Calibri" pitchFamily="34" charset="-122"/>
                <a:cs typeface="Calibri" pitchFamily="34" charset="-120"/>
              </a:rPr>
              <a:t>chamfer sim</a:t>
            </a:r>
            <a:endParaRPr lang="en-US" sz="1150" dirty="0"/>
          </a:p>
        </p:txBody>
      </p:sp>
      <p:sp>
        <p:nvSpPr>
          <p:cNvPr id="23" name="Text 18"/>
          <p:cNvSpPr/>
          <p:nvPr/>
        </p:nvSpPr>
        <p:spPr>
          <a:xfrm>
            <a:off x="8696993" y="4599432"/>
            <a:ext cx="1152991" cy="310896"/>
          </a:xfrm>
          <a:prstGeom prst="rect">
            <a:avLst/>
          </a:prstGeom>
          <a:noFill/>
          <a:ln/>
        </p:spPr>
        <p:txBody>
          <a:bodyPr wrap="square" lIns="0" tIns="0" rIns="0" bIns="0" rtlCol="0" anchor="t"/>
          <a:lstStyle/>
          <a:p>
            <a:pPr indent="0" marL="0">
              <a:buNone/>
            </a:pPr>
            <a:r>
              <a:rPr lang="en-US" sz="950" dirty="0">
                <a:solidFill>
                  <a:srgbClr val="7D8899"/>
                </a:solidFill>
                <a:latin typeface="Calibri" pitchFamily="34" charset="0"/>
                <a:ea typeface="Calibri" pitchFamily="34" charset="-122"/>
                <a:cs typeface="Calibri" pitchFamily="34" charset="-120"/>
              </a:rPr>
              <a:t>near 1.0 for everyone</a:t>
            </a:r>
            <a:endParaRPr lang="en-US" sz="950" dirty="0"/>
          </a:p>
        </p:txBody>
      </p:sp>
      <p:sp>
        <p:nvSpPr>
          <p:cNvPr id="24" name="Shape 19"/>
          <p:cNvSpPr/>
          <p:nvPr/>
        </p:nvSpPr>
        <p:spPr>
          <a:xfrm>
            <a:off x="10179168" y="3648456"/>
            <a:ext cx="1445599" cy="1371600"/>
          </a:xfrm>
          <a:prstGeom prst="roundRect">
            <a:avLst>
              <a:gd name="adj" fmla="val 5333"/>
            </a:avLst>
          </a:prstGeom>
          <a:solidFill>
            <a:srgbClr val="FFFFFF"/>
          </a:solidFill>
          <a:ln w="12700">
            <a:solidFill>
              <a:srgbClr val="E2E7F0"/>
            </a:solidFill>
            <a:prstDash val="solid"/>
          </a:ln>
        </p:spPr>
      </p:sp>
      <p:sp>
        <p:nvSpPr>
          <p:cNvPr id="25" name="Text 20"/>
          <p:cNvSpPr/>
          <p:nvPr/>
        </p:nvSpPr>
        <p:spPr>
          <a:xfrm>
            <a:off x="10325472" y="3776472"/>
            <a:ext cx="1152991" cy="566928"/>
          </a:xfrm>
          <a:prstGeom prst="rect">
            <a:avLst/>
          </a:prstGeom>
          <a:noFill/>
          <a:ln/>
        </p:spPr>
        <p:txBody>
          <a:bodyPr wrap="square" lIns="0" tIns="0" rIns="0" bIns="0" rtlCol="0" anchor="ctr"/>
          <a:lstStyle/>
          <a:p>
            <a:pPr indent="0" marL="0">
              <a:buNone/>
            </a:pPr>
            <a:r>
              <a:rPr lang="en-US" sz="2600" b="1" dirty="0">
                <a:solidFill>
                  <a:srgbClr val="101722"/>
                </a:solidFill>
                <a:latin typeface="Calibri" pitchFamily="34" charset="0"/>
                <a:ea typeface="Calibri" pitchFamily="34" charset="-122"/>
                <a:cs typeface="Calibri" pitchFamily="34" charset="-120"/>
              </a:rPr>
              <a:t>0.998</a:t>
            </a:r>
            <a:endParaRPr lang="en-US" sz="2600" dirty="0"/>
          </a:p>
        </p:txBody>
      </p:sp>
      <p:sp>
        <p:nvSpPr>
          <p:cNvPr id="26" name="Text 21"/>
          <p:cNvSpPr/>
          <p:nvPr/>
        </p:nvSpPr>
        <p:spPr>
          <a:xfrm>
            <a:off x="10325472" y="4361688"/>
            <a:ext cx="1152991" cy="256032"/>
          </a:xfrm>
          <a:prstGeom prst="rect">
            <a:avLst/>
          </a:prstGeom>
          <a:noFill/>
          <a:ln/>
        </p:spPr>
        <p:txBody>
          <a:bodyPr wrap="square" lIns="0" tIns="0" rIns="0" bIns="0" rtlCol="0" anchor="t"/>
          <a:lstStyle/>
          <a:p>
            <a:pPr indent="0" marL="0">
              <a:buNone/>
            </a:pPr>
            <a:r>
              <a:rPr lang="en-US" sz="1150" b="1" dirty="0">
                <a:solidFill>
                  <a:srgbClr val="101722"/>
                </a:solidFill>
                <a:latin typeface="Calibri" pitchFamily="34" charset="0"/>
                <a:ea typeface="Calibri" pitchFamily="34" charset="-122"/>
                <a:cs typeface="Calibri" pitchFamily="34" charset="-120"/>
              </a:rPr>
              <a:t>volume F1</a:t>
            </a:r>
            <a:endParaRPr lang="en-US" sz="1150" dirty="0"/>
          </a:p>
        </p:txBody>
      </p:sp>
      <p:sp>
        <p:nvSpPr>
          <p:cNvPr id="27" name="Text 22"/>
          <p:cNvSpPr/>
          <p:nvPr/>
        </p:nvSpPr>
        <p:spPr>
          <a:xfrm>
            <a:off x="10325472" y="4599432"/>
            <a:ext cx="1152991" cy="310896"/>
          </a:xfrm>
          <a:prstGeom prst="rect">
            <a:avLst/>
          </a:prstGeom>
          <a:noFill/>
          <a:ln/>
        </p:spPr>
        <p:txBody>
          <a:bodyPr wrap="square" lIns="0" tIns="0" rIns="0" bIns="0" rtlCol="0" anchor="t"/>
          <a:lstStyle/>
          <a:p>
            <a:pPr indent="0" marL="0">
              <a:buNone/>
            </a:pPr>
            <a:r>
              <a:rPr lang="en-US" sz="950" dirty="0">
                <a:solidFill>
                  <a:srgbClr val="7D8899"/>
                </a:solidFill>
                <a:latin typeface="Calibri" pitchFamily="34" charset="0"/>
                <a:ea typeface="Calibri" pitchFamily="34" charset="-122"/>
                <a:cs typeface="Calibri" pitchFamily="34" charset="-120"/>
              </a:rPr>
              <a:t>near 1.0 for everyone</a:t>
            </a:r>
            <a:endParaRPr lang="en-US" sz="950" dirty="0"/>
          </a:p>
        </p:txBody>
      </p:sp>
      <p:sp>
        <p:nvSpPr>
          <p:cNvPr id="28" name="Shape 23"/>
          <p:cNvSpPr/>
          <p:nvPr/>
        </p:nvSpPr>
        <p:spPr>
          <a:xfrm>
            <a:off x="6922209" y="5221224"/>
            <a:ext cx="4702558" cy="1005840"/>
          </a:xfrm>
          <a:prstGeom prst="roundRect">
            <a:avLst>
              <a:gd name="adj" fmla="val 7273"/>
            </a:avLst>
          </a:prstGeom>
          <a:solidFill>
            <a:srgbClr val="FFFFFF"/>
          </a:solidFill>
          <a:ln w="12700">
            <a:solidFill>
              <a:srgbClr val="E2E7F0"/>
            </a:solidFill>
            <a:prstDash val="solid"/>
          </a:ln>
        </p:spPr>
      </p:sp>
      <p:sp>
        <p:nvSpPr>
          <p:cNvPr id="29" name="Text 24"/>
          <p:cNvSpPr/>
          <p:nvPr/>
        </p:nvSpPr>
        <p:spPr>
          <a:xfrm>
            <a:off x="7086801" y="5330952"/>
            <a:ext cx="4373374" cy="256032"/>
          </a:xfrm>
          <a:prstGeom prst="rect">
            <a:avLst/>
          </a:prstGeom>
          <a:noFill/>
          <a:ln/>
        </p:spPr>
        <p:txBody>
          <a:bodyPr wrap="square" lIns="0" tIns="0" rIns="0" bIns="0" rtlCol="0" anchor="t"/>
          <a:lstStyle/>
          <a:p>
            <a:pPr indent="0" marL="0">
              <a:buNone/>
            </a:pPr>
            <a:r>
              <a:rPr lang="en-US" sz="1300" b="1" dirty="0">
                <a:solidFill>
                  <a:srgbClr val="101722"/>
                </a:solidFill>
                <a:latin typeface="Calibri" pitchFamily="34" charset="0"/>
                <a:ea typeface="Calibri" pitchFamily="34" charset="-122"/>
                <a:cs typeface="Calibri" pitchFamily="34" charset="-120"/>
              </a:rPr>
              <a:t>What it cost</a:t>
            </a:r>
            <a:endParaRPr lang="en-US" sz="1300" dirty="0"/>
          </a:p>
        </p:txBody>
      </p:sp>
      <p:sp>
        <p:nvSpPr>
          <p:cNvPr id="30" name="Text 25"/>
          <p:cNvSpPr/>
          <p:nvPr/>
        </p:nvSpPr>
        <p:spPr>
          <a:xfrm>
            <a:off x="7086801" y="5623560"/>
            <a:ext cx="4373374" cy="512064"/>
          </a:xfrm>
          <a:prstGeom prst="rect">
            <a:avLst/>
          </a:prstGeom>
          <a:noFill/>
          <a:ln/>
        </p:spPr>
        <p:txBody>
          <a:bodyPr wrap="square" lIns="0" tIns="0" rIns="0" bIns="0" rtlCol="0" anchor="t"/>
          <a:lstStyle/>
          <a:p>
            <a:pPr indent="0" marL="0">
              <a:lnSpc>
                <a:spcPts val="1700"/>
              </a:lnSpc>
              <a:buNone/>
            </a:pPr>
            <a:r>
              <a:rPr lang="en-US" sz="1200" dirty="0">
                <a:solidFill>
                  <a:srgbClr val="4C5766"/>
                </a:solidFill>
                <a:latin typeface="Calibri" pitchFamily="34" charset="0"/>
                <a:ea typeface="Calibri" pitchFamily="34" charset="-122"/>
                <a:cs typeface="Calibri" pitchFamily="34" charset="-120"/>
              </a:rPr>
              <a:t>Three model calls, 44,953 tokens, </a:t>
            </a:r>
            <a:pPr indent="0" marL="0">
              <a:lnSpc>
                <a:spcPts val="1700"/>
              </a:lnSpc>
              <a:buNone/>
            </a:pPr>
            <a:r>
              <a:rPr lang="en-US" sz="1200" b="1" dirty="0">
                <a:solidFill>
                  <a:srgbClr val="101722"/>
                </a:solidFill>
                <a:latin typeface="Calibri" pitchFamily="34" charset="0"/>
                <a:ea typeface="Calibri" pitchFamily="34" charset="-122"/>
                <a:cs typeface="Calibri" pitchFamily="34" charset="-120"/>
              </a:rPr>
              <a:t>$0.18</a:t>
            </a:r>
            <a:pPr indent="0" marL="0">
              <a:lnSpc>
                <a:spcPts val="1700"/>
              </a:lnSpc>
              <a:buNone/>
            </a:pPr>
            <a:r>
              <a:rPr lang="en-US" sz="1200" dirty="0">
                <a:solidFill>
                  <a:srgbClr val="4C5766"/>
                </a:solidFill>
                <a:latin typeface="Calibri" pitchFamily="34" charset="0"/>
                <a:ea typeface="Calibri" pitchFamily="34" charset="-122"/>
                <a:cs typeface="Calibri" pitchFamily="34" charset="-120"/>
              </a:rPr>
              <a:t> for this run, start to finish.</a:t>
            </a:r>
            <a:endParaRPr lang="en-US" sz="1200" dirty="0"/>
          </a:p>
        </p:txBody>
      </p:sp>
      <p:sp>
        <p:nvSpPr>
          <p:cNvPr id="31" name="Text 26"/>
          <p:cNvSpPr/>
          <p:nvPr/>
        </p:nvSpPr>
        <p:spPr>
          <a:xfrm>
            <a:off x="566928" y="6272784"/>
            <a:ext cx="7315200" cy="274320"/>
          </a:xfrm>
          <a:prstGeom prst="rect">
            <a:avLst/>
          </a:prstGeom>
          <a:noFill/>
          <a:ln/>
        </p:spPr>
        <p:txBody>
          <a:bodyPr wrap="square" lIns="0" tIns="0" rIns="0" bIns="0" rtlCol="0" anchor="ctr"/>
          <a:lstStyle/>
          <a:p>
            <a:pPr indent="0" marL="0">
              <a:buNone/>
            </a:pPr>
            <a:r>
              <a:rPr lang="en-US" sz="900" dirty="0">
                <a:solidFill>
                  <a:srgbClr val="7D8899"/>
                </a:solidFill>
                <a:latin typeface="Calibri" pitchFamily="34" charset="0"/>
                <a:ea typeface="Calibri" pitchFamily="34" charset="-122"/>
                <a:cs typeface="Calibri" pitchFamily="34" charset="-120"/>
              </a:rPr>
              <a:t>UCONN CAD PACK · ASME 2026 Student Hackathon</a:t>
            </a:r>
            <a:endParaRPr lang="en-US" sz="900" dirty="0"/>
          </a:p>
        </p:txBody>
      </p:sp>
      <p:sp>
        <p:nvSpPr>
          <p:cNvPr id="32" name="Text 27"/>
          <p:cNvSpPr/>
          <p:nvPr/>
        </p:nvSpPr>
        <p:spPr>
          <a:xfrm>
            <a:off x="9795967" y="6272784"/>
            <a:ext cx="1828800" cy="274320"/>
          </a:xfrm>
          <a:prstGeom prst="rect">
            <a:avLst/>
          </a:prstGeom>
          <a:noFill/>
          <a:ln/>
        </p:spPr>
        <p:txBody>
          <a:bodyPr wrap="square" lIns="0" tIns="0" rIns="0" bIns="0" rtlCol="0" anchor="ctr"/>
          <a:lstStyle/>
          <a:p>
            <a:pPr algn="r" indent="0" marL="0">
              <a:buNone/>
            </a:pPr>
            <a:r>
              <a:rPr lang="en-US" sz="900" dirty="0">
                <a:solidFill>
                  <a:srgbClr val="7D8899"/>
                </a:solidFill>
                <a:latin typeface="Calibri" pitchFamily="34" charset="0"/>
                <a:ea typeface="Calibri" pitchFamily="34" charset="-122"/>
                <a:cs typeface="Calibri" pitchFamily="34" charset="-120"/>
              </a:rPr>
              <a:t>7 / 13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home/claude/pitch/shots3/logo_hack.png">    </p:cNvPr>
          <p:cNvPicPr>
            <a:picLocks noChangeAspect="1"/>
          </p:cNvPicPr>
          <p:nvPr/>
        </p:nvPicPr>
        <p:blipFill>
          <a:blip r:embed="rId1"/>
          <a:stretch>
            <a:fillRect/>
          </a:stretch>
        </p:blipFill>
        <p:spPr>
          <a:xfrm>
            <a:off x="566928" y="146304"/>
            <a:ext cx="564135" cy="566928"/>
          </a:xfrm>
          <a:prstGeom prst="rect">
            <a:avLst/>
          </a:prstGeom>
        </p:spPr>
      </p:pic>
      <p:sp>
        <p:nvSpPr>
          <p:cNvPr id="3" name="Text 0"/>
          <p:cNvSpPr/>
          <p:nvPr/>
        </p:nvSpPr>
        <p:spPr>
          <a:xfrm>
            <a:off x="1332231" y="201168"/>
            <a:ext cx="5486400" cy="201168"/>
          </a:xfrm>
          <a:prstGeom prst="rect">
            <a:avLst/>
          </a:prstGeom>
          <a:noFill/>
          <a:ln/>
        </p:spPr>
        <p:txBody>
          <a:bodyPr wrap="square" lIns="0" tIns="0" rIns="0" bIns="0" rtlCol="0" anchor="b"/>
          <a:lstStyle/>
          <a:p>
            <a:pPr indent="0" marL="0">
              <a:buNone/>
            </a:pPr>
            <a:r>
              <a:rPr lang="en-US" sz="850" b="1" spc="220" kern="0" dirty="0">
                <a:solidFill>
                  <a:srgbClr val="0E63C4"/>
                </a:solidFill>
                <a:latin typeface="Calibri" pitchFamily="34" charset="0"/>
                <a:ea typeface="Calibri" pitchFamily="34" charset="-122"/>
                <a:cs typeface="Calibri" pitchFamily="34" charset="-120"/>
              </a:rPr>
              <a:t>ASME 2026 STUDENT HACKATHON  ·  NEURALCAD-EDIT</a:t>
            </a:r>
            <a:endParaRPr lang="en-US" sz="850" dirty="0"/>
          </a:p>
        </p:txBody>
      </p:sp>
      <p:sp>
        <p:nvSpPr>
          <p:cNvPr id="4" name="Text 1"/>
          <p:cNvSpPr/>
          <p:nvPr/>
        </p:nvSpPr>
        <p:spPr>
          <a:xfrm>
            <a:off x="1332231" y="411480"/>
            <a:ext cx="5486400" cy="274320"/>
          </a:xfrm>
          <a:prstGeom prst="rect">
            <a:avLst/>
          </a:prstGeom>
          <a:noFill/>
          <a:ln/>
        </p:spPr>
        <p:txBody>
          <a:bodyPr wrap="square" lIns="0" tIns="0" rIns="0" bIns="0" rtlCol="0" anchor="t"/>
          <a:lstStyle/>
          <a:p>
            <a:pPr indent="0" marL="0">
              <a:buNone/>
            </a:pPr>
            <a:r>
              <a:rPr lang="en-US" sz="1400" b="1" dirty="0">
                <a:solidFill>
                  <a:srgbClr val="101722"/>
                </a:solidFill>
                <a:latin typeface="Calibri" pitchFamily="34" charset="0"/>
                <a:ea typeface="Calibri" pitchFamily="34" charset="-122"/>
                <a:cs typeface="Calibri" pitchFamily="34" charset="-120"/>
              </a:rPr>
              <a:t>UCONN CAD PACK</a:t>
            </a:r>
            <a:endParaRPr lang="en-US" sz="1400" dirty="0"/>
          </a:p>
        </p:txBody>
      </p:sp>
      <p:pic>
        <p:nvPicPr>
          <p:cNvPr id="5" name="Image 1" descr="/home/claude/pitch/shots3/logo_uconn.png">    </p:cNvPr>
          <p:cNvPicPr>
            <a:picLocks noChangeAspect="1"/>
          </p:cNvPicPr>
          <p:nvPr/>
        </p:nvPicPr>
        <p:blipFill>
          <a:blip r:embed="rId2"/>
          <a:stretch>
            <a:fillRect/>
          </a:stretch>
        </p:blipFill>
        <p:spPr>
          <a:xfrm>
            <a:off x="9887407" y="237744"/>
            <a:ext cx="1737360" cy="367674"/>
          </a:xfrm>
          <a:prstGeom prst="rect">
            <a:avLst/>
          </a:prstGeom>
        </p:spPr>
      </p:pic>
      <p:sp>
        <p:nvSpPr>
          <p:cNvPr id="6" name="Text 2"/>
          <p:cNvSpPr/>
          <p:nvPr/>
        </p:nvSpPr>
        <p:spPr>
          <a:xfrm>
            <a:off x="566928" y="1097280"/>
            <a:ext cx="11057839" cy="237744"/>
          </a:xfrm>
          <a:prstGeom prst="rect">
            <a:avLst/>
          </a:prstGeom>
          <a:noFill/>
          <a:ln/>
        </p:spPr>
        <p:txBody>
          <a:bodyPr wrap="square" lIns="0" tIns="0" rIns="0" bIns="0" rtlCol="0" anchor="ctr"/>
          <a:lstStyle/>
          <a:p>
            <a:pPr indent="0" marL="0">
              <a:buNone/>
            </a:pPr>
            <a:r>
              <a:rPr lang="en-US" sz="950" b="1" spc="260" kern="0" dirty="0">
                <a:solidFill>
                  <a:srgbClr val="0E63C4"/>
                </a:solidFill>
                <a:latin typeface="Calibri" pitchFamily="34" charset="0"/>
                <a:ea typeface="Calibri" pitchFamily="34" charset="-122"/>
                <a:cs typeface="Calibri" pitchFamily="34" charset="-120"/>
              </a:rPr>
              <a:t>THE WHOLE BENCHMARK</a:t>
            </a:r>
            <a:endParaRPr lang="en-US" sz="950" dirty="0"/>
          </a:p>
        </p:txBody>
      </p:sp>
      <p:sp>
        <p:nvSpPr>
          <p:cNvPr id="7" name="Text 3"/>
          <p:cNvSpPr/>
          <p:nvPr/>
        </p:nvSpPr>
        <p:spPr>
          <a:xfrm>
            <a:off x="566928" y="1371600"/>
            <a:ext cx="11057839" cy="502920"/>
          </a:xfrm>
          <a:prstGeom prst="rect">
            <a:avLst/>
          </a:prstGeom>
          <a:noFill/>
          <a:ln/>
        </p:spPr>
        <p:txBody>
          <a:bodyPr wrap="square" lIns="0" tIns="0" rIns="0" bIns="0" rtlCol="0" anchor="t"/>
          <a:lstStyle/>
          <a:p>
            <a:pPr indent="0" marL="0">
              <a:buNone/>
            </a:pPr>
            <a:r>
              <a:rPr lang="en-US" sz="2600" b="1" dirty="0">
                <a:solidFill>
                  <a:srgbClr val="101722"/>
                </a:solidFill>
                <a:latin typeface="Calibri" pitchFamily="34" charset="0"/>
                <a:ea typeface="Calibri" pitchFamily="34" charset="-122"/>
                <a:cs typeface="Calibri" pitchFamily="34" charset="-120"/>
              </a:rPr>
              <a:t>Ranked on diff F1, and task by task against the best model</a:t>
            </a:r>
            <a:endParaRPr lang="en-US" sz="2600" dirty="0"/>
          </a:p>
        </p:txBody>
      </p:sp>
      <p:pic>
        <p:nvPicPr>
          <p:cNvPr id="8" name="Image 2" descr="/home/claude/pitch/figs/v4a_board.png">    </p:cNvPr>
          <p:cNvPicPr>
            <a:picLocks noChangeAspect="1"/>
          </p:cNvPicPr>
          <p:nvPr/>
        </p:nvPicPr>
        <p:blipFill>
          <a:blip r:embed="rId3"/>
          <a:stretch>
            <a:fillRect/>
          </a:stretch>
        </p:blipFill>
        <p:spPr>
          <a:xfrm>
            <a:off x="908459" y="1965960"/>
            <a:ext cx="10374777" cy="3611880"/>
          </a:xfrm>
          <a:prstGeom prst="rect">
            <a:avLst/>
          </a:prstGeom>
        </p:spPr>
      </p:pic>
      <p:sp>
        <p:nvSpPr>
          <p:cNvPr id="9" name="Text 4"/>
          <p:cNvSpPr/>
          <p:nvPr/>
        </p:nvSpPr>
        <p:spPr>
          <a:xfrm>
            <a:off x="566928" y="5641848"/>
            <a:ext cx="11057839" cy="502920"/>
          </a:xfrm>
          <a:prstGeom prst="rect">
            <a:avLst/>
          </a:prstGeom>
          <a:noFill/>
          <a:ln/>
        </p:spPr>
        <p:txBody>
          <a:bodyPr wrap="square" lIns="0" tIns="0" rIns="0" bIns="0" rtlCol="0" anchor="t"/>
          <a:lstStyle/>
          <a:p>
            <a:pPr algn="ctr" indent="0" marL="0">
              <a:lnSpc>
                <a:spcPts val="1400"/>
              </a:lnSpc>
              <a:buNone/>
            </a:pPr>
            <a:r>
              <a:rPr lang="en-US" sz="1000" dirty="0">
                <a:solidFill>
                  <a:srgbClr val="7D8899"/>
                </a:solidFill>
                <a:latin typeface="Calibri" pitchFamily="34" charset="0"/>
                <a:ea typeface="Calibri" pitchFamily="34" charset="-122"/>
                <a:cs typeface="Calibri" pitchFamily="34" charset="-120"/>
              </a:rPr>
              <a:t>Left, mean diff F1 per method. Right, every task against the best published model on that same task: above the diagonal is ours. Drawn from the same data the dashboard plots, at print resolution.</a:t>
            </a:r>
            <a:endParaRPr lang="en-US" sz="1000" dirty="0"/>
          </a:p>
        </p:txBody>
      </p:sp>
      <p:sp>
        <p:nvSpPr>
          <p:cNvPr id="10" name="Text 5"/>
          <p:cNvSpPr/>
          <p:nvPr/>
        </p:nvSpPr>
        <p:spPr>
          <a:xfrm>
            <a:off x="566928" y="6272784"/>
            <a:ext cx="7315200" cy="274320"/>
          </a:xfrm>
          <a:prstGeom prst="rect">
            <a:avLst/>
          </a:prstGeom>
          <a:noFill/>
          <a:ln/>
        </p:spPr>
        <p:txBody>
          <a:bodyPr wrap="square" lIns="0" tIns="0" rIns="0" bIns="0" rtlCol="0" anchor="ctr"/>
          <a:lstStyle/>
          <a:p>
            <a:pPr indent="0" marL="0">
              <a:buNone/>
            </a:pPr>
            <a:r>
              <a:rPr lang="en-US" sz="900" dirty="0">
                <a:solidFill>
                  <a:srgbClr val="7D8899"/>
                </a:solidFill>
                <a:latin typeface="Calibri" pitchFamily="34" charset="0"/>
                <a:ea typeface="Calibri" pitchFamily="34" charset="-122"/>
                <a:cs typeface="Calibri" pitchFamily="34" charset="-120"/>
              </a:rPr>
              <a:t>UCONN CAD PACK · ASME 2026 Student Hackathon</a:t>
            </a:r>
            <a:endParaRPr lang="en-US" sz="900" dirty="0"/>
          </a:p>
        </p:txBody>
      </p:sp>
      <p:sp>
        <p:nvSpPr>
          <p:cNvPr id="11" name="Text 6"/>
          <p:cNvSpPr/>
          <p:nvPr/>
        </p:nvSpPr>
        <p:spPr>
          <a:xfrm>
            <a:off x="9795967" y="6272784"/>
            <a:ext cx="1828800" cy="274320"/>
          </a:xfrm>
          <a:prstGeom prst="rect">
            <a:avLst/>
          </a:prstGeom>
          <a:noFill/>
          <a:ln/>
        </p:spPr>
        <p:txBody>
          <a:bodyPr wrap="square" lIns="0" tIns="0" rIns="0" bIns="0" rtlCol="0" anchor="ctr"/>
          <a:lstStyle/>
          <a:p>
            <a:pPr algn="r" indent="0" marL="0">
              <a:buNone/>
            </a:pPr>
            <a:r>
              <a:rPr lang="en-US" sz="900" dirty="0">
                <a:solidFill>
                  <a:srgbClr val="7D8899"/>
                </a:solidFill>
                <a:latin typeface="Calibri" pitchFamily="34" charset="0"/>
                <a:ea typeface="Calibri" pitchFamily="34" charset="-122"/>
                <a:cs typeface="Calibri" pitchFamily="34" charset="-120"/>
              </a:rPr>
              <a:t>8 / 13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home/claude/pitch/shots3/logo_hack.png">    </p:cNvPr>
          <p:cNvPicPr>
            <a:picLocks noChangeAspect="1"/>
          </p:cNvPicPr>
          <p:nvPr/>
        </p:nvPicPr>
        <p:blipFill>
          <a:blip r:embed="rId1"/>
          <a:stretch>
            <a:fillRect/>
          </a:stretch>
        </p:blipFill>
        <p:spPr>
          <a:xfrm>
            <a:off x="566928" y="146304"/>
            <a:ext cx="564135" cy="566928"/>
          </a:xfrm>
          <a:prstGeom prst="rect">
            <a:avLst/>
          </a:prstGeom>
        </p:spPr>
      </p:pic>
      <p:sp>
        <p:nvSpPr>
          <p:cNvPr id="3" name="Text 0"/>
          <p:cNvSpPr/>
          <p:nvPr/>
        </p:nvSpPr>
        <p:spPr>
          <a:xfrm>
            <a:off x="1332231" y="201168"/>
            <a:ext cx="5486400" cy="201168"/>
          </a:xfrm>
          <a:prstGeom prst="rect">
            <a:avLst/>
          </a:prstGeom>
          <a:noFill/>
          <a:ln/>
        </p:spPr>
        <p:txBody>
          <a:bodyPr wrap="square" lIns="0" tIns="0" rIns="0" bIns="0" rtlCol="0" anchor="b"/>
          <a:lstStyle/>
          <a:p>
            <a:pPr indent="0" marL="0">
              <a:buNone/>
            </a:pPr>
            <a:r>
              <a:rPr lang="en-US" sz="850" b="1" spc="220" kern="0" dirty="0">
                <a:solidFill>
                  <a:srgbClr val="0E63C4"/>
                </a:solidFill>
                <a:latin typeface="Calibri" pitchFamily="34" charset="0"/>
                <a:ea typeface="Calibri" pitchFamily="34" charset="-122"/>
                <a:cs typeface="Calibri" pitchFamily="34" charset="-120"/>
              </a:rPr>
              <a:t>ASME 2026 STUDENT HACKATHON  ·  NEURALCAD-EDIT</a:t>
            </a:r>
            <a:endParaRPr lang="en-US" sz="850" dirty="0"/>
          </a:p>
        </p:txBody>
      </p:sp>
      <p:sp>
        <p:nvSpPr>
          <p:cNvPr id="4" name="Text 1"/>
          <p:cNvSpPr/>
          <p:nvPr/>
        </p:nvSpPr>
        <p:spPr>
          <a:xfrm>
            <a:off x="1332231" y="411480"/>
            <a:ext cx="5486400" cy="274320"/>
          </a:xfrm>
          <a:prstGeom prst="rect">
            <a:avLst/>
          </a:prstGeom>
          <a:noFill/>
          <a:ln/>
        </p:spPr>
        <p:txBody>
          <a:bodyPr wrap="square" lIns="0" tIns="0" rIns="0" bIns="0" rtlCol="0" anchor="t"/>
          <a:lstStyle/>
          <a:p>
            <a:pPr indent="0" marL="0">
              <a:buNone/>
            </a:pPr>
            <a:r>
              <a:rPr lang="en-US" sz="1400" b="1" dirty="0">
                <a:solidFill>
                  <a:srgbClr val="101722"/>
                </a:solidFill>
                <a:latin typeface="Calibri" pitchFamily="34" charset="0"/>
                <a:ea typeface="Calibri" pitchFamily="34" charset="-122"/>
                <a:cs typeface="Calibri" pitchFamily="34" charset="-120"/>
              </a:rPr>
              <a:t>UCONN CAD PACK</a:t>
            </a:r>
            <a:endParaRPr lang="en-US" sz="1400" dirty="0"/>
          </a:p>
        </p:txBody>
      </p:sp>
      <p:pic>
        <p:nvPicPr>
          <p:cNvPr id="5" name="Image 1" descr="/home/claude/pitch/shots3/logo_uconn.png">    </p:cNvPr>
          <p:cNvPicPr>
            <a:picLocks noChangeAspect="1"/>
          </p:cNvPicPr>
          <p:nvPr/>
        </p:nvPicPr>
        <p:blipFill>
          <a:blip r:embed="rId2"/>
          <a:stretch>
            <a:fillRect/>
          </a:stretch>
        </p:blipFill>
        <p:spPr>
          <a:xfrm>
            <a:off x="9887407" y="237744"/>
            <a:ext cx="1737360" cy="367674"/>
          </a:xfrm>
          <a:prstGeom prst="rect">
            <a:avLst/>
          </a:prstGeom>
        </p:spPr>
      </p:pic>
      <p:sp>
        <p:nvSpPr>
          <p:cNvPr id="6" name="Text 2"/>
          <p:cNvSpPr/>
          <p:nvPr/>
        </p:nvSpPr>
        <p:spPr>
          <a:xfrm>
            <a:off x="566928" y="1097280"/>
            <a:ext cx="11057839" cy="237744"/>
          </a:xfrm>
          <a:prstGeom prst="rect">
            <a:avLst/>
          </a:prstGeom>
          <a:noFill/>
          <a:ln/>
        </p:spPr>
        <p:txBody>
          <a:bodyPr wrap="square" lIns="0" tIns="0" rIns="0" bIns="0" rtlCol="0" anchor="ctr"/>
          <a:lstStyle/>
          <a:p>
            <a:pPr indent="0" marL="0">
              <a:buNone/>
            </a:pPr>
            <a:r>
              <a:rPr lang="en-US" sz="950" b="1" spc="260" kern="0" dirty="0">
                <a:solidFill>
                  <a:srgbClr val="0E63C4"/>
                </a:solidFill>
                <a:latin typeface="Calibri" pitchFamily="34" charset="0"/>
                <a:ea typeface="Calibri" pitchFamily="34" charset="-122"/>
                <a:cs typeface="Calibri" pitchFamily="34" charset="-120"/>
              </a:rPr>
              <a:t>DISTRIBUTION</a:t>
            </a:r>
            <a:endParaRPr lang="en-US" sz="950" dirty="0"/>
          </a:p>
        </p:txBody>
      </p:sp>
      <p:sp>
        <p:nvSpPr>
          <p:cNvPr id="7" name="Text 3"/>
          <p:cNvSpPr/>
          <p:nvPr/>
        </p:nvSpPr>
        <p:spPr>
          <a:xfrm>
            <a:off x="566928" y="1371600"/>
            <a:ext cx="11057839" cy="502920"/>
          </a:xfrm>
          <a:prstGeom prst="rect">
            <a:avLst/>
          </a:prstGeom>
          <a:noFill/>
          <a:ln/>
        </p:spPr>
        <p:txBody>
          <a:bodyPr wrap="square" lIns="0" tIns="0" rIns="0" bIns="0" rtlCol="0" anchor="t"/>
          <a:lstStyle/>
          <a:p>
            <a:pPr indent="0" marL="0">
              <a:buNone/>
            </a:pPr>
            <a:r>
              <a:rPr lang="en-US" sz="2600" b="1" dirty="0">
                <a:solidFill>
                  <a:srgbClr val="101722"/>
                </a:solidFill>
                <a:latin typeface="Calibri" pitchFamily="34" charset="0"/>
                <a:ea typeface="Calibri" pitchFamily="34" charset="-122"/>
                <a:cs typeface="Calibri" pitchFamily="34" charset="-120"/>
              </a:rPr>
              <a:t>A mean can hide everything, so here is every task</a:t>
            </a:r>
            <a:endParaRPr lang="en-US" sz="2600" dirty="0"/>
          </a:p>
        </p:txBody>
      </p:sp>
      <p:pic>
        <p:nvPicPr>
          <p:cNvPr id="8" name="Image 2" descr="/home/claude/pitch/shots4/v4_violin_only.jpg">    </p:cNvPr>
          <p:cNvPicPr>
            <a:picLocks noChangeAspect="1"/>
          </p:cNvPicPr>
          <p:nvPr/>
        </p:nvPicPr>
        <p:blipFill>
          <a:blip r:embed="rId3"/>
          <a:stretch>
            <a:fillRect/>
          </a:stretch>
        </p:blipFill>
        <p:spPr>
          <a:xfrm>
            <a:off x="566928" y="2070694"/>
            <a:ext cx="11057839" cy="3402412"/>
          </a:xfrm>
          <a:prstGeom prst="rect">
            <a:avLst/>
          </a:prstGeom>
        </p:spPr>
      </p:pic>
      <p:sp>
        <p:nvSpPr>
          <p:cNvPr id="9" name="Text 4"/>
          <p:cNvSpPr/>
          <p:nvPr/>
        </p:nvSpPr>
        <p:spPr>
          <a:xfrm>
            <a:off x="566928" y="5564546"/>
            <a:ext cx="11057839" cy="502920"/>
          </a:xfrm>
          <a:prstGeom prst="rect">
            <a:avLst/>
          </a:prstGeom>
          <a:noFill/>
          <a:ln/>
        </p:spPr>
        <p:txBody>
          <a:bodyPr wrap="square" lIns="0" tIns="0" rIns="0" bIns="0" rtlCol="0" anchor="t"/>
          <a:lstStyle/>
          <a:p>
            <a:pPr algn="ctr" indent="0" marL="0">
              <a:lnSpc>
                <a:spcPts val="1400"/>
              </a:lnSpc>
              <a:buNone/>
            </a:pPr>
            <a:r>
              <a:rPr lang="en-US" sz="1000" dirty="0">
                <a:solidFill>
                  <a:srgbClr val="7D8899"/>
                </a:solidFill>
                <a:latin typeface="Calibri" pitchFamily="34" charset="0"/>
                <a:ea typeface="Calibri" pitchFamily="34" charset="-122"/>
                <a:cs typeface="Calibri" pitchFamily="34" charset="-120"/>
              </a:rPr>
              <a:t>One violin per method on the same scale, the dots are the tasks themselves, the box gives the quartiles and median. Captured live from the UCONN CAD PACK dashboard, all 48 tasks scored.</a:t>
            </a:r>
            <a:endParaRPr lang="en-US" sz="1000" dirty="0"/>
          </a:p>
        </p:txBody>
      </p:sp>
      <p:sp>
        <p:nvSpPr>
          <p:cNvPr id="10" name="Text 5"/>
          <p:cNvSpPr/>
          <p:nvPr/>
        </p:nvSpPr>
        <p:spPr>
          <a:xfrm>
            <a:off x="566928" y="6272784"/>
            <a:ext cx="7315200" cy="274320"/>
          </a:xfrm>
          <a:prstGeom prst="rect">
            <a:avLst/>
          </a:prstGeom>
          <a:noFill/>
          <a:ln/>
        </p:spPr>
        <p:txBody>
          <a:bodyPr wrap="square" lIns="0" tIns="0" rIns="0" bIns="0" rtlCol="0" anchor="ctr"/>
          <a:lstStyle/>
          <a:p>
            <a:pPr indent="0" marL="0">
              <a:buNone/>
            </a:pPr>
            <a:r>
              <a:rPr lang="en-US" sz="900" dirty="0">
                <a:solidFill>
                  <a:srgbClr val="7D8899"/>
                </a:solidFill>
                <a:latin typeface="Calibri" pitchFamily="34" charset="0"/>
                <a:ea typeface="Calibri" pitchFamily="34" charset="-122"/>
                <a:cs typeface="Calibri" pitchFamily="34" charset="-120"/>
              </a:rPr>
              <a:t>UCONN CAD PACK · ASME 2026 Student Hackathon</a:t>
            </a:r>
            <a:endParaRPr lang="en-US" sz="900" dirty="0"/>
          </a:p>
        </p:txBody>
      </p:sp>
      <p:sp>
        <p:nvSpPr>
          <p:cNvPr id="11" name="Text 6"/>
          <p:cNvSpPr/>
          <p:nvPr/>
        </p:nvSpPr>
        <p:spPr>
          <a:xfrm>
            <a:off x="9795967" y="6272784"/>
            <a:ext cx="1828800" cy="274320"/>
          </a:xfrm>
          <a:prstGeom prst="rect">
            <a:avLst/>
          </a:prstGeom>
          <a:noFill/>
          <a:ln/>
        </p:spPr>
        <p:txBody>
          <a:bodyPr wrap="square" lIns="0" tIns="0" rIns="0" bIns="0" rtlCol="0" anchor="ctr"/>
          <a:lstStyle/>
          <a:p>
            <a:pPr algn="r" indent="0" marL="0">
              <a:buNone/>
            </a:pPr>
            <a:r>
              <a:rPr lang="en-US" sz="900" dirty="0">
                <a:solidFill>
                  <a:srgbClr val="7D8899"/>
                </a:solidFill>
                <a:latin typeface="Calibri" pitchFamily="34" charset="0"/>
                <a:ea typeface="Calibri" pitchFamily="34" charset="-122"/>
                <a:cs typeface="Calibri" pitchFamily="34" charset="-120"/>
              </a:rPr>
              <a:t>9 / 13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home/claude/pitch/shots3/logo_hack.png">    </p:cNvPr>
          <p:cNvPicPr>
            <a:picLocks noChangeAspect="1"/>
          </p:cNvPicPr>
          <p:nvPr/>
        </p:nvPicPr>
        <p:blipFill>
          <a:blip r:embed="rId1"/>
          <a:stretch>
            <a:fillRect/>
          </a:stretch>
        </p:blipFill>
        <p:spPr>
          <a:xfrm>
            <a:off x="566928" y="146304"/>
            <a:ext cx="564135" cy="566928"/>
          </a:xfrm>
          <a:prstGeom prst="rect">
            <a:avLst/>
          </a:prstGeom>
        </p:spPr>
      </p:pic>
      <p:sp>
        <p:nvSpPr>
          <p:cNvPr id="3" name="Text 0"/>
          <p:cNvSpPr/>
          <p:nvPr/>
        </p:nvSpPr>
        <p:spPr>
          <a:xfrm>
            <a:off x="1332231" y="201168"/>
            <a:ext cx="5486400" cy="201168"/>
          </a:xfrm>
          <a:prstGeom prst="rect">
            <a:avLst/>
          </a:prstGeom>
          <a:noFill/>
          <a:ln/>
        </p:spPr>
        <p:txBody>
          <a:bodyPr wrap="square" lIns="0" tIns="0" rIns="0" bIns="0" rtlCol="0" anchor="b"/>
          <a:lstStyle/>
          <a:p>
            <a:pPr indent="0" marL="0">
              <a:buNone/>
            </a:pPr>
            <a:r>
              <a:rPr lang="en-US" sz="850" b="1" spc="220" kern="0" dirty="0">
                <a:solidFill>
                  <a:srgbClr val="0E63C4"/>
                </a:solidFill>
                <a:latin typeface="Calibri" pitchFamily="34" charset="0"/>
                <a:ea typeface="Calibri" pitchFamily="34" charset="-122"/>
                <a:cs typeface="Calibri" pitchFamily="34" charset="-120"/>
              </a:rPr>
              <a:t>ASME 2026 STUDENT HACKATHON  ·  NEURALCAD-EDIT</a:t>
            </a:r>
            <a:endParaRPr lang="en-US" sz="850" dirty="0"/>
          </a:p>
        </p:txBody>
      </p:sp>
      <p:sp>
        <p:nvSpPr>
          <p:cNvPr id="4" name="Text 1"/>
          <p:cNvSpPr/>
          <p:nvPr/>
        </p:nvSpPr>
        <p:spPr>
          <a:xfrm>
            <a:off x="1332231" y="411480"/>
            <a:ext cx="5486400" cy="274320"/>
          </a:xfrm>
          <a:prstGeom prst="rect">
            <a:avLst/>
          </a:prstGeom>
          <a:noFill/>
          <a:ln/>
        </p:spPr>
        <p:txBody>
          <a:bodyPr wrap="square" lIns="0" tIns="0" rIns="0" bIns="0" rtlCol="0" anchor="t"/>
          <a:lstStyle/>
          <a:p>
            <a:pPr indent="0" marL="0">
              <a:buNone/>
            </a:pPr>
            <a:r>
              <a:rPr lang="en-US" sz="1400" b="1" dirty="0">
                <a:solidFill>
                  <a:srgbClr val="101722"/>
                </a:solidFill>
                <a:latin typeface="Calibri" pitchFamily="34" charset="0"/>
                <a:ea typeface="Calibri" pitchFamily="34" charset="-122"/>
                <a:cs typeface="Calibri" pitchFamily="34" charset="-120"/>
              </a:rPr>
              <a:t>UCONN CAD PACK</a:t>
            </a:r>
            <a:endParaRPr lang="en-US" sz="1400" dirty="0"/>
          </a:p>
        </p:txBody>
      </p:sp>
      <p:pic>
        <p:nvPicPr>
          <p:cNvPr id="5" name="Image 1" descr="/home/claude/pitch/shots3/logo_uconn.png">    </p:cNvPr>
          <p:cNvPicPr>
            <a:picLocks noChangeAspect="1"/>
          </p:cNvPicPr>
          <p:nvPr/>
        </p:nvPicPr>
        <p:blipFill>
          <a:blip r:embed="rId2"/>
          <a:stretch>
            <a:fillRect/>
          </a:stretch>
        </p:blipFill>
        <p:spPr>
          <a:xfrm>
            <a:off x="9887407" y="237744"/>
            <a:ext cx="1737360" cy="367674"/>
          </a:xfrm>
          <a:prstGeom prst="rect">
            <a:avLst/>
          </a:prstGeom>
        </p:spPr>
      </p:pic>
      <p:sp>
        <p:nvSpPr>
          <p:cNvPr id="6" name="Text 2"/>
          <p:cNvSpPr/>
          <p:nvPr/>
        </p:nvSpPr>
        <p:spPr>
          <a:xfrm>
            <a:off x="566928" y="1097280"/>
            <a:ext cx="11057839" cy="237744"/>
          </a:xfrm>
          <a:prstGeom prst="rect">
            <a:avLst/>
          </a:prstGeom>
          <a:noFill/>
          <a:ln/>
        </p:spPr>
        <p:txBody>
          <a:bodyPr wrap="square" lIns="0" tIns="0" rIns="0" bIns="0" rtlCol="0" anchor="ctr"/>
          <a:lstStyle/>
          <a:p>
            <a:pPr indent="0" marL="0">
              <a:buNone/>
            </a:pPr>
            <a:r>
              <a:rPr lang="en-US" sz="950" b="1" spc="260" kern="0" dirty="0">
                <a:solidFill>
                  <a:srgbClr val="0E63C4"/>
                </a:solidFill>
                <a:latin typeface="Calibri" pitchFamily="34" charset="0"/>
                <a:ea typeface="Calibri" pitchFamily="34" charset="-122"/>
                <a:cs typeface="Calibri" pitchFamily="34" charset="-120"/>
              </a:rPr>
              <a:t>BY DIFFICULTY</a:t>
            </a:r>
            <a:endParaRPr lang="en-US" sz="950" dirty="0"/>
          </a:p>
        </p:txBody>
      </p:sp>
      <p:sp>
        <p:nvSpPr>
          <p:cNvPr id="7" name="Text 3"/>
          <p:cNvSpPr/>
          <p:nvPr/>
        </p:nvSpPr>
        <p:spPr>
          <a:xfrm>
            <a:off x="566928" y="1371600"/>
            <a:ext cx="11057839" cy="502920"/>
          </a:xfrm>
          <a:prstGeom prst="rect">
            <a:avLst/>
          </a:prstGeom>
          <a:noFill/>
          <a:ln/>
        </p:spPr>
        <p:txBody>
          <a:bodyPr wrap="square" lIns="0" tIns="0" rIns="0" bIns="0" rtlCol="0" anchor="t"/>
          <a:lstStyle/>
          <a:p>
            <a:pPr indent="0" marL="0">
              <a:buNone/>
            </a:pPr>
            <a:r>
              <a:rPr lang="en-US" sz="2600" b="1" dirty="0">
                <a:solidFill>
                  <a:srgbClr val="101722"/>
                </a:solidFill>
                <a:latin typeface="Calibri" pitchFamily="34" charset="0"/>
                <a:ea typeface="Calibri" pitchFamily="34" charset="-122"/>
                <a:cs typeface="Calibri" pitchFamily="34" charset="-120"/>
              </a:rPr>
              <a:t>The harder the edit, the wider the margin</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2331720"/>
          <a:ext cx="5860655" cy="914400"/>
        </p:xfrm>
        <a:graphic>
          <a:graphicData uri="http://schemas.openxmlformats.org/drawingml/2006/table">
            <a:tbl>
              <a:tblPr/>
              <a:tblGrid>
                <a:gridCol w="2194560"/>
                <a:gridCol w="960120"/>
                <a:gridCol w="1051560"/>
                <a:gridCol w="1234440"/>
              </a:tblGrid>
              <a:tr h="502920">
                <a:tc>
                  <a:txBody>
                    <a:bodyPr/>
                    <a:lstStyle/>
                    <a:p>
                      <a:pPr algn="l" indent="0" marL="0">
                        <a:buNone/>
                      </a:pPr>
                      <a:r>
                        <a:rPr lang="en-US" sz="1000" b="1" dirty="0">
                          <a:solidFill>
                            <a:srgbClr val="7D8899"/>
                          </a:solidFill>
                          <a:latin typeface="Calibri" pitchFamily="34" charset="0"/>
                          <a:ea typeface="Calibri" pitchFamily="34" charset="-122"/>
                          <a:cs typeface="Calibri" pitchFamily="34" charset="-120"/>
                        </a:rPr>
                        <a:t>difficulty</a:t>
                      </a:r>
                      <a:endParaRPr lang="en-US" sz="100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19050" cap="flat" cmpd="sng" algn="ctr">
                      <a:solidFill>
                        <a:srgbClr val="E2E7F0"/>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7D8899"/>
                          </a:solidFill>
                          <a:latin typeface="Calibri" pitchFamily="34" charset="0"/>
                          <a:ea typeface="Calibri" pitchFamily="34" charset="-122"/>
                          <a:cs typeface="Calibri" pitchFamily="34" charset="-120"/>
                        </a:rPr>
                        <a:t>ours</a:t>
                      </a:r>
                      <a:endParaRPr lang="en-US" sz="100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19050" cap="flat" cmpd="sng" algn="ctr">
                      <a:solidFill>
                        <a:srgbClr val="E2E7F0"/>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7D8899"/>
                          </a:solidFill>
                          <a:latin typeface="Calibri" pitchFamily="34" charset="0"/>
                          <a:ea typeface="Calibri" pitchFamily="34" charset="-122"/>
                          <a:cs typeface="Calibri" pitchFamily="34" charset="-120"/>
                        </a:rPr>
                        <a:t>GPT-5.2</a:t>
                      </a:r>
                      <a:endParaRPr lang="en-US" sz="100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19050" cap="flat" cmpd="sng" algn="ctr">
                      <a:solidFill>
                        <a:srgbClr val="E2E7F0"/>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7D8899"/>
                          </a:solidFill>
                          <a:latin typeface="Calibri" pitchFamily="34" charset="0"/>
                          <a:ea typeface="Calibri" pitchFamily="34" charset="-122"/>
                          <a:cs typeface="Calibri" pitchFamily="34" charset="-120"/>
                        </a:rPr>
                        <a:t>2nd human</a:t>
                      </a:r>
                      <a:endParaRPr lang="en-US" sz="100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19050" cap="flat" cmpd="sng" algn="ctr">
                      <a:solidFill>
                        <a:srgbClr val="E2E7F0"/>
                      </a:solidFill>
                      <a:prstDash val="solid"/>
                      <a:round/>
                      <a:headEnd type="none" w="med" len="med"/>
                      <a:tailEnd type="none" w="med" len="med"/>
                    </a:lnB>
                    <a:solidFill>
                      <a:srgbClr val="FFFFFF"/>
                    </a:solidFill>
                  </a:tcPr>
                </a:tc>
              </a:tr>
              <a:tr h="502920">
                <a:tc>
                  <a:txBody>
                    <a:bodyPr/>
                    <a:lstStyle/>
                    <a:p>
                      <a:pPr algn="l" indent="0" marL="0">
                        <a:buNone/>
                      </a:pPr>
                      <a:r>
                        <a:rPr lang="en-US" sz="1400" dirty="0">
                          <a:solidFill>
                            <a:srgbClr val="4C5766"/>
                          </a:solidFill>
                          <a:latin typeface="Calibri" pitchFamily="34" charset="0"/>
                          <a:ea typeface="Calibri" pitchFamily="34" charset="-122"/>
                          <a:cs typeface="Calibri" pitchFamily="34" charset="-120"/>
                        </a:rPr>
                        <a:t>easy · 16 tasks</a:t>
                      </a:r>
                      <a:endParaRPr lang="en-US" sz="140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9525" cap="flat" cmpd="sng" algn="ctr">
                      <a:solidFill>
                        <a:srgbClr val="E2E7F0"/>
                      </a:solidFill>
                      <a:prstDash val="solid"/>
                      <a:round/>
                      <a:headEnd type="none" w="med" len="med"/>
                      <a:tailEnd type="none" w="med" len="med"/>
                    </a:lnB>
                    <a:solidFill>
                      <a:srgbClr val="FFFFFF"/>
                    </a:solidFill>
                  </a:tcPr>
                </a:tc>
                <a:tc>
                  <a:txBody>
                    <a:bodyPr/>
                    <a:lstStyle/>
                    <a:p>
                      <a:pPr algn="r" indent="0" marL="0">
                        <a:buNone/>
                      </a:pPr>
                      <a:r>
                        <a:rPr lang="en-US" sz="1400" dirty="0">
                          <a:solidFill>
                            <a:srgbClr val="4C5766"/>
                          </a:solidFill>
                          <a:latin typeface="Calibri" pitchFamily="34" charset="0"/>
                          <a:ea typeface="Calibri" pitchFamily="34" charset="-122"/>
                          <a:cs typeface="Calibri" pitchFamily="34" charset="-120"/>
                        </a:rPr>
                        <a:t>0.540</a:t>
                      </a:r>
                      <a:endParaRPr lang="en-US" sz="140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9525" cap="flat" cmpd="sng" algn="ctr">
                      <a:solidFill>
                        <a:srgbClr val="E2E7F0"/>
                      </a:solidFill>
                      <a:prstDash val="solid"/>
                      <a:round/>
                      <a:headEnd type="none" w="med" len="med"/>
                      <a:tailEnd type="none" w="med" len="med"/>
                    </a:lnB>
                    <a:solidFill>
                      <a:srgbClr val="FFFFFF"/>
                    </a:solidFill>
                  </a:tcPr>
                </a:tc>
                <a:tc>
                  <a:txBody>
                    <a:bodyPr/>
                    <a:lstStyle/>
                    <a:p>
                      <a:pPr algn="r" indent="0" marL="0">
                        <a:buNone/>
                      </a:pPr>
                      <a:r>
                        <a:rPr lang="en-US" sz="1400" dirty="0">
                          <a:solidFill>
                            <a:srgbClr val="4C5766"/>
                          </a:solidFill>
                          <a:latin typeface="Calibri" pitchFamily="34" charset="0"/>
                          <a:ea typeface="Calibri" pitchFamily="34" charset="-122"/>
                          <a:cs typeface="Calibri" pitchFamily="34" charset="-120"/>
                        </a:rPr>
                        <a:t>0.299</a:t>
                      </a:r>
                      <a:endParaRPr lang="en-US" sz="140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9525" cap="flat" cmpd="sng" algn="ctr">
                      <a:solidFill>
                        <a:srgbClr val="E2E7F0"/>
                      </a:solidFill>
                      <a:prstDash val="solid"/>
                      <a:round/>
                      <a:headEnd type="none" w="med" len="med"/>
                      <a:tailEnd type="none" w="med" len="med"/>
                    </a:lnB>
                    <a:solidFill>
                      <a:srgbClr val="FFFFFF"/>
                    </a:solidFill>
                  </a:tcPr>
                </a:tc>
                <a:tc>
                  <a:txBody>
                    <a:bodyPr/>
                    <a:lstStyle/>
                    <a:p>
                      <a:pPr algn="r" indent="0" marL="0">
                        <a:buNone/>
                      </a:pPr>
                      <a:r>
                        <a:rPr lang="en-US" sz="1400" dirty="0">
                          <a:solidFill>
                            <a:srgbClr val="4C5766"/>
                          </a:solidFill>
                          <a:latin typeface="Calibri" pitchFamily="34" charset="0"/>
                          <a:ea typeface="Calibri" pitchFamily="34" charset="-122"/>
                          <a:cs typeface="Calibri" pitchFamily="34" charset="-120"/>
                        </a:rPr>
                        <a:t>0.867</a:t>
                      </a:r>
                      <a:endParaRPr lang="en-US" sz="140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9525" cap="flat" cmpd="sng" algn="ctr">
                      <a:solidFill>
                        <a:srgbClr val="E2E7F0"/>
                      </a:solidFill>
                      <a:prstDash val="solid"/>
                      <a:round/>
                      <a:headEnd type="none" w="med" len="med"/>
                      <a:tailEnd type="none" w="med" len="med"/>
                    </a:lnB>
                    <a:solidFill>
                      <a:srgbClr val="FFFFFF"/>
                    </a:solidFill>
                  </a:tcPr>
                </a:tc>
              </a:tr>
              <a:tr h="502920">
                <a:tc>
                  <a:txBody>
                    <a:bodyPr/>
                    <a:lstStyle/>
                    <a:p>
                      <a:pPr algn="l" indent="0" marL="0">
                        <a:buNone/>
                      </a:pPr>
                      <a:r>
                        <a:rPr lang="en-US" sz="1400" dirty="0">
                          <a:solidFill>
                            <a:srgbClr val="4C5766"/>
                          </a:solidFill>
                          <a:latin typeface="Calibri" pitchFamily="34" charset="0"/>
                          <a:ea typeface="Calibri" pitchFamily="34" charset="-122"/>
                          <a:cs typeface="Calibri" pitchFamily="34" charset="-120"/>
                        </a:rPr>
                        <a:t>medium · 16 tasks</a:t>
                      </a:r>
                      <a:endParaRPr lang="en-US" sz="140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9525" cap="flat" cmpd="sng" algn="ctr">
                      <a:solidFill>
                        <a:srgbClr val="E2E7F0"/>
                      </a:solidFill>
                      <a:prstDash val="solid"/>
                      <a:round/>
                      <a:headEnd type="none" w="med" len="med"/>
                      <a:tailEnd type="none" w="med" len="med"/>
                    </a:lnB>
                    <a:solidFill>
                      <a:srgbClr val="FFFFFF"/>
                    </a:solidFill>
                  </a:tcPr>
                </a:tc>
                <a:tc>
                  <a:txBody>
                    <a:bodyPr/>
                    <a:lstStyle/>
                    <a:p>
                      <a:pPr algn="r" indent="0" marL="0">
                        <a:buNone/>
                      </a:pPr>
                      <a:r>
                        <a:rPr lang="en-US" sz="1400" dirty="0">
                          <a:solidFill>
                            <a:srgbClr val="4C5766"/>
                          </a:solidFill>
                          <a:latin typeface="Calibri" pitchFamily="34" charset="0"/>
                          <a:ea typeface="Calibri" pitchFamily="34" charset="-122"/>
                          <a:cs typeface="Calibri" pitchFamily="34" charset="-120"/>
                        </a:rPr>
                        <a:t>0.302</a:t>
                      </a:r>
                      <a:endParaRPr lang="en-US" sz="140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9525" cap="flat" cmpd="sng" algn="ctr">
                      <a:solidFill>
                        <a:srgbClr val="E2E7F0"/>
                      </a:solidFill>
                      <a:prstDash val="solid"/>
                      <a:round/>
                      <a:headEnd type="none" w="med" len="med"/>
                      <a:tailEnd type="none" w="med" len="med"/>
                    </a:lnB>
                    <a:solidFill>
                      <a:srgbClr val="FFFFFF"/>
                    </a:solidFill>
                  </a:tcPr>
                </a:tc>
                <a:tc>
                  <a:txBody>
                    <a:bodyPr/>
                    <a:lstStyle/>
                    <a:p>
                      <a:pPr algn="r" indent="0" marL="0">
                        <a:buNone/>
                      </a:pPr>
                      <a:r>
                        <a:rPr lang="en-US" sz="1400" dirty="0">
                          <a:solidFill>
                            <a:srgbClr val="4C5766"/>
                          </a:solidFill>
                          <a:latin typeface="Calibri" pitchFamily="34" charset="0"/>
                          <a:ea typeface="Calibri" pitchFamily="34" charset="-122"/>
                          <a:cs typeface="Calibri" pitchFamily="34" charset="-120"/>
                        </a:rPr>
                        <a:t>0.155</a:t>
                      </a:r>
                      <a:endParaRPr lang="en-US" sz="140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9525" cap="flat" cmpd="sng" algn="ctr">
                      <a:solidFill>
                        <a:srgbClr val="E2E7F0"/>
                      </a:solidFill>
                      <a:prstDash val="solid"/>
                      <a:round/>
                      <a:headEnd type="none" w="med" len="med"/>
                      <a:tailEnd type="none" w="med" len="med"/>
                    </a:lnB>
                    <a:solidFill>
                      <a:srgbClr val="FFFFFF"/>
                    </a:solidFill>
                  </a:tcPr>
                </a:tc>
                <a:tc>
                  <a:txBody>
                    <a:bodyPr/>
                    <a:lstStyle/>
                    <a:p>
                      <a:pPr algn="r" indent="0" marL="0">
                        <a:buNone/>
                      </a:pPr>
                      <a:r>
                        <a:rPr lang="en-US" sz="1400" dirty="0">
                          <a:solidFill>
                            <a:srgbClr val="4C5766"/>
                          </a:solidFill>
                          <a:latin typeface="Calibri" pitchFamily="34" charset="0"/>
                          <a:ea typeface="Calibri" pitchFamily="34" charset="-122"/>
                          <a:cs typeface="Calibri" pitchFamily="34" charset="-120"/>
                        </a:rPr>
                        <a:t>0.422</a:t>
                      </a:r>
                      <a:endParaRPr lang="en-US" sz="140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9525" cap="flat" cmpd="sng" algn="ctr">
                      <a:solidFill>
                        <a:srgbClr val="E2E7F0"/>
                      </a:solidFill>
                      <a:prstDash val="solid"/>
                      <a:round/>
                      <a:headEnd type="none" w="med" len="med"/>
                      <a:tailEnd type="none" w="med" len="med"/>
                    </a:lnB>
                    <a:solidFill>
                      <a:srgbClr val="FFFFFF"/>
                    </a:solidFill>
                  </a:tcPr>
                </a:tc>
              </a:tr>
              <a:tr h="502920">
                <a:tc>
                  <a:txBody>
                    <a:bodyPr/>
                    <a:lstStyle/>
                    <a:p>
                      <a:pPr algn="l" indent="0" marL="0">
                        <a:buNone/>
                      </a:pPr>
                      <a:r>
                        <a:rPr lang="en-US" sz="1400" dirty="0">
                          <a:solidFill>
                            <a:srgbClr val="4C5766"/>
                          </a:solidFill>
                          <a:latin typeface="Calibri" pitchFamily="34" charset="0"/>
                          <a:ea typeface="Calibri" pitchFamily="34" charset="-122"/>
                          <a:cs typeface="Calibri" pitchFamily="34" charset="-120"/>
                        </a:rPr>
                        <a:t>hard · 16 tasks</a:t>
                      </a:r>
                      <a:endParaRPr lang="en-US" sz="140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9525" cap="flat" cmpd="sng" algn="ctr">
                      <a:solidFill>
                        <a:srgbClr val="E2E7F0"/>
                      </a:solidFill>
                      <a:prstDash val="solid"/>
                      <a:round/>
                      <a:headEnd type="none" w="med" len="med"/>
                      <a:tailEnd type="none" w="med" len="med"/>
                    </a:lnB>
                    <a:solidFill>
                      <a:srgbClr val="FFFFFF"/>
                    </a:solidFill>
                  </a:tcPr>
                </a:tc>
                <a:tc>
                  <a:txBody>
                    <a:bodyPr/>
                    <a:lstStyle/>
                    <a:p>
                      <a:pPr algn="r" indent="0" marL="0">
                        <a:buNone/>
                      </a:pPr>
                      <a:r>
                        <a:rPr lang="en-US" sz="1400" dirty="0">
                          <a:solidFill>
                            <a:srgbClr val="4C5766"/>
                          </a:solidFill>
                          <a:latin typeface="Calibri" pitchFamily="34" charset="0"/>
                          <a:ea typeface="Calibri" pitchFamily="34" charset="-122"/>
                          <a:cs typeface="Calibri" pitchFamily="34" charset="-120"/>
                        </a:rPr>
                        <a:t>0.326</a:t>
                      </a:r>
                      <a:endParaRPr lang="en-US" sz="140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9525" cap="flat" cmpd="sng" algn="ctr">
                      <a:solidFill>
                        <a:srgbClr val="E2E7F0"/>
                      </a:solidFill>
                      <a:prstDash val="solid"/>
                      <a:round/>
                      <a:headEnd type="none" w="med" len="med"/>
                      <a:tailEnd type="none" w="med" len="med"/>
                    </a:lnB>
                    <a:solidFill>
                      <a:srgbClr val="FFFFFF"/>
                    </a:solidFill>
                  </a:tcPr>
                </a:tc>
                <a:tc>
                  <a:txBody>
                    <a:bodyPr/>
                    <a:lstStyle/>
                    <a:p>
                      <a:pPr algn="r" indent="0" marL="0">
                        <a:buNone/>
                      </a:pPr>
                      <a:r>
                        <a:rPr lang="en-US" sz="1400" dirty="0">
                          <a:solidFill>
                            <a:srgbClr val="4C5766"/>
                          </a:solidFill>
                          <a:latin typeface="Calibri" pitchFamily="34" charset="0"/>
                          <a:ea typeface="Calibri" pitchFamily="34" charset="-122"/>
                          <a:cs typeface="Calibri" pitchFamily="34" charset="-120"/>
                        </a:rPr>
                        <a:t>0.097</a:t>
                      </a:r>
                      <a:endParaRPr lang="en-US" sz="140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9525" cap="flat" cmpd="sng" algn="ctr">
                      <a:solidFill>
                        <a:srgbClr val="E2E7F0"/>
                      </a:solidFill>
                      <a:prstDash val="solid"/>
                      <a:round/>
                      <a:headEnd type="none" w="med" len="med"/>
                      <a:tailEnd type="none" w="med" len="med"/>
                    </a:lnB>
                    <a:solidFill>
                      <a:srgbClr val="FFFFFF"/>
                    </a:solidFill>
                  </a:tcPr>
                </a:tc>
                <a:tc>
                  <a:txBody>
                    <a:bodyPr/>
                    <a:lstStyle/>
                    <a:p>
                      <a:pPr algn="r" indent="0" marL="0">
                        <a:buNone/>
                      </a:pPr>
                      <a:r>
                        <a:rPr lang="en-US" sz="1400" dirty="0">
                          <a:solidFill>
                            <a:srgbClr val="4C5766"/>
                          </a:solidFill>
                          <a:latin typeface="Calibri" pitchFamily="34" charset="0"/>
                          <a:ea typeface="Calibri" pitchFamily="34" charset="-122"/>
                          <a:cs typeface="Calibri" pitchFamily="34" charset="-120"/>
                        </a:rPr>
                        <a:t>0.497</a:t>
                      </a:r>
                      <a:endParaRPr lang="en-US" sz="140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9525" cap="flat" cmpd="sng" algn="ctr">
                      <a:solidFill>
                        <a:srgbClr val="E2E7F0"/>
                      </a:solidFill>
                      <a:prstDash val="solid"/>
                      <a:round/>
                      <a:headEnd type="none" w="med" len="med"/>
                      <a:tailEnd type="none" w="med" len="med"/>
                    </a:lnB>
                    <a:solidFill>
                      <a:srgbClr val="FFFFFF"/>
                    </a:solidFill>
                  </a:tcPr>
                </a:tc>
              </a:tr>
            </a:tbl>
          </a:graphicData>
        </a:graphic>
      </p:graphicFrame>
      <p:sp>
        <p:nvSpPr>
          <p:cNvPr id="9" name="Shape 4"/>
          <p:cNvSpPr/>
          <p:nvPr/>
        </p:nvSpPr>
        <p:spPr>
          <a:xfrm>
            <a:off x="6921359" y="2383384"/>
            <a:ext cx="77724" cy="77724"/>
          </a:xfrm>
          <a:prstGeom prst="ellipse">
            <a:avLst/>
          </a:prstGeom>
          <a:solidFill>
            <a:srgbClr val="0E63C4"/>
          </a:solidFill>
          <a:ln w="12700">
            <a:solidFill>
              <a:srgbClr val="0E63C4"/>
            </a:solidFill>
            <a:prstDash val="solid"/>
          </a:ln>
        </p:spPr>
      </p:sp>
      <p:sp>
        <p:nvSpPr>
          <p:cNvPr id="10" name="Text 5"/>
          <p:cNvSpPr/>
          <p:nvPr/>
        </p:nvSpPr>
        <p:spPr>
          <a:xfrm>
            <a:off x="7159103" y="2286000"/>
            <a:ext cx="4465664" cy="650748"/>
          </a:xfrm>
          <a:prstGeom prst="rect">
            <a:avLst/>
          </a:prstGeom>
          <a:noFill/>
          <a:ln/>
        </p:spPr>
        <p:txBody>
          <a:bodyPr wrap="square" lIns="0" tIns="0" rIns="0" bIns="0" rtlCol="0" anchor="t"/>
          <a:lstStyle/>
          <a:p>
            <a:pPr indent="0" marL="0">
              <a:lnSpc>
                <a:spcPts val="2100"/>
              </a:lnSpc>
              <a:buNone/>
            </a:pPr>
            <a:r>
              <a:rPr lang="en-US" sz="1500" dirty="0">
                <a:solidFill>
                  <a:srgbClr val="4C5766"/>
                </a:solidFill>
                <a:latin typeface="Calibri" pitchFamily="34" charset="0"/>
                <a:ea typeface="Calibri" pitchFamily="34" charset="-122"/>
                <a:cs typeface="Calibri" pitchFamily="34" charset="-120"/>
              </a:rPr>
              <a:t>Our hard band scores </a:t>
            </a:r>
            <a:pPr indent="0" marL="0">
              <a:lnSpc>
                <a:spcPts val="2100"/>
              </a:lnSpc>
              <a:buNone/>
            </a:pPr>
            <a:r>
              <a:rPr lang="en-US" sz="1500" b="1" dirty="0">
                <a:solidFill>
                  <a:srgbClr val="101722"/>
                </a:solidFill>
                <a:latin typeface="Calibri" pitchFamily="34" charset="0"/>
                <a:ea typeface="Calibri" pitchFamily="34" charset="-122"/>
                <a:cs typeface="Calibri" pitchFamily="34" charset="-120"/>
              </a:rPr>
              <a:t>above</a:t>
            </a:r>
            <a:pPr indent="0" marL="0">
              <a:lnSpc>
                <a:spcPts val="2100"/>
              </a:lnSpc>
              <a:buNone/>
            </a:pPr>
            <a:r>
              <a:rPr lang="en-US" sz="1500" dirty="0">
                <a:solidFill>
                  <a:srgbClr val="4C5766"/>
                </a:solidFill>
                <a:latin typeface="Calibri" pitchFamily="34" charset="0"/>
                <a:ea typeface="Calibri" pitchFamily="34" charset="-122"/>
                <a:cs typeface="Calibri" pitchFamily="34" charset="-120"/>
              </a:rPr>
              <a:t> our medium band, which is the loop doing the work rather than the model</a:t>
            </a:r>
            <a:endParaRPr lang="en-US" sz="1500" dirty="0"/>
          </a:p>
        </p:txBody>
      </p:sp>
      <p:sp>
        <p:nvSpPr>
          <p:cNvPr id="11" name="Shape 6"/>
          <p:cNvSpPr/>
          <p:nvPr/>
        </p:nvSpPr>
        <p:spPr>
          <a:xfrm>
            <a:off x="6921359" y="3070708"/>
            <a:ext cx="77724" cy="77724"/>
          </a:xfrm>
          <a:prstGeom prst="ellipse">
            <a:avLst/>
          </a:prstGeom>
          <a:solidFill>
            <a:srgbClr val="0E63C4"/>
          </a:solidFill>
          <a:ln w="12700">
            <a:solidFill>
              <a:srgbClr val="0E63C4"/>
            </a:solidFill>
            <a:prstDash val="solid"/>
          </a:ln>
        </p:spPr>
      </p:sp>
      <p:sp>
        <p:nvSpPr>
          <p:cNvPr id="12" name="Text 7"/>
          <p:cNvSpPr/>
          <p:nvPr/>
        </p:nvSpPr>
        <p:spPr>
          <a:xfrm>
            <a:off x="7159103" y="2973324"/>
            <a:ext cx="4465664" cy="650748"/>
          </a:xfrm>
          <a:prstGeom prst="rect">
            <a:avLst/>
          </a:prstGeom>
          <a:noFill/>
          <a:ln/>
        </p:spPr>
        <p:txBody>
          <a:bodyPr wrap="square" lIns="0" tIns="0" rIns="0" bIns="0" rtlCol="0" anchor="t"/>
          <a:lstStyle/>
          <a:p>
            <a:pPr indent="0" marL="0">
              <a:lnSpc>
                <a:spcPts val="2100"/>
              </a:lnSpc>
              <a:buNone/>
            </a:pPr>
            <a:r>
              <a:rPr lang="en-US" sz="1500" dirty="0">
                <a:solidFill>
                  <a:srgbClr val="4C5766"/>
                </a:solidFill>
                <a:latin typeface="Calibri" pitchFamily="34" charset="0"/>
                <a:ea typeface="Calibri" pitchFamily="34" charset="-122"/>
                <a:cs typeface="Calibri" pitchFamily="34" charset="-120"/>
              </a:rPr>
              <a:t>On hard edits we hold </a:t>
            </a:r>
            <a:pPr indent="0" marL="0">
              <a:lnSpc>
                <a:spcPts val="2100"/>
              </a:lnSpc>
              <a:buNone/>
            </a:pPr>
            <a:r>
              <a:rPr lang="en-US" sz="1500" b="1" dirty="0">
                <a:solidFill>
                  <a:srgbClr val="101722"/>
                </a:solidFill>
                <a:latin typeface="Calibri" pitchFamily="34" charset="0"/>
                <a:ea typeface="Calibri" pitchFamily="34" charset="-122"/>
                <a:cs typeface="Calibri" pitchFamily="34" charset="-120"/>
              </a:rPr>
              <a:t>0.326</a:t>
            </a:r>
            <a:pPr indent="0" marL="0">
              <a:lnSpc>
                <a:spcPts val="2100"/>
              </a:lnSpc>
              <a:buNone/>
            </a:pPr>
            <a:r>
              <a:rPr lang="en-US" sz="1500" dirty="0">
                <a:solidFill>
                  <a:srgbClr val="4C5766"/>
                </a:solidFill>
                <a:latin typeface="Calibri" pitchFamily="34" charset="0"/>
                <a:ea typeface="Calibri" pitchFamily="34" charset="-122"/>
                <a:cs typeface="Calibri" pitchFamily="34" charset="-120"/>
              </a:rPr>
              <a:t> while the published baseline falls to </a:t>
            </a:r>
            <a:pPr indent="0" marL="0">
              <a:lnSpc>
                <a:spcPts val="2100"/>
              </a:lnSpc>
              <a:buNone/>
            </a:pPr>
            <a:r>
              <a:rPr lang="en-US" sz="1500" b="1" dirty="0">
                <a:solidFill>
                  <a:srgbClr val="101722"/>
                </a:solidFill>
                <a:latin typeface="Calibri" pitchFamily="34" charset="0"/>
                <a:ea typeface="Calibri" pitchFamily="34" charset="-122"/>
                <a:cs typeface="Calibri" pitchFamily="34" charset="-120"/>
              </a:rPr>
              <a:t>0.097</a:t>
            </a:r>
            <a:endParaRPr lang="en-US" sz="1500" dirty="0"/>
          </a:p>
        </p:txBody>
      </p:sp>
      <p:sp>
        <p:nvSpPr>
          <p:cNvPr id="13" name="Shape 8"/>
          <p:cNvSpPr/>
          <p:nvPr/>
        </p:nvSpPr>
        <p:spPr>
          <a:xfrm>
            <a:off x="6921359" y="3758032"/>
            <a:ext cx="77724" cy="77724"/>
          </a:xfrm>
          <a:prstGeom prst="ellipse">
            <a:avLst/>
          </a:prstGeom>
          <a:solidFill>
            <a:srgbClr val="0E63C4"/>
          </a:solidFill>
          <a:ln w="12700">
            <a:solidFill>
              <a:srgbClr val="0E63C4"/>
            </a:solidFill>
            <a:prstDash val="solid"/>
          </a:ln>
        </p:spPr>
      </p:sp>
      <p:sp>
        <p:nvSpPr>
          <p:cNvPr id="14" name="Text 9"/>
          <p:cNvSpPr/>
          <p:nvPr/>
        </p:nvSpPr>
        <p:spPr>
          <a:xfrm>
            <a:off x="7159103" y="3660648"/>
            <a:ext cx="4465664" cy="921258"/>
          </a:xfrm>
          <a:prstGeom prst="rect">
            <a:avLst/>
          </a:prstGeom>
          <a:noFill/>
          <a:ln/>
        </p:spPr>
        <p:txBody>
          <a:bodyPr wrap="square" lIns="0" tIns="0" rIns="0" bIns="0" rtlCol="0" anchor="t"/>
          <a:lstStyle/>
          <a:p>
            <a:pPr indent="0" marL="0">
              <a:lnSpc>
                <a:spcPts val="2100"/>
              </a:lnSpc>
              <a:buNone/>
            </a:pPr>
            <a:r>
              <a:rPr lang="en-US" sz="1500" dirty="0">
                <a:solidFill>
                  <a:srgbClr val="4C5766"/>
                </a:solidFill>
                <a:latin typeface="Calibri" pitchFamily="34" charset="0"/>
                <a:ea typeface="Calibri" pitchFamily="34" charset="-122"/>
                <a:cs typeface="Calibri" pitchFamily="34" charset="-120"/>
              </a:rPr>
              <a:t>5 of the 48 are degenerate: a second human also scores 0.0 on them, so no pipeline change moves them</a:t>
            </a:r>
            <a:endParaRPr lang="en-US" sz="1500" dirty="0"/>
          </a:p>
        </p:txBody>
      </p:sp>
      <p:sp>
        <p:nvSpPr>
          <p:cNvPr id="15" name="Shape 10"/>
          <p:cNvSpPr/>
          <p:nvPr/>
        </p:nvSpPr>
        <p:spPr>
          <a:xfrm>
            <a:off x="6921359" y="4715866"/>
            <a:ext cx="77724" cy="77724"/>
          </a:xfrm>
          <a:prstGeom prst="ellipse">
            <a:avLst/>
          </a:prstGeom>
          <a:solidFill>
            <a:srgbClr val="0E63C4"/>
          </a:solidFill>
          <a:ln w="12700">
            <a:solidFill>
              <a:srgbClr val="0E63C4"/>
            </a:solidFill>
            <a:prstDash val="solid"/>
          </a:ln>
        </p:spPr>
      </p:sp>
      <p:sp>
        <p:nvSpPr>
          <p:cNvPr id="16" name="Text 11"/>
          <p:cNvSpPr/>
          <p:nvPr/>
        </p:nvSpPr>
        <p:spPr>
          <a:xfrm>
            <a:off x="7159103" y="4618482"/>
            <a:ext cx="4465664" cy="650748"/>
          </a:xfrm>
          <a:prstGeom prst="rect">
            <a:avLst/>
          </a:prstGeom>
          <a:noFill/>
          <a:ln/>
        </p:spPr>
        <p:txBody>
          <a:bodyPr wrap="square" lIns="0" tIns="0" rIns="0" bIns="0" rtlCol="0" anchor="t"/>
          <a:lstStyle/>
          <a:p>
            <a:pPr indent="0" marL="0">
              <a:lnSpc>
                <a:spcPts val="2100"/>
              </a:lnSpc>
              <a:buNone/>
            </a:pPr>
            <a:r>
              <a:rPr lang="en-US" sz="1500" dirty="0">
                <a:solidFill>
                  <a:srgbClr val="4C5766"/>
                </a:solidFill>
                <a:latin typeface="Calibri" pitchFamily="34" charset="0"/>
                <a:ea typeface="Calibri" pitchFamily="34" charset="-122"/>
                <a:cs typeface="Calibri" pitchFamily="34" charset="-120"/>
              </a:rPr>
              <a:t>On a separate task the ground truth diff is zero voxels, so </a:t>
            </a:r>
            <a:pPr indent="0" marL="0">
              <a:lnSpc>
                <a:spcPts val="2100"/>
              </a:lnSpc>
              <a:buNone/>
            </a:pPr>
            <a:r>
              <a:rPr lang="en-US" sz="1500" b="1" dirty="0">
                <a:solidFill>
                  <a:srgbClr val="101722"/>
                </a:solidFill>
                <a:latin typeface="Calibri" pitchFamily="34" charset="0"/>
                <a:ea typeface="Calibri" pitchFamily="34" charset="-122"/>
                <a:cs typeface="Calibri" pitchFamily="34" charset="-120"/>
              </a:rPr>
              <a:t>changing nothing scores 1.0</a:t>
            </a:r>
            <a:endParaRPr lang="en-US" sz="1500" dirty="0"/>
          </a:p>
        </p:txBody>
      </p:sp>
      <p:sp>
        <p:nvSpPr>
          <p:cNvPr id="17" name="Text 12"/>
          <p:cNvSpPr/>
          <p:nvPr/>
        </p:nvSpPr>
        <p:spPr>
          <a:xfrm>
            <a:off x="566928" y="6272784"/>
            <a:ext cx="7315200" cy="274320"/>
          </a:xfrm>
          <a:prstGeom prst="rect">
            <a:avLst/>
          </a:prstGeom>
          <a:noFill/>
          <a:ln/>
        </p:spPr>
        <p:txBody>
          <a:bodyPr wrap="square" lIns="0" tIns="0" rIns="0" bIns="0" rtlCol="0" anchor="ctr"/>
          <a:lstStyle/>
          <a:p>
            <a:pPr indent="0" marL="0">
              <a:buNone/>
            </a:pPr>
            <a:r>
              <a:rPr lang="en-US" sz="900" dirty="0">
                <a:solidFill>
                  <a:srgbClr val="7D8899"/>
                </a:solidFill>
                <a:latin typeface="Calibri" pitchFamily="34" charset="0"/>
                <a:ea typeface="Calibri" pitchFamily="34" charset="-122"/>
                <a:cs typeface="Calibri" pitchFamily="34" charset="-120"/>
              </a:rPr>
              <a:t>UCONN CAD PACK · ASME 2026 Student Hackathon</a:t>
            </a:r>
            <a:endParaRPr lang="en-US" sz="900" dirty="0"/>
          </a:p>
        </p:txBody>
      </p:sp>
      <p:sp>
        <p:nvSpPr>
          <p:cNvPr id="18" name="Text 13"/>
          <p:cNvSpPr/>
          <p:nvPr/>
        </p:nvSpPr>
        <p:spPr>
          <a:xfrm>
            <a:off x="9795967" y="6272784"/>
            <a:ext cx="1828800" cy="274320"/>
          </a:xfrm>
          <a:prstGeom prst="rect">
            <a:avLst/>
          </a:prstGeom>
          <a:noFill/>
          <a:ln/>
        </p:spPr>
        <p:txBody>
          <a:bodyPr wrap="square" lIns="0" tIns="0" rIns="0" bIns="0" rtlCol="0" anchor="ctr"/>
          <a:lstStyle/>
          <a:p>
            <a:pPr algn="r" indent="0" marL="0">
              <a:buNone/>
            </a:pPr>
            <a:r>
              <a:rPr lang="en-US" sz="900" dirty="0">
                <a:solidFill>
                  <a:srgbClr val="7D8899"/>
                </a:solidFill>
                <a:latin typeface="Calibri" pitchFamily="34" charset="0"/>
                <a:ea typeface="Calibri" pitchFamily="34" charset="-122"/>
                <a:cs typeface="Calibri" pitchFamily="34" charset="-120"/>
              </a:rPr>
              <a:t>10 / 13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home/claude/pitch/shots3/logo_hack.png">    </p:cNvPr>
          <p:cNvPicPr>
            <a:picLocks noChangeAspect="1"/>
          </p:cNvPicPr>
          <p:nvPr/>
        </p:nvPicPr>
        <p:blipFill>
          <a:blip r:embed="rId1"/>
          <a:stretch>
            <a:fillRect/>
          </a:stretch>
        </p:blipFill>
        <p:spPr>
          <a:xfrm>
            <a:off x="566928" y="146304"/>
            <a:ext cx="564135" cy="566928"/>
          </a:xfrm>
          <a:prstGeom prst="rect">
            <a:avLst/>
          </a:prstGeom>
        </p:spPr>
      </p:pic>
      <p:sp>
        <p:nvSpPr>
          <p:cNvPr id="3" name="Text 0"/>
          <p:cNvSpPr/>
          <p:nvPr/>
        </p:nvSpPr>
        <p:spPr>
          <a:xfrm>
            <a:off x="1332231" y="201168"/>
            <a:ext cx="5486400" cy="201168"/>
          </a:xfrm>
          <a:prstGeom prst="rect">
            <a:avLst/>
          </a:prstGeom>
          <a:noFill/>
          <a:ln/>
        </p:spPr>
        <p:txBody>
          <a:bodyPr wrap="square" lIns="0" tIns="0" rIns="0" bIns="0" rtlCol="0" anchor="b"/>
          <a:lstStyle/>
          <a:p>
            <a:pPr indent="0" marL="0">
              <a:buNone/>
            </a:pPr>
            <a:r>
              <a:rPr lang="en-US" sz="850" b="1" spc="220" kern="0" dirty="0">
                <a:solidFill>
                  <a:srgbClr val="0E63C4"/>
                </a:solidFill>
                <a:latin typeface="Calibri" pitchFamily="34" charset="0"/>
                <a:ea typeface="Calibri" pitchFamily="34" charset="-122"/>
                <a:cs typeface="Calibri" pitchFamily="34" charset="-120"/>
              </a:rPr>
              <a:t>ASME 2026 STUDENT HACKATHON  ·  NEURALCAD-EDIT</a:t>
            </a:r>
            <a:endParaRPr lang="en-US" sz="850" dirty="0"/>
          </a:p>
        </p:txBody>
      </p:sp>
      <p:sp>
        <p:nvSpPr>
          <p:cNvPr id="4" name="Text 1"/>
          <p:cNvSpPr/>
          <p:nvPr/>
        </p:nvSpPr>
        <p:spPr>
          <a:xfrm>
            <a:off x="1332231" y="411480"/>
            <a:ext cx="5486400" cy="274320"/>
          </a:xfrm>
          <a:prstGeom prst="rect">
            <a:avLst/>
          </a:prstGeom>
          <a:noFill/>
          <a:ln/>
        </p:spPr>
        <p:txBody>
          <a:bodyPr wrap="square" lIns="0" tIns="0" rIns="0" bIns="0" rtlCol="0" anchor="t"/>
          <a:lstStyle/>
          <a:p>
            <a:pPr indent="0" marL="0">
              <a:buNone/>
            </a:pPr>
            <a:r>
              <a:rPr lang="en-US" sz="1400" b="1" dirty="0">
                <a:solidFill>
                  <a:srgbClr val="101722"/>
                </a:solidFill>
                <a:latin typeface="Calibri" pitchFamily="34" charset="0"/>
                <a:ea typeface="Calibri" pitchFamily="34" charset="-122"/>
                <a:cs typeface="Calibri" pitchFamily="34" charset="-120"/>
              </a:rPr>
              <a:t>UCONN CAD PACK</a:t>
            </a:r>
            <a:endParaRPr lang="en-US" sz="1400" dirty="0"/>
          </a:p>
        </p:txBody>
      </p:sp>
      <p:pic>
        <p:nvPicPr>
          <p:cNvPr id="5" name="Image 1" descr="/home/claude/pitch/shots3/logo_uconn.png">    </p:cNvPr>
          <p:cNvPicPr>
            <a:picLocks noChangeAspect="1"/>
          </p:cNvPicPr>
          <p:nvPr/>
        </p:nvPicPr>
        <p:blipFill>
          <a:blip r:embed="rId2"/>
          <a:stretch>
            <a:fillRect/>
          </a:stretch>
        </p:blipFill>
        <p:spPr>
          <a:xfrm>
            <a:off x="9887407" y="237744"/>
            <a:ext cx="1737360" cy="367674"/>
          </a:xfrm>
          <a:prstGeom prst="rect">
            <a:avLst/>
          </a:prstGeom>
        </p:spPr>
      </p:pic>
      <p:sp>
        <p:nvSpPr>
          <p:cNvPr id="6" name="Text 2"/>
          <p:cNvSpPr/>
          <p:nvPr/>
        </p:nvSpPr>
        <p:spPr>
          <a:xfrm>
            <a:off x="566928" y="1097280"/>
            <a:ext cx="11057839" cy="237744"/>
          </a:xfrm>
          <a:prstGeom prst="rect">
            <a:avLst/>
          </a:prstGeom>
          <a:noFill/>
          <a:ln/>
        </p:spPr>
        <p:txBody>
          <a:bodyPr wrap="square" lIns="0" tIns="0" rIns="0" bIns="0" rtlCol="0" anchor="ctr"/>
          <a:lstStyle/>
          <a:p>
            <a:pPr indent="0" marL="0">
              <a:buNone/>
            </a:pPr>
            <a:r>
              <a:rPr lang="en-US" sz="950" b="1" spc="260" kern="0" dirty="0">
                <a:solidFill>
                  <a:srgbClr val="0E63C4"/>
                </a:solidFill>
                <a:latin typeface="Calibri" pitchFamily="34" charset="0"/>
                <a:ea typeface="Calibri" pitchFamily="34" charset="-122"/>
                <a:cs typeface="Calibri" pitchFamily="34" charset="-120"/>
              </a:rPr>
              <a:t>DEMO</a:t>
            </a:r>
            <a:endParaRPr lang="en-US" sz="950" dirty="0"/>
          </a:p>
        </p:txBody>
      </p:sp>
      <p:sp>
        <p:nvSpPr>
          <p:cNvPr id="7" name="Text 3"/>
          <p:cNvSpPr/>
          <p:nvPr/>
        </p:nvSpPr>
        <p:spPr>
          <a:xfrm>
            <a:off x="566928" y="1371600"/>
            <a:ext cx="11057839" cy="502920"/>
          </a:xfrm>
          <a:prstGeom prst="rect">
            <a:avLst/>
          </a:prstGeom>
          <a:noFill/>
          <a:ln/>
        </p:spPr>
        <p:txBody>
          <a:bodyPr wrap="square" lIns="0" tIns="0" rIns="0" bIns="0" rtlCol="0" anchor="t"/>
          <a:lstStyle/>
          <a:p>
            <a:pPr indent="0" marL="0">
              <a:buNone/>
            </a:pPr>
            <a:r>
              <a:rPr lang="en-US" sz="2600" b="1" dirty="0">
                <a:solidFill>
                  <a:srgbClr val="101722"/>
                </a:solidFill>
                <a:latin typeface="Calibri" pitchFamily="34" charset="0"/>
                <a:ea typeface="Calibri" pitchFamily="34" charset="-122"/>
                <a:cs typeface="Calibri" pitchFamily="34" charset="-120"/>
              </a:rPr>
              <a:t>45 seconds inside the dashboard</a:t>
            </a:r>
            <a:endParaRPr lang="en-US" sz="2600" dirty="0"/>
          </a:p>
        </p:txBody>
      </p:sp>
      <p:sp>
        <p:nvSpPr>
          <p:cNvPr id="8" name="Text 4"/>
          <p:cNvSpPr/>
          <p:nvPr/>
        </p:nvSpPr>
        <p:spPr>
          <a:xfrm>
            <a:off x="566928" y="1920240"/>
            <a:ext cx="11057839" cy="310896"/>
          </a:xfrm>
          <a:prstGeom prst="rect">
            <a:avLst/>
          </a:prstGeom>
          <a:noFill/>
          <a:ln/>
        </p:spPr>
        <p:txBody>
          <a:bodyPr wrap="square" lIns="0" tIns="0" rIns="0" bIns="0" rtlCol="0" anchor="t"/>
          <a:lstStyle/>
          <a:p>
            <a:pPr indent="0" marL="0">
              <a:buNone/>
            </a:pPr>
            <a:r>
              <a:rPr lang="en-US" sz="1250" dirty="0">
                <a:solidFill>
                  <a:srgbClr val="4C5766"/>
                </a:solidFill>
                <a:latin typeface="Calibri" pitchFamily="34" charset="0"/>
                <a:ea typeface="Calibri" pitchFamily="34" charset="-122"/>
                <a:cs typeface="Calibri" pitchFamily="34" charset="-120"/>
              </a:rPr>
              <a:t>Every tab, one feature each. It runs the real pipeline, not a mock.</a:t>
            </a:r>
            <a:endParaRPr lang="en-US" sz="1250" dirty="0"/>
          </a:p>
        </p:txBody>
      </p:sp>
      <p:sp>
        <p:nvSpPr>
          <p:cNvPr id="9" name="Shape 5"/>
          <p:cNvSpPr/>
          <p:nvPr/>
        </p:nvSpPr>
        <p:spPr>
          <a:xfrm>
            <a:off x="3116189" y="2304288"/>
            <a:ext cx="5959317" cy="3438144"/>
          </a:xfrm>
          <a:prstGeom prst="roundRect">
            <a:avLst>
              <a:gd name="adj" fmla="val 1596"/>
            </a:avLst>
          </a:prstGeom>
          <a:solidFill>
            <a:srgbClr val="0D1620"/>
          </a:solidFill>
          <a:ln w="12700">
            <a:solidFill>
              <a:srgbClr val="E2E7F0"/>
            </a:solidFill>
            <a:prstDash val="solid"/>
          </a:ln>
        </p:spPr>
      </p:sp>
      <p:pic>
        <p:nvPicPr>
          <p:cNvPr id="10" name="Image 2" descr="/home/claude/pitch/figs/v8_demo.gif">    </p:cNvPr>
          <p:cNvPicPr>
            <a:picLocks noChangeAspect="1"/>
          </p:cNvPicPr>
          <p:nvPr/>
        </p:nvPicPr>
        <p:blipFill>
          <a:blip r:embed="rId3"/>
          <a:stretch>
            <a:fillRect/>
          </a:stretch>
        </p:blipFill>
        <p:spPr>
          <a:xfrm>
            <a:off x="3171053" y="2359152"/>
            <a:ext cx="5849589" cy="3328416"/>
          </a:xfrm>
          <a:prstGeom prst="rect">
            <a:avLst/>
          </a:prstGeom>
        </p:spPr>
      </p:pic>
      <p:sp>
        <p:nvSpPr>
          <p:cNvPr id="11" name="Text 6"/>
          <p:cNvSpPr/>
          <p:nvPr/>
        </p:nvSpPr>
        <p:spPr>
          <a:xfrm>
            <a:off x="566928" y="5742432"/>
            <a:ext cx="11057839" cy="402336"/>
          </a:xfrm>
          <a:prstGeom prst="rect">
            <a:avLst/>
          </a:prstGeom>
          <a:noFill/>
          <a:ln/>
        </p:spPr>
        <p:txBody>
          <a:bodyPr wrap="square" lIns="0" tIns="0" rIns="0" bIns="0" rtlCol="0" anchor="t"/>
          <a:lstStyle/>
          <a:p>
            <a:pPr algn="ctr" indent="0" marL="0">
              <a:buNone/>
            </a:pPr>
            <a:r>
              <a:rPr lang="en-US" sz="1000" dirty="0">
                <a:solidFill>
                  <a:srgbClr val="7D8899"/>
                </a:solidFill>
                <a:latin typeface="Calibri" pitchFamily="34" charset="0"/>
                <a:ea typeface="Calibri" pitchFamily="34" charset="-122"/>
                <a:cs typeface="Calibri" pitchFamily="34" charset="-120"/>
              </a:rPr>
              <a:t>Animated capture of the live dashboard. In PowerPoint it plays in slideshow mode; press F5 or Play.</a:t>
            </a:r>
            <a:endParaRPr lang="en-US" sz="1000" dirty="0"/>
          </a:p>
        </p:txBody>
      </p:sp>
      <p:sp>
        <p:nvSpPr>
          <p:cNvPr id="12" name="Text 7"/>
          <p:cNvSpPr/>
          <p:nvPr/>
        </p:nvSpPr>
        <p:spPr>
          <a:xfrm>
            <a:off x="566928" y="6272784"/>
            <a:ext cx="7315200" cy="274320"/>
          </a:xfrm>
          <a:prstGeom prst="rect">
            <a:avLst/>
          </a:prstGeom>
          <a:noFill/>
          <a:ln/>
        </p:spPr>
        <p:txBody>
          <a:bodyPr wrap="square" lIns="0" tIns="0" rIns="0" bIns="0" rtlCol="0" anchor="ctr"/>
          <a:lstStyle/>
          <a:p>
            <a:pPr indent="0" marL="0">
              <a:buNone/>
            </a:pPr>
            <a:r>
              <a:rPr lang="en-US" sz="900" dirty="0">
                <a:solidFill>
                  <a:srgbClr val="7D8899"/>
                </a:solidFill>
                <a:latin typeface="Calibri" pitchFamily="34" charset="0"/>
                <a:ea typeface="Calibri" pitchFamily="34" charset="-122"/>
                <a:cs typeface="Calibri" pitchFamily="34" charset="-120"/>
              </a:rPr>
              <a:t>UCONN CAD PACK · ASME 2026 Student Hackathon</a:t>
            </a:r>
            <a:endParaRPr lang="en-US" sz="900" dirty="0"/>
          </a:p>
        </p:txBody>
      </p:sp>
      <p:sp>
        <p:nvSpPr>
          <p:cNvPr id="13" name="Text 8"/>
          <p:cNvSpPr/>
          <p:nvPr/>
        </p:nvSpPr>
        <p:spPr>
          <a:xfrm>
            <a:off x="9795967" y="6272784"/>
            <a:ext cx="1828800" cy="274320"/>
          </a:xfrm>
          <a:prstGeom prst="rect">
            <a:avLst/>
          </a:prstGeom>
          <a:noFill/>
          <a:ln/>
        </p:spPr>
        <p:txBody>
          <a:bodyPr wrap="square" lIns="0" tIns="0" rIns="0" bIns="0" rtlCol="0" anchor="ctr"/>
          <a:lstStyle/>
          <a:p>
            <a:pPr algn="r" indent="0" marL="0">
              <a:buNone/>
            </a:pPr>
            <a:r>
              <a:rPr lang="en-US" sz="900" dirty="0">
                <a:solidFill>
                  <a:srgbClr val="7D8899"/>
                </a:solidFill>
                <a:latin typeface="Calibri" pitchFamily="34" charset="0"/>
                <a:ea typeface="Calibri" pitchFamily="34" charset="-122"/>
                <a:cs typeface="Calibri" pitchFamily="34" charset="-120"/>
              </a:rPr>
              <a:t>11 / 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home/claude/pitch/shots3/logo_hack.png">    </p:cNvPr>
          <p:cNvPicPr>
            <a:picLocks noChangeAspect="1"/>
          </p:cNvPicPr>
          <p:nvPr/>
        </p:nvPicPr>
        <p:blipFill>
          <a:blip r:embed="rId1"/>
          <a:stretch>
            <a:fillRect/>
          </a:stretch>
        </p:blipFill>
        <p:spPr>
          <a:xfrm>
            <a:off x="566928" y="146304"/>
            <a:ext cx="564135" cy="566928"/>
          </a:xfrm>
          <a:prstGeom prst="rect">
            <a:avLst/>
          </a:prstGeom>
        </p:spPr>
      </p:pic>
      <p:sp>
        <p:nvSpPr>
          <p:cNvPr id="3" name="Text 0"/>
          <p:cNvSpPr/>
          <p:nvPr/>
        </p:nvSpPr>
        <p:spPr>
          <a:xfrm>
            <a:off x="1332231" y="201168"/>
            <a:ext cx="5486400" cy="201168"/>
          </a:xfrm>
          <a:prstGeom prst="rect">
            <a:avLst/>
          </a:prstGeom>
          <a:noFill/>
          <a:ln/>
        </p:spPr>
        <p:txBody>
          <a:bodyPr wrap="square" lIns="0" tIns="0" rIns="0" bIns="0" rtlCol="0" anchor="b"/>
          <a:lstStyle/>
          <a:p>
            <a:pPr indent="0" marL="0">
              <a:buNone/>
            </a:pPr>
            <a:r>
              <a:rPr lang="en-US" sz="850" b="1" spc="220" kern="0" dirty="0">
                <a:solidFill>
                  <a:srgbClr val="0E63C4"/>
                </a:solidFill>
                <a:latin typeface="Calibri" pitchFamily="34" charset="0"/>
                <a:ea typeface="Calibri" pitchFamily="34" charset="-122"/>
                <a:cs typeface="Calibri" pitchFamily="34" charset="-120"/>
              </a:rPr>
              <a:t>ASME 2026 STUDENT HACKATHON  ·  NEURALCAD-EDIT</a:t>
            </a:r>
            <a:endParaRPr lang="en-US" sz="850" dirty="0"/>
          </a:p>
        </p:txBody>
      </p:sp>
      <p:sp>
        <p:nvSpPr>
          <p:cNvPr id="4" name="Text 1"/>
          <p:cNvSpPr/>
          <p:nvPr/>
        </p:nvSpPr>
        <p:spPr>
          <a:xfrm>
            <a:off x="1332231" y="411480"/>
            <a:ext cx="5486400" cy="274320"/>
          </a:xfrm>
          <a:prstGeom prst="rect">
            <a:avLst/>
          </a:prstGeom>
          <a:noFill/>
          <a:ln/>
        </p:spPr>
        <p:txBody>
          <a:bodyPr wrap="square" lIns="0" tIns="0" rIns="0" bIns="0" rtlCol="0" anchor="t"/>
          <a:lstStyle/>
          <a:p>
            <a:pPr indent="0" marL="0">
              <a:buNone/>
            </a:pPr>
            <a:r>
              <a:rPr lang="en-US" sz="1400" b="1" dirty="0">
                <a:solidFill>
                  <a:srgbClr val="101722"/>
                </a:solidFill>
                <a:latin typeface="Calibri" pitchFamily="34" charset="0"/>
                <a:ea typeface="Calibri" pitchFamily="34" charset="-122"/>
                <a:cs typeface="Calibri" pitchFamily="34" charset="-120"/>
              </a:rPr>
              <a:t>UCONN CAD PACK</a:t>
            </a:r>
            <a:endParaRPr lang="en-US" sz="1400" dirty="0"/>
          </a:p>
        </p:txBody>
      </p:sp>
      <p:pic>
        <p:nvPicPr>
          <p:cNvPr id="5" name="Image 1" descr="/home/claude/pitch/shots3/logo_uconn.png">    </p:cNvPr>
          <p:cNvPicPr>
            <a:picLocks noChangeAspect="1"/>
          </p:cNvPicPr>
          <p:nvPr/>
        </p:nvPicPr>
        <p:blipFill>
          <a:blip r:embed="rId2"/>
          <a:stretch>
            <a:fillRect/>
          </a:stretch>
        </p:blipFill>
        <p:spPr>
          <a:xfrm>
            <a:off x="9887407" y="237744"/>
            <a:ext cx="1737360" cy="367674"/>
          </a:xfrm>
          <a:prstGeom prst="rect">
            <a:avLst/>
          </a:prstGeom>
        </p:spPr>
      </p:pic>
      <p:sp>
        <p:nvSpPr>
          <p:cNvPr id="6" name="Text 2"/>
          <p:cNvSpPr/>
          <p:nvPr/>
        </p:nvSpPr>
        <p:spPr>
          <a:xfrm>
            <a:off x="566928" y="1097280"/>
            <a:ext cx="11057839" cy="237744"/>
          </a:xfrm>
          <a:prstGeom prst="rect">
            <a:avLst/>
          </a:prstGeom>
          <a:noFill/>
          <a:ln/>
        </p:spPr>
        <p:txBody>
          <a:bodyPr wrap="square" lIns="0" tIns="0" rIns="0" bIns="0" rtlCol="0" anchor="ctr"/>
          <a:lstStyle/>
          <a:p>
            <a:pPr indent="0" marL="0">
              <a:buNone/>
            </a:pPr>
            <a:r>
              <a:rPr lang="en-US" sz="950" b="1" spc="260" kern="0" dirty="0">
                <a:solidFill>
                  <a:srgbClr val="0E63C4"/>
                </a:solidFill>
                <a:latin typeface="Calibri" pitchFamily="34" charset="0"/>
                <a:ea typeface="Calibri" pitchFamily="34" charset="-122"/>
                <a:cs typeface="Calibri" pitchFamily="34" charset="-120"/>
              </a:rPr>
              <a:t>GIVEN MORE TIME</a:t>
            </a:r>
            <a:endParaRPr lang="en-US" sz="950" dirty="0"/>
          </a:p>
        </p:txBody>
      </p:sp>
      <p:sp>
        <p:nvSpPr>
          <p:cNvPr id="7" name="Text 3"/>
          <p:cNvSpPr/>
          <p:nvPr/>
        </p:nvSpPr>
        <p:spPr>
          <a:xfrm>
            <a:off x="566928" y="1371600"/>
            <a:ext cx="11057839" cy="502920"/>
          </a:xfrm>
          <a:prstGeom prst="rect">
            <a:avLst/>
          </a:prstGeom>
          <a:noFill/>
          <a:ln/>
        </p:spPr>
        <p:txBody>
          <a:bodyPr wrap="square" lIns="0" tIns="0" rIns="0" bIns="0" rtlCol="0" anchor="t"/>
          <a:lstStyle/>
          <a:p>
            <a:pPr indent="0" marL="0">
              <a:buNone/>
            </a:pPr>
            <a:r>
              <a:rPr lang="en-US" sz="2600" b="1" dirty="0">
                <a:solidFill>
                  <a:srgbClr val="101722"/>
                </a:solidFill>
                <a:latin typeface="Calibri" pitchFamily="34" charset="0"/>
                <a:ea typeface="Calibri" pitchFamily="34" charset="-122"/>
                <a:cs typeface="Calibri" pitchFamily="34" charset="-120"/>
              </a:rPr>
              <a:t>What we would test next, in order</a:t>
            </a:r>
            <a:endParaRPr lang="en-US" sz="2600" dirty="0"/>
          </a:p>
        </p:txBody>
      </p:sp>
      <p:sp>
        <p:nvSpPr>
          <p:cNvPr id="8" name="Shape 4"/>
          <p:cNvSpPr/>
          <p:nvPr/>
        </p:nvSpPr>
        <p:spPr>
          <a:xfrm>
            <a:off x="566928" y="2852928"/>
            <a:ext cx="3527450" cy="2377440"/>
          </a:xfrm>
          <a:prstGeom prst="roundRect">
            <a:avLst>
              <a:gd name="adj" fmla="val 3462"/>
            </a:avLst>
          </a:prstGeom>
          <a:solidFill>
            <a:srgbClr val="FFFFFF"/>
          </a:solidFill>
          <a:ln w="12700">
            <a:solidFill>
              <a:srgbClr val="E2E7F0"/>
            </a:solidFill>
            <a:prstDash val="solid"/>
          </a:ln>
        </p:spPr>
      </p:sp>
      <p:sp>
        <p:nvSpPr>
          <p:cNvPr id="9" name="Text 5"/>
          <p:cNvSpPr/>
          <p:nvPr/>
        </p:nvSpPr>
        <p:spPr>
          <a:xfrm>
            <a:off x="731520" y="2999232"/>
            <a:ext cx="3198266" cy="274320"/>
          </a:xfrm>
          <a:prstGeom prst="rect">
            <a:avLst/>
          </a:prstGeom>
          <a:noFill/>
          <a:ln/>
        </p:spPr>
        <p:txBody>
          <a:bodyPr wrap="square" lIns="0" tIns="0" rIns="0" bIns="0" rtlCol="0" anchor="t"/>
          <a:lstStyle/>
          <a:p>
            <a:pPr indent="0" marL="0">
              <a:buNone/>
            </a:pPr>
            <a:r>
              <a:rPr lang="en-US" sz="1350" b="1" dirty="0">
                <a:solidFill>
                  <a:srgbClr val="101722"/>
                </a:solidFill>
                <a:latin typeface="Calibri" pitchFamily="34" charset="0"/>
                <a:ea typeface="Calibri" pitchFamily="34" charset="-122"/>
                <a:cs typeface="Calibri" pitchFamily="34" charset="-120"/>
              </a:rPr>
              <a:t>Fine tune the strategist</a:t>
            </a:r>
            <a:endParaRPr lang="en-US" sz="1350" dirty="0"/>
          </a:p>
        </p:txBody>
      </p:sp>
      <p:sp>
        <p:nvSpPr>
          <p:cNvPr id="10" name="Text 6"/>
          <p:cNvSpPr/>
          <p:nvPr/>
        </p:nvSpPr>
        <p:spPr>
          <a:xfrm>
            <a:off x="731520" y="3273552"/>
            <a:ext cx="3198266" cy="182880"/>
          </a:xfrm>
          <a:prstGeom prst="rect">
            <a:avLst/>
          </a:prstGeom>
          <a:noFill/>
          <a:ln/>
        </p:spPr>
        <p:txBody>
          <a:bodyPr wrap="square" lIns="0" tIns="0" rIns="0" bIns="0" rtlCol="0" anchor="t"/>
          <a:lstStyle/>
          <a:p>
            <a:pPr indent="0" marL="0">
              <a:buNone/>
            </a:pPr>
            <a:r>
              <a:rPr lang="en-US" sz="750" b="1" spc="160" kern="0" dirty="0">
                <a:solidFill>
                  <a:srgbClr val="0E63C4"/>
                </a:solidFill>
                <a:latin typeface="Calibri" pitchFamily="34" charset="0"/>
                <a:ea typeface="Calibri" pitchFamily="34" charset="-122"/>
                <a:cs typeface="Calibri" pitchFamily="34" charset="-120"/>
              </a:rPr>
              <a:t>PLANNING IS WHERE THE LOSS IS</a:t>
            </a:r>
            <a:endParaRPr lang="en-US" sz="750" dirty="0"/>
          </a:p>
        </p:txBody>
      </p:sp>
      <p:sp>
        <p:nvSpPr>
          <p:cNvPr id="11" name="Text 7"/>
          <p:cNvSpPr/>
          <p:nvPr/>
        </p:nvSpPr>
        <p:spPr>
          <a:xfrm>
            <a:off x="731520" y="3474720"/>
            <a:ext cx="3198266" cy="1627632"/>
          </a:xfrm>
          <a:prstGeom prst="rect">
            <a:avLst/>
          </a:prstGeom>
          <a:noFill/>
          <a:ln/>
        </p:spPr>
        <p:txBody>
          <a:bodyPr wrap="square" lIns="0" tIns="0" rIns="0" bIns="0" rtlCol="0" anchor="t"/>
          <a:lstStyle/>
          <a:p>
            <a:pPr indent="0" marL="0">
              <a:lnSpc>
                <a:spcPts val="1500"/>
              </a:lnSpc>
              <a:buNone/>
            </a:pPr>
            <a:r>
              <a:rPr lang="en-US" sz="1100" dirty="0">
                <a:solidFill>
                  <a:srgbClr val="4C5766"/>
                </a:solidFill>
                <a:latin typeface="Calibri" pitchFamily="34" charset="0"/>
                <a:ea typeface="Calibri" pitchFamily="34" charset="-122"/>
                <a:cs typeface="Calibri" pitchFamily="34" charset="-120"/>
              </a:rPr>
              <a:t>QA checks the build against the sub-goal, so a faithful build of a wrong plan is invisible to it. We found Fusion derived CAD datasets that clean up into plan supervision.</a:t>
            </a:r>
            <a:endParaRPr lang="en-US" sz="1100" dirty="0"/>
          </a:p>
        </p:txBody>
      </p:sp>
      <p:sp>
        <p:nvSpPr>
          <p:cNvPr id="12" name="Shape 8"/>
          <p:cNvSpPr/>
          <p:nvPr/>
        </p:nvSpPr>
        <p:spPr>
          <a:xfrm>
            <a:off x="4332122" y="2852928"/>
            <a:ext cx="3527450" cy="2377440"/>
          </a:xfrm>
          <a:prstGeom prst="roundRect">
            <a:avLst>
              <a:gd name="adj" fmla="val 3462"/>
            </a:avLst>
          </a:prstGeom>
          <a:solidFill>
            <a:srgbClr val="FFFFFF"/>
          </a:solidFill>
          <a:ln w="12700">
            <a:solidFill>
              <a:srgbClr val="E2E7F0"/>
            </a:solidFill>
            <a:prstDash val="solid"/>
          </a:ln>
        </p:spPr>
      </p:sp>
      <p:sp>
        <p:nvSpPr>
          <p:cNvPr id="13" name="Text 9"/>
          <p:cNvSpPr/>
          <p:nvPr/>
        </p:nvSpPr>
        <p:spPr>
          <a:xfrm>
            <a:off x="4496714" y="2999232"/>
            <a:ext cx="3198266" cy="274320"/>
          </a:xfrm>
          <a:prstGeom prst="rect">
            <a:avLst/>
          </a:prstGeom>
          <a:noFill/>
          <a:ln/>
        </p:spPr>
        <p:txBody>
          <a:bodyPr wrap="square" lIns="0" tIns="0" rIns="0" bIns="0" rtlCol="0" anchor="t"/>
          <a:lstStyle/>
          <a:p>
            <a:pPr indent="0" marL="0">
              <a:buNone/>
            </a:pPr>
            <a:r>
              <a:rPr lang="en-US" sz="1350" b="1" dirty="0">
                <a:solidFill>
                  <a:srgbClr val="101722"/>
                </a:solidFill>
                <a:latin typeface="Calibri" pitchFamily="34" charset="0"/>
                <a:ea typeface="Calibri" pitchFamily="34" charset="-122"/>
                <a:cs typeface="Calibri" pitchFamily="34" charset="-120"/>
              </a:rPr>
              <a:t>A mixture of experts in the executor</a:t>
            </a:r>
            <a:endParaRPr lang="en-US" sz="1350" dirty="0"/>
          </a:p>
        </p:txBody>
      </p:sp>
      <p:sp>
        <p:nvSpPr>
          <p:cNvPr id="14" name="Text 10"/>
          <p:cNvSpPr/>
          <p:nvPr/>
        </p:nvSpPr>
        <p:spPr>
          <a:xfrm>
            <a:off x="4496714" y="3273552"/>
            <a:ext cx="3198266" cy="182880"/>
          </a:xfrm>
          <a:prstGeom prst="rect">
            <a:avLst/>
          </a:prstGeom>
          <a:noFill/>
          <a:ln/>
        </p:spPr>
        <p:txBody>
          <a:bodyPr wrap="square" lIns="0" tIns="0" rIns="0" bIns="0" rtlCol="0" anchor="t"/>
          <a:lstStyle/>
          <a:p>
            <a:pPr indent="0" marL="0">
              <a:buNone/>
            </a:pPr>
            <a:r>
              <a:rPr lang="en-US" sz="750" b="1" spc="160" kern="0" dirty="0">
                <a:solidFill>
                  <a:srgbClr val="0E63C4"/>
                </a:solidFill>
                <a:latin typeface="Calibri" pitchFamily="34" charset="0"/>
                <a:ea typeface="Calibri" pitchFamily="34" charset="-122"/>
                <a:cs typeface="Calibri" pitchFamily="34" charset="-120"/>
              </a:rPr>
              <a:t>MORE CANDIDATES TO CHOOSE FROM</a:t>
            </a:r>
            <a:endParaRPr lang="en-US" sz="750" dirty="0"/>
          </a:p>
        </p:txBody>
      </p:sp>
      <p:sp>
        <p:nvSpPr>
          <p:cNvPr id="15" name="Text 11"/>
          <p:cNvSpPr/>
          <p:nvPr/>
        </p:nvSpPr>
        <p:spPr>
          <a:xfrm>
            <a:off x="4496714" y="3474720"/>
            <a:ext cx="3198266" cy="1627632"/>
          </a:xfrm>
          <a:prstGeom prst="rect">
            <a:avLst/>
          </a:prstGeom>
          <a:noFill/>
          <a:ln/>
        </p:spPr>
        <p:txBody>
          <a:bodyPr wrap="square" lIns="0" tIns="0" rIns="0" bIns="0" rtlCol="0" anchor="t"/>
          <a:lstStyle/>
          <a:p>
            <a:pPr indent="0" marL="0">
              <a:lnSpc>
                <a:spcPts val="1500"/>
              </a:lnSpc>
              <a:buNone/>
            </a:pPr>
            <a:r>
              <a:rPr lang="en-US" sz="1100" dirty="0">
                <a:solidFill>
                  <a:srgbClr val="4C5766"/>
                </a:solidFill>
                <a:latin typeface="Calibri" pitchFamily="34" charset="0"/>
                <a:ea typeface="Calibri" pitchFamily="34" charset="-122"/>
                <a:cs typeface="Calibri" pitchFamily="34" charset="-120"/>
              </a:rPr>
              <a:t>A second vision capable model generating alongside gpt-5.2, then choosing between them. The only blocker is that every role shares one endpoint today, and a routing proxy fixes that.</a:t>
            </a:r>
            <a:endParaRPr lang="en-US" sz="1100" dirty="0"/>
          </a:p>
        </p:txBody>
      </p:sp>
      <p:sp>
        <p:nvSpPr>
          <p:cNvPr id="16" name="Shape 12"/>
          <p:cNvSpPr/>
          <p:nvPr/>
        </p:nvSpPr>
        <p:spPr>
          <a:xfrm>
            <a:off x="8097317" y="2852928"/>
            <a:ext cx="3527450" cy="2377440"/>
          </a:xfrm>
          <a:prstGeom prst="roundRect">
            <a:avLst>
              <a:gd name="adj" fmla="val 3462"/>
            </a:avLst>
          </a:prstGeom>
          <a:solidFill>
            <a:srgbClr val="FFFFFF"/>
          </a:solidFill>
          <a:ln w="12700">
            <a:solidFill>
              <a:srgbClr val="E2E7F0"/>
            </a:solidFill>
            <a:prstDash val="solid"/>
          </a:ln>
        </p:spPr>
      </p:sp>
      <p:sp>
        <p:nvSpPr>
          <p:cNvPr id="17" name="Text 13"/>
          <p:cNvSpPr/>
          <p:nvPr/>
        </p:nvSpPr>
        <p:spPr>
          <a:xfrm>
            <a:off x="8261909" y="2999232"/>
            <a:ext cx="3198266" cy="274320"/>
          </a:xfrm>
          <a:prstGeom prst="rect">
            <a:avLst/>
          </a:prstGeom>
          <a:noFill/>
          <a:ln/>
        </p:spPr>
        <p:txBody>
          <a:bodyPr wrap="square" lIns="0" tIns="0" rIns="0" bIns="0" rtlCol="0" anchor="t"/>
          <a:lstStyle/>
          <a:p>
            <a:pPr indent="0" marL="0">
              <a:buNone/>
            </a:pPr>
            <a:r>
              <a:rPr lang="en-US" sz="1350" b="1" dirty="0">
                <a:solidFill>
                  <a:srgbClr val="101722"/>
                </a:solidFill>
                <a:latin typeface="Calibri" pitchFamily="34" charset="0"/>
                <a:ea typeface="Calibri" pitchFamily="34" charset="-122"/>
                <a:cs typeface="Calibri" pitchFamily="34" charset="-120"/>
              </a:rPr>
              <a:t>Finish the selector</a:t>
            </a:r>
            <a:endParaRPr lang="en-US" sz="1350" dirty="0"/>
          </a:p>
        </p:txBody>
      </p:sp>
      <p:sp>
        <p:nvSpPr>
          <p:cNvPr id="18" name="Text 14"/>
          <p:cNvSpPr/>
          <p:nvPr/>
        </p:nvSpPr>
        <p:spPr>
          <a:xfrm>
            <a:off x="8261909" y="3273552"/>
            <a:ext cx="3198266" cy="182880"/>
          </a:xfrm>
          <a:prstGeom prst="rect">
            <a:avLst/>
          </a:prstGeom>
          <a:noFill/>
          <a:ln/>
        </p:spPr>
        <p:txBody>
          <a:bodyPr wrap="square" lIns="0" tIns="0" rIns="0" bIns="0" rtlCol="0" anchor="t"/>
          <a:lstStyle/>
          <a:p>
            <a:pPr indent="0" marL="0">
              <a:buNone/>
            </a:pPr>
            <a:r>
              <a:rPr lang="en-US" sz="750" b="1" spc="160" kern="0" dirty="0">
                <a:solidFill>
                  <a:srgbClr val="0E63C4"/>
                </a:solidFill>
                <a:latin typeface="Calibri" pitchFamily="34" charset="0"/>
                <a:ea typeface="Calibri" pitchFamily="34" charset="-122"/>
                <a:cs typeface="Calibri" pitchFamily="34" charset="-120"/>
              </a:rPr>
              <a:t>ALREADY PROTOTYPED</a:t>
            </a:r>
            <a:endParaRPr lang="en-US" sz="750" dirty="0"/>
          </a:p>
        </p:txBody>
      </p:sp>
      <p:sp>
        <p:nvSpPr>
          <p:cNvPr id="19" name="Text 15"/>
          <p:cNvSpPr/>
          <p:nvPr/>
        </p:nvSpPr>
        <p:spPr>
          <a:xfrm>
            <a:off x="8261909" y="3474720"/>
            <a:ext cx="3198266" cy="1627632"/>
          </a:xfrm>
          <a:prstGeom prst="rect">
            <a:avLst/>
          </a:prstGeom>
          <a:noFill/>
          <a:ln/>
        </p:spPr>
        <p:txBody>
          <a:bodyPr wrap="square" lIns="0" tIns="0" rIns="0" bIns="0" rtlCol="0" anchor="t"/>
          <a:lstStyle/>
          <a:p>
            <a:pPr indent="0" marL="0">
              <a:lnSpc>
                <a:spcPts val="1500"/>
              </a:lnSpc>
              <a:buNone/>
            </a:pPr>
            <a:r>
              <a:rPr lang="en-US" sz="1100" dirty="0">
                <a:solidFill>
                  <a:srgbClr val="4C5766"/>
                </a:solidFill>
                <a:latin typeface="Calibri" pitchFamily="34" charset="0"/>
                <a:ea typeface="Calibri" pitchFamily="34" charset="-122"/>
                <a:cs typeface="Calibri" pitchFamily="34" charset="-120"/>
              </a:rPr>
              <a:t>Pick the candidate that agrees most with the others. The kernel is already verified against the benchmark's own metric, and it needs at least three distinct candidates, which is exactly what a second expert provides.</a:t>
            </a:r>
            <a:endParaRPr lang="en-US" sz="1100" dirty="0"/>
          </a:p>
        </p:txBody>
      </p:sp>
      <p:sp>
        <p:nvSpPr>
          <p:cNvPr id="20" name="Text 16"/>
          <p:cNvSpPr/>
          <p:nvPr/>
        </p:nvSpPr>
        <p:spPr>
          <a:xfrm>
            <a:off x="566928" y="6272784"/>
            <a:ext cx="7315200" cy="274320"/>
          </a:xfrm>
          <a:prstGeom prst="rect">
            <a:avLst/>
          </a:prstGeom>
          <a:noFill/>
          <a:ln/>
        </p:spPr>
        <p:txBody>
          <a:bodyPr wrap="square" lIns="0" tIns="0" rIns="0" bIns="0" rtlCol="0" anchor="ctr"/>
          <a:lstStyle/>
          <a:p>
            <a:pPr indent="0" marL="0">
              <a:buNone/>
            </a:pPr>
            <a:r>
              <a:rPr lang="en-US" sz="900" dirty="0">
                <a:solidFill>
                  <a:srgbClr val="7D8899"/>
                </a:solidFill>
                <a:latin typeface="Calibri" pitchFamily="34" charset="0"/>
                <a:ea typeface="Calibri" pitchFamily="34" charset="-122"/>
                <a:cs typeface="Calibri" pitchFamily="34" charset="-120"/>
              </a:rPr>
              <a:t>UCONN CAD PACK · ASME 2026 Student Hackathon</a:t>
            </a:r>
            <a:endParaRPr lang="en-US" sz="900" dirty="0"/>
          </a:p>
        </p:txBody>
      </p:sp>
      <p:sp>
        <p:nvSpPr>
          <p:cNvPr id="21" name="Text 17"/>
          <p:cNvSpPr/>
          <p:nvPr/>
        </p:nvSpPr>
        <p:spPr>
          <a:xfrm>
            <a:off x="9795967" y="6272784"/>
            <a:ext cx="1828800" cy="274320"/>
          </a:xfrm>
          <a:prstGeom prst="rect">
            <a:avLst/>
          </a:prstGeom>
          <a:noFill/>
          <a:ln/>
        </p:spPr>
        <p:txBody>
          <a:bodyPr wrap="square" lIns="0" tIns="0" rIns="0" bIns="0" rtlCol="0" anchor="ctr"/>
          <a:lstStyle/>
          <a:p>
            <a:pPr algn="r" indent="0" marL="0">
              <a:buNone/>
            </a:pPr>
            <a:r>
              <a:rPr lang="en-US" sz="900" dirty="0">
                <a:solidFill>
                  <a:srgbClr val="7D8899"/>
                </a:solidFill>
                <a:latin typeface="Calibri" pitchFamily="34" charset="0"/>
                <a:ea typeface="Calibri" pitchFamily="34" charset="-122"/>
                <a:cs typeface="Calibri" pitchFamily="34" charset="-120"/>
              </a:rPr>
              <a:t>12 / 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home/claude/pitch/shots3/logo_hack.png">    </p:cNvPr>
          <p:cNvPicPr>
            <a:picLocks noChangeAspect="1"/>
          </p:cNvPicPr>
          <p:nvPr/>
        </p:nvPicPr>
        <p:blipFill>
          <a:blip r:embed="rId1"/>
          <a:stretch>
            <a:fillRect/>
          </a:stretch>
        </p:blipFill>
        <p:spPr>
          <a:xfrm>
            <a:off x="566928" y="146304"/>
            <a:ext cx="564135" cy="566928"/>
          </a:xfrm>
          <a:prstGeom prst="rect">
            <a:avLst/>
          </a:prstGeom>
        </p:spPr>
      </p:pic>
      <p:sp>
        <p:nvSpPr>
          <p:cNvPr id="3" name="Text 0"/>
          <p:cNvSpPr/>
          <p:nvPr/>
        </p:nvSpPr>
        <p:spPr>
          <a:xfrm>
            <a:off x="1332231" y="201168"/>
            <a:ext cx="5486400" cy="201168"/>
          </a:xfrm>
          <a:prstGeom prst="rect">
            <a:avLst/>
          </a:prstGeom>
          <a:noFill/>
          <a:ln/>
        </p:spPr>
        <p:txBody>
          <a:bodyPr wrap="square" lIns="0" tIns="0" rIns="0" bIns="0" rtlCol="0" anchor="b"/>
          <a:lstStyle/>
          <a:p>
            <a:pPr indent="0" marL="0">
              <a:buNone/>
            </a:pPr>
            <a:r>
              <a:rPr lang="en-US" sz="850" b="1" spc="220" kern="0" dirty="0">
                <a:solidFill>
                  <a:srgbClr val="0E63C4"/>
                </a:solidFill>
                <a:latin typeface="Calibri" pitchFamily="34" charset="0"/>
                <a:ea typeface="Calibri" pitchFamily="34" charset="-122"/>
                <a:cs typeface="Calibri" pitchFamily="34" charset="-120"/>
              </a:rPr>
              <a:t>ASME 2026 STUDENT HACKATHON  ·  NEURALCAD-EDIT</a:t>
            </a:r>
            <a:endParaRPr lang="en-US" sz="850" dirty="0"/>
          </a:p>
        </p:txBody>
      </p:sp>
      <p:sp>
        <p:nvSpPr>
          <p:cNvPr id="4" name="Text 1"/>
          <p:cNvSpPr/>
          <p:nvPr/>
        </p:nvSpPr>
        <p:spPr>
          <a:xfrm>
            <a:off x="1332231" y="411480"/>
            <a:ext cx="5486400" cy="274320"/>
          </a:xfrm>
          <a:prstGeom prst="rect">
            <a:avLst/>
          </a:prstGeom>
          <a:noFill/>
          <a:ln/>
        </p:spPr>
        <p:txBody>
          <a:bodyPr wrap="square" lIns="0" tIns="0" rIns="0" bIns="0" rtlCol="0" anchor="t"/>
          <a:lstStyle/>
          <a:p>
            <a:pPr indent="0" marL="0">
              <a:buNone/>
            </a:pPr>
            <a:r>
              <a:rPr lang="en-US" sz="1400" b="1" dirty="0">
                <a:solidFill>
                  <a:srgbClr val="101722"/>
                </a:solidFill>
                <a:latin typeface="Calibri" pitchFamily="34" charset="0"/>
                <a:ea typeface="Calibri" pitchFamily="34" charset="-122"/>
                <a:cs typeface="Calibri" pitchFamily="34" charset="-120"/>
              </a:rPr>
              <a:t>UCONN CAD PACK</a:t>
            </a:r>
            <a:endParaRPr lang="en-US" sz="1400" dirty="0"/>
          </a:p>
        </p:txBody>
      </p:sp>
      <p:pic>
        <p:nvPicPr>
          <p:cNvPr id="5" name="Image 1" descr="/home/claude/pitch/shots3/logo_uconn.png">    </p:cNvPr>
          <p:cNvPicPr>
            <a:picLocks noChangeAspect="1"/>
          </p:cNvPicPr>
          <p:nvPr/>
        </p:nvPicPr>
        <p:blipFill>
          <a:blip r:embed="rId2"/>
          <a:stretch>
            <a:fillRect/>
          </a:stretch>
        </p:blipFill>
        <p:spPr>
          <a:xfrm>
            <a:off x="9887407" y="237744"/>
            <a:ext cx="1737360" cy="367674"/>
          </a:xfrm>
          <a:prstGeom prst="rect">
            <a:avLst/>
          </a:prstGeom>
        </p:spPr>
      </p:pic>
      <p:sp>
        <p:nvSpPr>
          <p:cNvPr id="6" name="Text 2"/>
          <p:cNvSpPr/>
          <p:nvPr/>
        </p:nvSpPr>
        <p:spPr>
          <a:xfrm>
            <a:off x="566928" y="2148840"/>
            <a:ext cx="6634704" cy="1371600"/>
          </a:xfrm>
          <a:prstGeom prst="rect">
            <a:avLst/>
          </a:prstGeom>
          <a:noFill/>
          <a:ln/>
        </p:spPr>
        <p:txBody>
          <a:bodyPr wrap="square" lIns="0" tIns="0" rIns="0" bIns="0" rtlCol="0" anchor="ctr"/>
          <a:lstStyle/>
          <a:p>
            <a:pPr indent="0" marL="0">
              <a:buNone/>
            </a:pPr>
            <a:r>
              <a:rPr lang="en-US" sz="7000" b="1" dirty="0">
                <a:solidFill>
                  <a:srgbClr val="101722"/>
                </a:solidFill>
                <a:latin typeface="Calibri" pitchFamily="34" charset="0"/>
                <a:ea typeface="Calibri" pitchFamily="34" charset="-122"/>
                <a:cs typeface="Calibri" pitchFamily="34" charset="-120"/>
              </a:rPr>
              <a:t>Thank you</a:t>
            </a:r>
            <a:endParaRPr lang="en-US" sz="7000" dirty="0"/>
          </a:p>
        </p:txBody>
      </p:sp>
      <p:sp>
        <p:nvSpPr>
          <p:cNvPr id="7" name="Text 3"/>
          <p:cNvSpPr/>
          <p:nvPr/>
        </p:nvSpPr>
        <p:spPr>
          <a:xfrm>
            <a:off x="566928" y="3611880"/>
            <a:ext cx="6634704" cy="822960"/>
          </a:xfrm>
          <a:prstGeom prst="rect">
            <a:avLst/>
          </a:prstGeom>
          <a:noFill/>
          <a:ln/>
        </p:spPr>
        <p:txBody>
          <a:bodyPr wrap="square" lIns="0" tIns="0" rIns="0" bIns="0" rtlCol="0" anchor="t"/>
          <a:lstStyle/>
          <a:p>
            <a:pPr indent="0" marL="0">
              <a:lnSpc>
                <a:spcPts val="2200"/>
              </a:lnSpc>
              <a:buNone/>
            </a:pPr>
            <a:r>
              <a:rPr lang="en-US" sz="1400" dirty="0">
                <a:solidFill>
                  <a:srgbClr val="4C5766"/>
                </a:solidFill>
                <a:latin typeface="Calibri" pitchFamily="34" charset="0"/>
                <a:ea typeface="Calibri" pitchFamily="34" charset="-122"/>
                <a:cs typeface="Calibri" pitchFamily="34" charset="-120"/>
              </a:rPr>
              <a:t>Everything on these slides is live and open: the dashboard, the handoff pack, the code and the scores.</a:t>
            </a:r>
            <a:endParaRPr lang="en-US" sz="1400" dirty="0"/>
          </a:p>
        </p:txBody>
      </p:sp>
      <p:sp>
        <p:nvSpPr>
          <p:cNvPr id="8" name="Shape 4"/>
          <p:cNvSpPr/>
          <p:nvPr/>
        </p:nvSpPr>
        <p:spPr>
          <a:xfrm>
            <a:off x="566928" y="4526280"/>
            <a:ext cx="5852160" cy="868680"/>
          </a:xfrm>
          <a:prstGeom prst="roundRect">
            <a:avLst>
              <a:gd name="adj" fmla="val 8421"/>
            </a:avLst>
          </a:prstGeom>
          <a:solidFill>
            <a:srgbClr val="FFFFFF"/>
          </a:solidFill>
          <a:ln w="12700">
            <a:solidFill>
              <a:srgbClr val="E2E7F0"/>
            </a:solidFill>
            <a:prstDash val="solid"/>
          </a:ln>
        </p:spPr>
      </p:sp>
      <p:sp>
        <p:nvSpPr>
          <p:cNvPr id="9" name="Text 5"/>
          <p:cNvSpPr/>
          <p:nvPr/>
        </p:nvSpPr>
        <p:spPr>
          <a:xfrm>
            <a:off x="749808" y="4626864"/>
            <a:ext cx="5394960" cy="219456"/>
          </a:xfrm>
          <a:prstGeom prst="rect">
            <a:avLst/>
          </a:prstGeom>
          <a:noFill/>
          <a:ln/>
        </p:spPr>
        <p:txBody>
          <a:bodyPr wrap="square" lIns="0" tIns="0" rIns="0" bIns="0" rtlCol="0" anchor="t"/>
          <a:lstStyle/>
          <a:p>
            <a:pPr indent="0" marL="0">
              <a:buNone/>
            </a:pPr>
            <a:r>
              <a:rPr lang="en-US" sz="900" b="1" spc="220" kern="0" dirty="0">
                <a:solidFill>
                  <a:srgbClr val="0E63C4"/>
                </a:solidFill>
                <a:latin typeface="Calibri" pitchFamily="34" charset="0"/>
                <a:ea typeface="Calibri" pitchFamily="34" charset="-122"/>
                <a:cs typeface="Calibri" pitchFamily="34" charset="-120"/>
              </a:rPr>
              <a:t>PROJECT SITE</a:t>
            </a:r>
            <a:endParaRPr lang="en-US" sz="900" dirty="0"/>
          </a:p>
        </p:txBody>
      </p:sp>
      <p:sp>
        <p:nvSpPr>
          <p:cNvPr id="10" name="Text 6"/>
          <p:cNvSpPr/>
          <p:nvPr/>
        </p:nvSpPr>
        <p:spPr>
          <a:xfrm>
            <a:off x="749808" y="4882896"/>
            <a:ext cx="5394960" cy="329184"/>
          </a:xfrm>
          <a:prstGeom prst="rect">
            <a:avLst/>
          </a:prstGeom>
          <a:noFill/>
          <a:ln/>
        </p:spPr>
        <p:txBody>
          <a:bodyPr wrap="square" lIns="0" tIns="0" rIns="0" bIns="0" rtlCol="0" anchor="t"/>
          <a:lstStyle/>
          <a:p>
            <a:pPr indent="0" marL="0">
              <a:buNone/>
            </a:pPr>
            <a:r>
              <a:rPr lang="en-US" sz="1450" b="1" dirty="0">
                <a:solidFill>
                  <a:srgbClr val="0E63C4"/>
                </a:solidFill>
                <a:latin typeface="Consolas" pitchFamily="34" charset="0"/>
                <a:ea typeface="Consolas" pitchFamily="34" charset="-122"/>
                <a:cs typeface="Consolas" pitchFamily="34" charset="-120"/>
              </a:rPr>
              <a:t>kiarash99naghavi.github.io/UCONN-CAD-PACK</a:t>
            </a:r>
            <a:endParaRPr lang="en-US" sz="1450" dirty="0"/>
          </a:p>
        </p:txBody>
      </p:sp>
      <p:pic>
        <p:nvPicPr>
          <p:cNvPr id="11" name="Image 2" descr="/home/claude/pitch/figs/qr_site.png">    </p:cNvPr>
          <p:cNvPicPr>
            <a:picLocks noChangeAspect="1"/>
          </p:cNvPicPr>
          <p:nvPr/>
        </p:nvPicPr>
        <p:blipFill>
          <a:blip r:embed="rId3"/>
          <a:stretch>
            <a:fillRect/>
          </a:stretch>
        </p:blipFill>
        <p:spPr>
          <a:xfrm>
            <a:off x="8835847" y="2240280"/>
            <a:ext cx="2788920" cy="2788920"/>
          </a:xfrm>
          <a:prstGeom prst="rect">
            <a:avLst/>
          </a:prstGeom>
        </p:spPr>
      </p:pic>
      <p:sp>
        <p:nvSpPr>
          <p:cNvPr id="12" name="Text 7"/>
          <p:cNvSpPr/>
          <p:nvPr/>
        </p:nvSpPr>
        <p:spPr>
          <a:xfrm>
            <a:off x="8332927" y="5120640"/>
            <a:ext cx="3291840" cy="310896"/>
          </a:xfrm>
          <a:prstGeom prst="rect">
            <a:avLst/>
          </a:prstGeom>
          <a:noFill/>
          <a:ln/>
        </p:spPr>
        <p:txBody>
          <a:bodyPr wrap="square" lIns="0" tIns="0" rIns="0" bIns="0" rtlCol="0" anchor="t"/>
          <a:lstStyle/>
          <a:p>
            <a:pPr algn="ctr" indent="0" marL="0">
              <a:buNone/>
            </a:pPr>
            <a:r>
              <a:rPr lang="en-US" sz="900" dirty="0">
                <a:solidFill>
                  <a:srgbClr val="7D8899"/>
                </a:solidFill>
                <a:latin typeface="Calibri" pitchFamily="34" charset="0"/>
                <a:ea typeface="Calibri" pitchFamily="34" charset="-122"/>
                <a:cs typeface="Calibri" pitchFamily="34" charset="-120"/>
              </a:rPr>
              <a:t>Scan for the dashboard, the handoff pack and the code</a:t>
            </a:r>
            <a:endParaRPr lang="en-US" sz="900" dirty="0"/>
          </a:p>
        </p:txBody>
      </p:sp>
      <p:sp>
        <p:nvSpPr>
          <p:cNvPr id="13" name="Text 8"/>
          <p:cNvSpPr/>
          <p:nvPr/>
        </p:nvSpPr>
        <p:spPr>
          <a:xfrm>
            <a:off x="566928" y="6272784"/>
            <a:ext cx="7315200" cy="274320"/>
          </a:xfrm>
          <a:prstGeom prst="rect">
            <a:avLst/>
          </a:prstGeom>
          <a:noFill/>
          <a:ln/>
        </p:spPr>
        <p:txBody>
          <a:bodyPr wrap="square" lIns="0" tIns="0" rIns="0" bIns="0" rtlCol="0" anchor="ctr"/>
          <a:lstStyle/>
          <a:p>
            <a:pPr indent="0" marL="0">
              <a:buNone/>
            </a:pPr>
            <a:r>
              <a:rPr lang="en-US" sz="900" dirty="0">
                <a:solidFill>
                  <a:srgbClr val="7D8899"/>
                </a:solidFill>
                <a:latin typeface="Calibri" pitchFamily="34" charset="0"/>
                <a:ea typeface="Calibri" pitchFamily="34" charset="-122"/>
                <a:cs typeface="Calibri" pitchFamily="34" charset="-120"/>
              </a:rPr>
              <a:t>UCONN CAD PACK · ASME 2026 Student Hackathon</a:t>
            </a:r>
            <a:endParaRPr lang="en-US" sz="900" dirty="0"/>
          </a:p>
        </p:txBody>
      </p:sp>
      <p:sp>
        <p:nvSpPr>
          <p:cNvPr id="14" name="Text 9"/>
          <p:cNvSpPr/>
          <p:nvPr/>
        </p:nvSpPr>
        <p:spPr>
          <a:xfrm>
            <a:off x="9795967" y="6272784"/>
            <a:ext cx="1828800" cy="274320"/>
          </a:xfrm>
          <a:prstGeom prst="rect">
            <a:avLst/>
          </a:prstGeom>
          <a:noFill/>
          <a:ln/>
        </p:spPr>
        <p:txBody>
          <a:bodyPr wrap="square" lIns="0" tIns="0" rIns="0" bIns="0" rtlCol="0" anchor="ctr"/>
          <a:lstStyle/>
          <a:p>
            <a:pPr algn="r" indent="0" marL="0">
              <a:buNone/>
            </a:pPr>
            <a:r>
              <a:rPr lang="en-US" sz="900" dirty="0">
                <a:solidFill>
                  <a:srgbClr val="7D8899"/>
                </a:solidFill>
                <a:latin typeface="Calibri" pitchFamily="34" charset="0"/>
                <a:ea typeface="Calibri" pitchFamily="34" charset="-122"/>
                <a:cs typeface="Calibri" pitchFamily="34" charset="-120"/>
              </a:rPr>
              <a:t>13 / 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UCONN CAD PACK V8C1</dc:title>
  <dc:subject>PptxGenJS Presentation</dc:subject>
  <dc:creator>UCONN CAD PACK</dc:creator>
  <cp:lastModifiedBy>UCONN CAD PACK</cp:lastModifiedBy>
  <cp:revision>1</cp:revision>
  <dcterms:created xsi:type="dcterms:W3CDTF">2026-08-20T03:08:01Z</dcterms:created>
  <dcterms:modified xsi:type="dcterms:W3CDTF">2026-08-20T03:08:01Z</dcterms:modified>
</cp:coreProperties>
</file>